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2" r:id="rId1"/>
  </p:sldMasterIdLst>
  <p:notesMasterIdLst>
    <p:notesMasterId r:id="rId24"/>
  </p:notesMasterIdLst>
  <p:sldIdLst>
    <p:sldId id="256" r:id="rId2"/>
    <p:sldId id="257" r:id="rId3"/>
    <p:sldId id="258" r:id="rId4"/>
    <p:sldId id="259" r:id="rId5"/>
    <p:sldId id="277" r:id="rId6"/>
    <p:sldId id="260" r:id="rId7"/>
    <p:sldId id="261" r:id="rId8"/>
    <p:sldId id="262" r:id="rId9"/>
    <p:sldId id="263" r:id="rId10"/>
    <p:sldId id="278" r:id="rId11"/>
    <p:sldId id="279" r:id="rId12"/>
    <p:sldId id="280" r:id="rId13"/>
    <p:sldId id="275" r:id="rId14"/>
    <p:sldId id="266" r:id="rId15"/>
    <p:sldId id="267" r:id="rId16"/>
    <p:sldId id="268" r:id="rId17"/>
    <p:sldId id="269" r:id="rId18"/>
    <p:sldId id="274" r:id="rId19"/>
    <p:sldId id="270" r:id="rId20"/>
    <p:sldId id="271" r:id="rId21"/>
    <p:sldId id="272" r:id="rId22"/>
    <p:sldId id="273" r:id="rId23"/>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6BEFB5-9EF9-4313-A0D7-F58E550F2BD1}" v="1201" dt="2022-05-25T19:51:57.27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DF9"/>
          </a:solidFill>
        </a:fill>
      </a:tcStyle>
    </a:wholeTbl>
    <a:band2H>
      <a:tcTxStyle/>
      <a:tcStyle>
        <a:tcBdr/>
        <a:fill>
          <a:solidFill>
            <a:srgbClr val="FFFEF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DDACA"/>
          </a:solidFill>
        </a:fill>
      </a:tcStyle>
    </a:wholeTbl>
    <a:band2H>
      <a:tcTxStyle/>
      <a:tcStyle>
        <a:tcBdr/>
        <a:fill>
          <a:solidFill>
            <a:srgbClr val="FEED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BDBDB"/>
          </a:solidFill>
        </a:fill>
      </a:tcStyle>
    </a:wholeTbl>
    <a:band2H>
      <a:tcTxStyle/>
      <a:tcStyle>
        <a:tcBdr/>
        <a:fill>
          <a:solidFill>
            <a:srgbClr val="FD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0" name="Shape 120"/>
          <p:cNvSpPr>
            <a:spLocks noGrp="1" noRot="1" noChangeAspect="1"/>
          </p:cNvSpPr>
          <p:nvPr>
            <p:ph type="sldImg"/>
          </p:nvPr>
        </p:nvSpPr>
        <p:spPr>
          <a:xfrm>
            <a:off x="1143000" y="685800"/>
            <a:ext cx="4572000" cy="3429000"/>
          </a:xfrm>
          <a:prstGeom prst="rect">
            <a:avLst/>
          </a:prstGeom>
        </p:spPr>
        <p:txBody>
          <a:bodyPr/>
          <a:lstStyle/>
          <a:p>
            <a:endParaRPr/>
          </a:p>
        </p:txBody>
      </p:sp>
      <p:sp>
        <p:nvSpPr>
          <p:cNvPr id="121" name="Shape 12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12800"/>
            </a:lvl1pPr>
          </a:lstStyle>
          <a:p>
            <a:r>
              <a:rPr lang="en-US" dirty="0"/>
              <a:t>Click to edit Master title style</a:t>
            </a:r>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accent1"/>
                </a:solidFill>
              </a:defRPr>
            </a:lvl1pPr>
            <a:lvl2pPr marL="812810" indent="0" algn="ctr">
              <a:buNone/>
              <a:defRPr>
                <a:solidFill>
                  <a:schemeClr val="tx1">
                    <a:tint val="75000"/>
                  </a:schemeClr>
                </a:solidFill>
              </a:defRPr>
            </a:lvl2pPr>
            <a:lvl3pPr marL="1625620" indent="0" algn="ctr">
              <a:buNone/>
              <a:defRPr>
                <a:solidFill>
                  <a:schemeClr val="tx1">
                    <a:tint val="75000"/>
                  </a:schemeClr>
                </a:solidFill>
              </a:defRPr>
            </a:lvl3pPr>
            <a:lvl4pPr marL="2438430" indent="0" algn="ctr">
              <a:buNone/>
              <a:defRPr>
                <a:solidFill>
                  <a:schemeClr val="tx1">
                    <a:tint val="75000"/>
                  </a:schemeClr>
                </a:solidFill>
              </a:defRPr>
            </a:lvl4pPr>
            <a:lvl5pPr marL="3251241" indent="0" algn="ctr">
              <a:buNone/>
              <a:defRPr>
                <a:solidFill>
                  <a:schemeClr val="tx1">
                    <a:tint val="75000"/>
                  </a:schemeClr>
                </a:solidFill>
              </a:defRPr>
            </a:lvl5pPr>
            <a:lvl6pPr marL="4064051" indent="0" algn="ctr">
              <a:buNone/>
              <a:defRPr>
                <a:solidFill>
                  <a:schemeClr val="tx1">
                    <a:tint val="75000"/>
                  </a:schemeClr>
                </a:solidFill>
              </a:defRPr>
            </a:lvl6pPr>
            <a:lvl7pPr marL="4876861" indent="0" algn="ctr">
              <a:buNone/>
              <a:defRPr>
                <a:solidFill>
                  <a:schemeClr val="tx1">
                    <a:tint val="75000"/>
                  </a:schemeClr>
                </a:solidFill>
              </a:defRPr>
            </a:lvl7pPr>
            <a:lvl8pPr marL="5689671" indent="0" algn="ctr">
              <a:buNone/>
              <a:defRPr>
                <a:solidFill>
                  <a:schemeClr val="tx1">
                    <a:tint val="75000"/>
                  </a:schemeClr>
                </a:solidFill>
              </a:defRPr>
            </a:lvl8pPr>
            <a:lvl9pPr marL="65024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71513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154280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7111" b="0" cap="none"/>
            </a:lvl1pPr>
          </a:lstStyle>
          <a:p>
            <a:r>
              <a:rPr lang="en-US" dirty="0"/>
              <a:t>Click to edit Master title style</a:t>
            </a:r>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3556" cap="all">
                <a:solidFill>
                  <a:schemeClr val="accent1"/>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096395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27485" y="1545432"/>
            <a:ext cx="3297254" cy="3146822"/>
          </a:xfrm>
        </p:spPr>
        <p:txBody>
          <a:bodyPr>
            <a:normAutofit/>
          </a:bodyPr>
          <a:lstStyle>
            <a:lvl1pPr>
              <a:defRPr sz="3200"/>
            </a:lvl1pPr>
            <a:lvl2pPr>
              <a:defRPr sz="2844"/>
            </a:lvl2pPr>
            <a:lvl3pPr>
              <a:defRPr sz="2489"/>
            </a:lvl3pPr>
            <a:lvl4pPr>
              <a:defRPr sz="2133"/>
            </a:lvl4pPr>
            <a:lvl5pPr>
              <a:defRPr sz="2133"/>
            </a:lvl5pPr>
            <a:lvl6pPr>
              <a:defRPr sz="2133"/>
            </a:lvl6pPr>
            <a:lvl7pPr>
              <a:defRPr sz="2133"/>
            </a:lvl7pPr>
            <a:lvl8pPr>
              <a:defRPr sz="2133"/>
            </a:lvl8pPr>
            <a:lvl9pPr>
              <a:defRPr sz="213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40870" y="1542069"/>
            <a:ext cx="3297256" cy="3150184"/>
          </a:xfrm>
        </p:spPr>
        <p:txBody>
          <a:bodyPr>
            <a:normAutofit/>
          </a:bodyPr>
          <a:lstStyle>
            <a:lvl1pPr>
              <a:defRPr sz="3200"/>
            </a:lvl1pPr>
            <a:lvl2pPr>
              <a:defRPr sz="2844"/>
            </a:lvl2pPr>
            <a:lvl3pPr>
              <a:defRPr sz="2489"/>
            </a:lvl3pPr>
            <a:lvl4pPr>
              <a:defRPr sz="2133"/>
            </a:lvl4pPr>
            <a:lvl5pPr>
              <a:defRPr sz="2133"/>
            </a:lvl5pPr>
            <a:lvl6pPr>
              <a:defRPr sz="2133"/>
            </a:lvl6pPr>
            <a:lvl7pPr>
              <a:defRPr sz="2133"/>
            </a:lvl7pPr>
            <a:lvl8pPr>
              <a:defRPr sz="2133"/>
            </a:lvl8pPr>
            <a:lvl9pPr>
              <a:defRPr sz="213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509A250-FF31-4206-8172-F9D3106AACB1}" type="datetimeFigureOut">
              <a:rPr lang="en-US" dirty="0"/>
              <a:t>5/25/2022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863577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4267" b="0">
                <a:solidFill>
                  <a:schemeClr val="accent1"/>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3200"/>
            </a:lvl1pPr>
            <a:lvl2pPr>
              <a:defRPr sz="2844"/>
            </a:lvl2pPr>
            <a:lvl3pPr>
              <a:defRPr sz="2489"/>
            </a:lvl3pPr>
            <a:lvl4pPr>
              <a:defRPr sz="2133"/>
            </a:lvl4pPr>
            <a:lvl5pPr>
              <a:defRPr sz="2133"/>
            </a:lvl5pPr>
            <a:lvl6pPr>
              <a:defRPr sz="2133"/>
            </a:lvl6pPr>
            <a:lvl7pPr>
              <a:defRPr sz="2133"/>
            </a:lvl7pPr>
            <a:lvl8pPr>
              <a:defRPr sz="2133"/>
            </a:lvl8pPr>
            <a:lvl9pPr>
              <a:defRPr sz="213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4267" b="0">
                <a:solidFill>
                  <a:schemeClr val="accent1"/>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3200"/>
            </a:lvl1pPr>
            <a:lvl2pPr>
              <a:defRPr sz="2844"/>
            </a:lvl2pPr>
            <a:lvl3pPr>
              <a:defRPr sz="2489"/>
            </a:lvl3pPr>
            <a:lvl4pPr>
              <a:defRPr sz="2133"/>
            </a:lvl4pPr>
            <a:lvl5pPr>
              <a:defRPr sz="2133"/>
            </a:lvl5pPr>
            <a:lvl6pPr>
              <a:defRPr sz="2133"/>
            </a:lvl6pPr>
            <a:lvl7pPr>
              <a:defRPr sz="2133"/>
            </a:lvl7pPr>
            <a:lvl8pPr>
              <a:defRPr sz="2133"/>
            </a:lvl8pPr>
            <a:lvl9pPr>
              <a:defRPr sz="213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509A250-FF31-4206-8172-F9D3106AACB1}" type="datetimeFigureOut">
              <a:rPr lang="en-US" dirty="0"/>
              <a:t>5/25/2022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920642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5/25/2022</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39126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5/25/2022</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380169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2550798" cy="1085850"/>
          </a:xfrm>
        </p:spPr>
        <p:txBody>
          <a:bodyPr anchor="b"/>
          <a:lstStyle>
            <a:lvl1pPr algn="l">
              <a:defRPr sz="4267" b="0"/>
            </a:lvl1pPr>
          </a:lstStyle>
          <a:p>
            <a:r>
              <a:rPr lang="en-US" dirty="0"/>
              <a:t>Click to edit Master title style</a:t>
            </a:r>
          </a:p>
        </p:txBody>
      </p:sp>
      <p:sp>
        <p:nvSpPr>
          <p:cNvPr id="3" name="Content Placeholder 2"/>
          <p:cNvSpPr>
            <a:spLocks noGrp="1"/>
          </p:cNvSpPr>
          <p:nvPr>
            <p:ph idx="1"/>
          </p:nvPr>
        </p:nvSpPr>
        <p:spPr>
          <a:xfrm>
            <a:off x="3588462" y="1085850"/>
            <a:ext cx="3896998" cy="3429000"/>
          </a:xfrm>
        </p:spPr>
        <p:txBody>
          <a:bodyPr anchor="ctr">
            <a:normAutofit/>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66216" y="2346961"/>
            <a:ext cx="2550797" cy="2171699"/>
          </a:xfrm>
        </p:spPr>
        <p:txBody>
          <a:bodyPr/>
          <a:lstStyle>
            <a:lvl1pPr marL="0" indent="0">
              <a:buNone/>
              <a:defRPr sz="2489"/>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5/25/2022</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519842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6400" b="0"/>
            </a:lvl1pPr>
          </a:lstStyle>
          <a:p>
            <a:r>
              <a:rPr lang="en-US" dirty="0"/>
              <a:t>Click to edit Master title style</a:t>
            </a:r>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844"/>
            </a:lvl1pPr>
            <a:lvl2pPr marL="812810" indent="0">
              <a:buNone/>
              <a:defRPr sz="2844"/>
            </a:lvl2pPr>
            <a:lvl3pPr marL="1625620" indent="0">
              <a:buNone/>
              <a:defRPr sz="2844"/>
            </a:lvl3pPr>
            <a:lvl4pPr marL="2438430" indent="0">
              <a:buNone/>
              <a:defRPr sz="2844"/>
            </a:lvl4pPr>
            <a:lvl5pPr marL="3251241" indent="0">
              <a:buNone/>
              <a:defRPr sz="2844"/>
            </a:lvl5pPr>
            <a:lvl6pPr marL="4064051" indent="0">
              <a:buNone/>
              <a:defRPr sz="2844"/>
            </a:lvl6pPr>
            <a:lvl7pPr marL="4876861" indent="0">
              <a:buNone/>
              <a:defRPr sz="2844"/>
            </a:lvl7pPr>
            <a:lvl8pPr marL="5689671" indent="0">
              <a:buNone/>
              <a:defRPr sz="2844"/>
            </a:lvl8pPr>
            <a:lvl9pPr marL="6502481" indent="0">
              <a:buNone/>
              <a:defRPr sz="2844"/>
            </a:lvl9pPr>
          </a:lstStyle>
          <a:p>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2489"/>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404707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4267" b="0"/>
            </a:lvl1pPr>
          </a:lstStyle>
          <a:p>
            <a:r>
              <a:rPr lang="en-US" dirty="0"/>
              <a:t>Click to edit Master title style</a:t>
            </a:r>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844"/>
            </a:lvl1pPr>
            <a:lvl2pPr marL="812810" indent="0">
              <a:buNone/>
              <a:defRPr sz="2844"/>
            </a:lvl2pPr>
            <a:lvl3pPr marL="1625620" indent="0">
              <a:buNone/>
              <a:defRPr sz="2844"/>
            </a:lvl3pPr>
            <a:lvl4pPr marL="2438430" indent="0">
              <a:buNone/>
              <a:defRPr sz="2844"/>
            </a:lvl4pPr>
            <a:lvl5pPr marL="3251241" indent="0">
              <a:buNone/>
              <a:defRPr sz="2844"/>
            </a:lvl5pPr>
            <a:lvl6pPr marL="4064051" indent="0">
              <a:buNone/>
              <a:defRPr sz="2844"/>
            </a:lvl6pPr>
            <a:lvl7pPr marL="4876861" indent="0">
              <a:buNone/>
              <a:defRPr sz="2844"/>
            </a:lvl7pPr>
            <a:lvl8pPr marL="5689671" indent="0">
              <a:buNone/>
              <a:defRPr sz="2844"/>
            </a:lvl8pPr>
            <a:lvl9pPr marL="6502481" indent="0">
              <a:buNone/>
              <a:defRPr sz="2844"/>
            </a:lvl9pPr>
          </a:lstStyle>
          <a:p>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2133"/>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0742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8533"/>
            </a:lvl1pPr>
          </a:lstStyle>
          <a:p>
            <a:r>
              <a:rPr lang="en-US" dirty="0"/>
              <a:t>Click to edit Master title style</a:t>
            </a:r>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3200"/>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583632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8533"/>
            </a:lvl1pPr>
          </a:lstStyle>
          <a:p>
            <a:r>
              <a:rPr lang="en-US" dirty="0"/>
              <a:t>Click to edit Master title style</a:t>
            </a:r>
          </a:p>
        </p:txBody>
      </p:sp>
      <p:sp>
        <p:nvSpPr>
          <p:cNvPr id="14" name="Text Placeholder 3"/>
          <p:cNvSpPr>
            <a:spLocks noGrp="1"/>
          </p:cNvSpPr>
          <p:nvPr>
            <p:ph type="body" sz="half" idx="13"/>
          </p:nvPr>
        </p:nvSpPr>
        <p:spPr>
          <a:xfrm>
            <a:off x="1447800" y="2828380"/>
            <a:ext cx="5459737" cy="256631"/>
          </a:xfrm>
        </p:spPr>
        <p:txBody>
          <a:bodyPr anchor="t">
            <a:normAutofit/>
          </a:bodyPr>
          <a:lstStyle>
            <a:lvl1pPr marL="0" indent="0">
              <a:buNone/>
              <a:defRPr lang="en-US" sz="2489" b="0" i="0" kern="1200" cap="small" dirty="0">
                <a:solidFill>
                  <a:schemeClr val="accent1"/>
                </a:solidFill>
                <a:latin typeface="+mj-lt"/>
                <a:ea typeface="+mj-ea"/>
                <a:cs typeface="+mj-cs"/>
              </a:defRPr>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3200"/>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673721" y="728440"/>
            <a:ext cx="601434" cy="3430042"/>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21689" dirty="0"/>
              <a:t>“</a:t>
            </a:r>
          </a:p>
        </p:txBody>
      </p:sp>
      <p:sp>
        <p:nvSpPr>
          <p:cNvPr id="13" name="TextBox 12"/>
          <p:cNvSpPr txBox="1"/>
          <p:nvPr/>
        </p:nvSpPr>
        <p:spPr>
          <a:xfrm>
            <a:off x="6997868" y="1960340"/>
            <a:ext cx="601434" cy="3430042"/>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21689" dirty="0"/>
              <a:t>”</a:t>
            </a:r>
          </a:p>
        </p:txBody>
      </p:sp>
    </p:spTree>
    <p:extLst>
      <p:ext uri="{BB962C8B-B14F-4D97-AF65-F5344CB8AC3E}">
        <p14:creationId xmlns:p14="http://schemas.microsoft.com/office/powerpoint/2010/main" val="1285470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7111" b="0" cap="none"/>
            </a:lvl1pPr>
          </a:lstStyle>
          <a:p>
            <a:r>
              <a:rPr lang="en-US" dirty="0"/>
              <a:t>Click to edit Master title style</a:t>
            </a:r>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3556" cap="none">
                <a:solidFill>
                  <a:schemeClr val="accent1"/>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97646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7467"/>
            </a:lvl1pPr>
          </a:lstStyle>
          <a:p>
            <a:r>
              <a:rPr lang="en-US" dirty="0"/>
              <a:t>Click to edit Master title style</a:t>
            </a:r>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4267" b="0">
                <a:solidFill>
                  <a:schemeClr val="accent1"/>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2489"/>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4267" b="0">
                <a:solidFill>
                  <a:schemeClr val="accent1"/>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2489"/>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4267" b="0">
                <a:solidFill>
                  <a:schemeClr val="accent1"/>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2489"/>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5/25/2022</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990335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7467"/>
            </a:lvl1pPr>
          </a:lstStyle>
          <a:p>
            <a:r>
              <a:rPr lang="en-US" dirty="0"/>
              <a:t>Click to edit Master title style</a:t>
            </a:r>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4267" b="0">
                <a:solidFill>
                  <a:schemeClr val="accent1"/>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844"/>
            </a:lvl1pPr>
            <a:lvl2pPr marL="812810" indent="0">
              <a:buNone/>
              <a:defRPr sz="2844"/>
            </a:lvl2pPr>
            <a:lvl3pPr marL="1625620" indent="0">
              <a:buNone/>
              <a:defRPr sz="2844"/>
            </a:lvl3pPr>
            <a:lvl4pPr marL="2438430" indent="0">
              <a:buNone/>
              <a:defRPr sz="2844"/>
            </a:lvl4pPr>
            <a:lvl5pPr marL="3251241" indent="0">
              <a:buNone/>
              <a:defRPr sz="2844"/>
            </a:lvl5pPr>
            <a:lvl6pPr marL="4064051" indent="0">
              <a:buNone/>
              <a:defRPr sz="2844"/>
            </a:lvl6pPr>
            <a:lvl7pPr marL="4876861" indent="0">
              <a:buNone/>
              <a:defRPr sz="2844"/>
            </a:lvl7pPr>
            <a:lvl8pPr marL="5689671" indent="0">
              <a:buNone/>
              <a:defRPr sz="2844"/>
            </a:lvl8pPr>
            <a:lvl9pPr marL="6502481" indent="0">
              <a:buNone/>
              <a:defRPr sz="2844"/>
            </a:lvl9pPr>
          </a:lstStyle>
          <a:p>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2489"/>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4267" b="0">
                <a:solidFill>
                  <a:schemeClr val="accent1"/>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844"/>
            </a:lvl1pPr>
            <a:lvl2pPr marL="812810" indent="0">
              <a:buNone/>
              <a:defRPr sz="2844"/>
            </a:lvl2pPr>
            <a:lvl3pPr marL="1625620" indent="0">
              <a:buNone/>
              <a:defRPr sz="2844"/>
            </a:lvl3pPr>
            <a:lvl4pPr marL="2438430" indent="0">
              <a:buNone/>
              <a:defRPr sz="2844"/>
            </a:lvl4pPr>
            <a:lvl5pPr marL="3251241" indent="0">
              <a:buNone/>
              <a:defRPr sz="2844"/>
            </a:lvl5pPr>
            <a:lvl6pPr marL="4064051" indent="0">
              <a:buNone/>
              <a:defRPr sz="2844"/>
            </a:lvl6pPr>
            <a:lvl7pPr marL="4876861" indent="0">
              <a:buNone/>
              <a:defRPr sz="2844"/>
            </a:lvl7pPr>
            <a:lvl8pPr marL="5689671" indent="0">
              <a:buNone/>
              <a:defRPr sz="2844"/>
            </a:lvl8pPr>
            <a:lvl9pPr marL="6502481" indent="0">
              <a:buNone/>
              <a:defRPr sz="2844"/>
            </a:lvl9pPr>
          </a:lstStyle>
          <a:p>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2489"/>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4267" b="0">
                <a:solidFill>
                  <a:schemeClr val="accent1"/>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844"/>
            </a:lvl1pPr>
            <a:lvl2pPr marL="812810" indent="0">
              <a:buNone/>
              <a:defRPr sz="2844"/>
            </a:lvl2pPr>
            <a:lvl3pPr marL="1625620" indent="0">
              <a:buNone/>
              <a:defRPr sz="2844"/>
            </a:lvl3pPr>
            <a:lvl4pPr marL="2438430" indent="0">
              <a:buNone/>
              <a:defRPr sz="2844"/>
            </a:lvl4pPr>
            <a:lvl5pPr marL="3251241" indent="0">
              <a:buNone/>
              <a:defRPr sz="2844"/>
            </a:lvl5pPr>
            <a:lvl6pPr marL="4064051" indent="0">
              <a:buNone/>
              <a:defRPr sz="2844"/>
            </a:lvl6pPr>
            <a:lvl7pPr marL="4876861" indent="0">
              <a:buNone/>
              <a:defRPr sz="2844"/>
            </a:lvl7pPr>
            <a:lvl8pPr marL="5689671" indent="0">
              <a:buNone/>
              <a:defRPr sz="2844"/>
            </a:lvl8pPr>
            <a:lvl9pPr marL="6502481" indent="0">
              <a:buNone/>
              <a:defRPr sz="2844"/>
            </a:lvl9pPr>
          </a:lstStyle>
          <a:p>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2489"/>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5/25/2022</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24037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5474452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902109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OBJECT">
    <p:spTree>
      <p:nvGrpSpPr>
        <p:cNvPr id="1" name=""/>
        <p:cNvGrpSpPr/>
        <p:nvPr/>
      </p:nvGrpSpPr>
      <p:grpSpPr>
        <a:xfrm>
          <a:off x="0" y="0"/>
          <a:ext cx="0" cy="0"/>
          <a:chOff x="0" y="0"/>
          <a:chExt cx="0" cy="0"/>
        </a:xfrm>
      </p:grpSpPr>
      <p:sp>
        <p:nvSpPr>
          <p:cNvPr id="112" name="Title Text"/>
          <p:cNvSpPr txBox="1">
            <a:spLocks noGrp="1"/>
          </p:cNvSpPr>
          <p:nvPr>
            <p:ph type="title"/>
          </p:nvPr>
        </p:nvSpPr>
        <p:spPr>
          <a:xfrm>
            <a:off x="914400" y="205978"/>
            <a:ext cx="7772400" cy="857400"/>
          </a:xfrm>
          <a:prstGeom prst="rect">
            <a:avLst/>
          </a:prstGeom>
        </p:spPr>
        <p:txBody>
          <a:bodyPr lIns="45699" tIns="45699" rIns="45699" bIns="45699" anchor="b"/>
          <a:lstStyle/>
          <a:p>
            <a:r>
              <a:t>Title Text</a:t>
            </a:r>
          </a:p>
        </p:txBody>
      </p:sp>
      <p:sp>
        <p:nvSpPr>
          <p:cNvPr id="113" name="Body Level One…"/>
          <p:cNvSpPr txBox="1">
            <a:spLocks noGrp="1"/>
          </p:cNvSpPr>
          <p:nvPr>
            <p:ph type="body" idx="1"/>
          </p:nvPr>
        </p:nvSpPr>
        <p:spPr>
          <a:xfrm>
            <a:off x="914400" y="1085850"/>
            <a:ext cx="7772400" cy="3429000"/>
          </a:xfrm>
          <a:prstGeom prst="rect">
            <a:avLst/>
          </a:prstGeom>
        </p:spPr>
        <p:txBody>
          <a:bodyPr lIns="45699" tIns="45699" rIns="45699" bIns="45699"/>
          <a:lstStyle>
            <a:lvl1pPr indent="-325754">
              <a:spcBef>
                <a:spcPts val="500"/>
              </a:spcBef>
            </a:lvl1pPr>
            <a:lvl2pPr marL="1007472" indent="-418827">
              <a:spcBef>
                <a:spcPts val="500"/>
              </a:spcBef>
            </a:lvl2pPr>
            <a:lvl3pPr marL="1464672" indent="-418827">
              <a:spcBef>
                <a:spcPts val="500"/>
              </a:spcBef>
            </a:lvl3pPr>
            <a:lvl4pPr marL="1920239" indent="-411478">
              <a:spcBef>
                <a:spcPts val="500"/>
              </a:spcBef>
            </a:lvl4pPr>
            <a:lvl5pPr marL="2383971" indent="-440871">
              <a:spcBef>
                <a:spcPts val="500"/>
              </a:spcBef>
            </a:lvl5pPr>
          </a:lstStyle>
          <a:p>
            <a:r>
              <a:t>Body Level One</a:t>
            </a:r>
          </a:p>
          <a:p>
            <a:pPr lvl="1"/>
            <a:r>
              <a:t>Body Level Two</a:t>
            </a:r>
          </a:p>
          <a:p>
            <a:pPr lvl="2"/>
            <a:r>
              <a:t>Body Level Three</a:t>
            </a:r>
          </a:p>
          <a:p>
            <a:pPr lvl="3"/>
            <a:r>
              <a:t>Body Level Four</a:t>
            </a:r>
          </a:p>
          <a:p>
            <a:pPr lvl="4"/>
            <a:r>
              <a:t>Body Level Five</a:t>
            </a:r>
          </a:p>
        </p:txBody>
      </p:sp>
      <p:sp>
        <p:nvSpPr>
          <p:cNvPr id="114" name="Slide Number"/>
          <p:cNvSpPr txBox="1">
            <a:spLocks noGrp="1"/>
          </p:cNvSpPr>
          <p:nvPr>
            <p:ph type="sldNum" sz="quarter" idx="2"/>
          </p:nvPr>
        </p:nvSpPr>
        <p:spPr>
          <a:xfrm>
            <a:off x="146304" y="4752975"/>
            <a:ext cx="457201" cy="152401"/>
          </a:xfrm>
          <a:prstGeom prst="rect">
            <a:avLst/>
          </a:prstGeom>
          <a:solidFill>
            <a:schemeClr val="accent1"/>
          </a:solidFill>
        </p:spPr>
        <p:txBody>
          <a:bodyPr wrap="square" lIns="0" tIns="0" rIns="0" bIns="0"/>
          <a:lstStyle>
            <a:lvl1pPr algn="ctr"/>
          </a:lstStyle>
          <a:p>
            <a:fld id="{86CB4B4D-7CA3-9044-876B-883B54F8677D}" type="slidenum">
              <a:t>‹#›</a:t>
            </a:fld>
            <a:endParaRPr/>
          </a:p>
        </p:txBody>
      </p:sp>
    </p:spTree>
    <p:extLst>
      <p:ext uri="{BB962C8B-B14F-4D97-AF65-F5344CB8AC3E}">
        <p14:creationId xmlns:p14="http://schemas.microsoft.com/office/powerpoint/2010/main" val="64827297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32" name="Title Text"/>
          <p:cNvSpPr txBox="1">
            <a:spLocks noGrp="1"/>
          </p:cNvSpPr>
          <p:nvPr>
            <p:ph type="title"/>
          </p:nvPr>
        </p:nvSpPr>
        <p:spPr>
          <a:prstGeom prst="rect">
            <a:avLst/>
          </a:prstGeom>
        </p:spPr>
        <p:txBody>
          <a:bodyPr/>
          <a:lstStyle/>
          <a:p>
            <a:r>
              <a:t>Title Text</a:t>
            </a:r>
          </a:p>
        </p:txBody>
      </p:sp>
      <p:sp>
        <p:nvSpPr>
          <p:cNvPr id="3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15270251"/>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TITLE_ONLY">
    <p:spTree>
      <p:nvGrpSpPr>
        <p:cNvPr id="1" name=""/>
        <p:cNvGrpSpPr/>
        <p:nvPr/>
      </p:nvGrpSpPr>
      <p:grpSpPr>
        <a:xfrm>
          <a:off x="0" y="0"/>
          <a:ext cx="0" cy="0"/>
          <a:chOff x="0" y="0"/>
          <a:chExt cx="0" cy="0"/>
        </a:xfrm>
      </p:grpSpPr>
      <p:sp>
        <p:nvSpPr>
          <p:cNvPr id="51" name="Title Text"/>
          <p:cNvSpPr txBox="1">
            <a:spLocks noGrp="1"/>
          </p:cNvSpPr>
          <p:nvPr>
            <p:ph type="title"/>
          </p:nvPr>
        </p:nvSpPr>
        <p:spPr>
          <a:prstGeom prst="rect">
            <a:avLst/>
          </a:prstGeom>
        </p:spPr>
        <p:txBody>
          <a:bodyPr/>
          <a:lstStyle/>
          <a:p>
            <a:r>
              <a:t>Title Text</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9795077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2">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3">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4">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5">
            <a:extLst>
              <a:ext uri="{28A0092B-C50C-407E-A947-70E740481C1C}">
                <a14:useLocalDpi xmlns:a14="http://schemas.microsoft.com/office/drawing/2010/main" val="0"/>
              </a:ext>
            </a:extLst>
          </a:blip>
          <a:srcRect b="23320"/>
          <a:stretch/>
        </p:blipFill>
        <p:spPr>
          <a:xfrm>
            <a:off x="6456759"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1956" b="0" i="0">
                <a:solidFill>
                  <a:schemeClr val="tx1">
                    <a:tint val="75000"/>
                    <a:alpha val="60000"/>
                  </a:schemeClr>
                </a:solidFill>
              </a:defRPr>
            </a:lvl1pPr>
          </a:lstStyle>
          <a:p>
            <a:fld id="{4509A250-FF31-4206-8172-F9D3106AACB1}" type="datetimeFigureOut">
              <a:rPr lang="en-US" dirty="0"/>
              <a:t>5/25/2022</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1956"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7764406" y="221797"/>
            <a:ext cx="628649" cy="575765"/>
          </a:xfrm>
          <a:prstGeom prst="rect">
            <a:avLst/>
          </a:prstGeom>
        </p:spPr>
        <p:txBody>
          <a:bodyPr vert="horz" lIns="91440" tIns="45720" rIns="91440" bIns="45720" rtlCol="0" anchor="b"/>
          <a:lstStyle>
            <a:lvl1pPr algn="ctr">
              <a:defRPr sz="4978"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3119874654"/>
      </p:ext>
    </p:extLst>
  </p:cSld>
  <p:clrMap bg1="dk1" tx1="lt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hyperlink" Target="https://internshala.com/" TargetMode="Externa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hyperlink" Target="https://www.arduino.cc/en/Tutorial/HomePage" TargetMode="External"/><Relationship Id="rId2" Type="http://schemas.openxmlformats.org/officeDocument/2006/relationships/hyperlink" Target="https://www.researchgate.net/publication/341398707_IoT_and_Neural_Network-%20%20%20%20%20%20%20Based_Water_Pumping_Control_System_For_Smart_Irrigation" TargetMode="External"/><Relationship Id="rId1" Type="http://schemas.openxmlformats.org/officeDocument/2006/relationships/slideLayout" Target="../slideLayouts/slideLayout19.xml"/><Relationship Id="rId6" Type="http://schemas.openxmlformats.org/officeDocument/2006/relationships/hyperlink" Target="http://ieeexplore.ieee.org/document/" TargetMode="External"/><Relationship Id="rId5" Type="http://schemas.openxmlformats.org/officeDocument/2006/relationships/hyperlink" Target="http://www.ijsred.com/volume3/issue5/IJSRED-V3I5P1.pdf" TargetMode="External"/><Relationship Id="rId4" Type="http://schemas.openxmlformats.org/officeDocument/2006/relationships/hyperlink" Target="https://iopscience.iop.org/article/10.1088/1757-899X/482/1/01204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25" name="Picture 127">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26" name="Picture 129">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27" name="Oval 131">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29" name="Picture 133">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31" name="Picture 135">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6759" y="4572000"/>
            <a:ext cx="745300" cy="571500"/>
          </a:xfrm>
          <a:prstGeom prst="rect">
            <a:avLst/>
          </a:prstGeom>
        </p:spPr>
      </p:pic>
      <p:sp>
        <p:nvSpPr>
          <p:cNvPr id="133" name="Rectangle 137">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3" name="Google Shape;65;p14"/>
          <p:cNvSpPr txBox="1"/>
          <p:nvPr/>
        </p:nvSpPr>
        <p:spPr>
          <a:xfrm>
            <a:off x="486698" y="458766"/>
            <a:ext cx="3124882" cy="420909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91440" tIns="45720" rIns="91440" bIns="45720" rtlCol="0" anchor="t">
            <a:normAutofit/>
          </a:bodyPr>
          <a:lstStyle/>
          <a:p>
            <a:pPr defTabSz="457200" hangingPunct="1">
              <a:lnSpc>
                <a:spcPct val="90000"/>
              </a:lnSpc>
              <a:spcBef>
                <a:spcPts val="1000"/>
              </a:spcBef>
              <a:buClr>
                <a:schemeClr val="accent1"/>
              </a:buClr>
              <a:buSzPct val="80000"/>
              <a:defRPr sz="1800">
                <a:latin typeface="Roboto"/>
                <a:ea typeface="Roboto"/>
                <a:cs typeface="Roboto"/>
                <a:sym typeface="Roboto"/>
              </a:defRPr>
            </a:pPr>
            <a:r>
              <a:rPr lang="en-US" sz="1200" b="1" kern="1200" dirty="0">
                <a:solidFill>
                  <a:schemeClr val="tx1"/>
                </a:solidFill>
                <a:latin typeface="+mj-lt"/>
                <a:ea typeface="+mj-ea"/>
                <a:cs typeface="+mj-cs"/>
              </a:rPr>
              <a:t>Dr. D. Y. Patil Institute of Technology, Pimpri, Pune-18</a:t>
            </a:r>
            <a:br>
              <a:rPr lang="en-US" sz="1200" b="1" kern="1200" dirty="0">
                <a:latin typeface="+mj-lt"/>
                <a:ea typeface="+mj-ea"/>
                <a:cs typeface="+mj-cs"/>
              </a:rPr>
            </a:br>
            <a:r>
              <a:rPr lang="en-US" sz="1200" b="1" kern="1200" dirty="0">
                <a:solidFill>
                  <a:schemeClr val="tx1"/>
                </a:solidFill>
                <a:latin typeface="+mj-lt"/>
                <a:ea typeface="+mj-ea"/>
                <a:cs typeface="+mj-cs"/>
              </a:rPr>
              <a:t>Department of Computer Engineering</a:t>
            </a:r>
            <a:br>
              <a:rPr lang="en-US" sz="1200" kern="1200" dirty="0">
                <a:latin typeface="+mj-lt"/>
                <a:ea typeface="+mj-ea"/>
                <a:cs typeface="+mj-cs"/>
              </a:rPr>
            </a:br>
            <a:endParaRPr lang="en-US" sz="600" kern="1200">
              <a:solidFill>
                <a:schemeClr val="tx1"/>
              </a:solidFill>
              <a:latin typeface="+mj-lt"/>
              <a:ea typeface="+mj-ea"/>
              <a:cs typeface="+mj-cs"/>
            </a:endParaRPr>
          </a:p>
          <a:p>
            <a:pPr defTabSz="457200" hangingPunct="1">
              <a:lnSpc>
                <a:spcPct val="90000"/>
              </a:lnSpc>
              <a:spcBef>
                <a:spcPts val="1000"/>
              </a:spcBef>
              <a:buClr>
                <a:schemeClr val="accent1"/>
              </a:buClr>
              <a:buSzPct val="80000"/>
              <a:buFont typeface="Wingdings 3" charset="2"/>
              <a:buChar char=""/>
              <a:defRPr sz="1800">
                <a:latin typeface="Roboto"/>
                <a:ea typeface="Roboto"/>
                <a:cs typeface="Roboto"/>
                <a:sym typeface="Roboto"/>
              </a:defRPr>
            </a:pPr>
            <a:r>
              <a:rPr lang="en-US" b="1" kern="1200" dirty="0">
                <a:solidFill>
                  <a:schemeClr val="tx1"/>
                </a:solidFill>
                <a:latin typeface="+mj-lt"/>
                <a:ea typeface="+mj-ea"/>
                <a:cs typeface="+mj-cs"/>
              </a:rPr>
              <a:t>Internship  2021-22</a:t>
            </a:r>
          </a:p>
          <a:p>
            <a:pPr defTabSz="457200" hangingPunct="1">
              <a:lnSpc>
                <a:spcPct val="90000"/>
              </a:lnSpc>
              <a:spcBef>
                <a:spcPts val="1000"/>
              </a:spcBef>
              <a:buClr>
                <a:schemeClr val="accent1"/>
              </a:buClr>
              <a:buSzPct val="80000"/>
              <a:buFont typeface="Wingdings 3" charset="2"/>
              <a:buChar char=""/>
              <a:defRPr sz="1800">
                <a:latin typeface="Roboto"/>
                <a:ea typeface="Roboto"/>
                <a:cs typeface="Roboto"/>
                <a:sym typeface="Roboto"/>
              </a:defRPr>
            </a:pPr>
            <a:endParaRPr lang="en-US" sz="1100" kern="1200" dirty="0">
              <a:solidFill>
                <a:schemeClr val="tx1"/>
              </a:solidFill>
              <a:latin typeface="+mj-lt"/>
              <a:ea typeface="+mj-ea"/>
              <a:cs typeface="+mj-cs"/>
            </a:endParaRPr>
          </a:p>
          <a:p>
            <a:pPr defTabSz="457200" hangingPunct="1">
              <a:lnSpc>
                <a:spcPct val="90000"/>
              </a:lnSpc>
              <a:spcBef>
                <a:spcPts val="1000"/>
              </a:spcBef>
              <a:buClr>
                <a:schemeClr val="accent1"/>
              </a:buClr>
              <a:buSzPct val="80000"/>
              <a:defRPr sz="1800">
                <a:latin typeface="Roboto"/>
                <a:ea typeface="Roboto"/>
                <a:cs typeface="Roboto"/>
                <a:sym typeface="Roboto"/>
              </a:defRPr>
            </a:pPr>
            <a:r>
              <a:rPr lang="en-US" sz="1800" b="1" i="1" u="sng" kern="1200" dirty="0">
                <a:solidFill>
                  <a:schemeClr val="tx1"/>
                </a:solidFill>
                <a:latin typeface="+mj-lt"/>
                <a:ea typeface="+mj-ea"/>
                <a:cs typeface="+mj-cs"/>
              </a:rPr>
              <a:t>IOT based project</a:t>
            </a:r>
            <a:br>
              <a:rPr lang="en-US" sz="1600" b="1" i="1" u="sng" kern="1200" dirty="0">
                <a:latin typeface="+mj-lt"/>
                <a:ea typeface="+mj-ea"/>
                <a:cs typeface="+mj-cs"/>
              </a:rPr>
            </a:br>
            <a:br>
              <a:rPr lang="en-US" sz="1100" kern="1200" dirty="0">
                <a:latin typeface="+mj-lt"/>
                <a:ea typeface="+mj-ea"/>
                <a:cs typeface="+mj-cs"/>
              </a:rPr>
            </a:br>
            <a:endParaRPr lang="en-US" sz="1100" kern="1200" dirty="0">
              <a:solidFill>
                <a:schemeClr val="tx1"/>
              </a:solidFill>
              <a:latin typeface="+mj-lt"/>
              <a:ea typeface="+mj-ea"/>
              <a:cs typeface="+mj-cs"/>
            </a:endParaRPr>
          </a:p>
          <a:p>
            <a:pPr defTabSz="457200" hangingPunct="1">
              <a:lnSpc>
                <a:spcPct val="90000"/>
              </a:lnSpc>
              <a:spcBef>
                <a:spcPts val="1000"/>
              </a:spcBef>
              <a:buClr>
                <a:schemeClr val="accent1"/>
              </a:buClr>
              <a:buSzPct val="80000"/>
              <a:buFont typeface="Wingdings 3" charset="2"/>
              <a:buChar char=""/>
              <a:defRPr sz="1800" b="1">
                <a:latin typeface="Roboto"/>
                <a:ea typeface="Roboto"/>
                <a:cs typeface="Roboto"/>
                <a:sym typeface="Roboto"/>
              </a:defRPr>
            </a:pPr>
            <a:r>
              <a:rPr lang="en-US" sz="1600" kern="1200" dirty="0">
                <a:solidFill>
                  <a:schemeClr val="tx1"/>
                </a:solidFill>
                <a:latin typeface="+mj-lt"/>
                <a:ea typeface="+mj-ea"/>
                <a:cs typeface="+mj-cs"/>
              </a:rPr>
              <a:t>Name : Divyaamshu Verma</a:t>
            </a:r>
          </a:p>
          <a:p>
            <a:pPr defTabSz="457200" hangingPunct="1">
              <a:lnSpc>
                <a:spcPct val="90000"/>
              </a:lnSpc>
              <a:spcBef>
                <a:spcPts val="1000"/>
              </a:spcBef>
              <a:buClr>
                <a:schemeClr val="accent1"/>
              </a:buClr>
              <a:buSzPct val="80000"/>
              <a:buFont typeface="Wingdings 3" charset="2"/>
              <a:buChar char=""/>
              <a:defRPr sz="1800" b="1">
                <a:latin typeface="Roboto"/>
                <a:ea typeface="Roboto"/>
                <a:cs typeface="Roboto"/>
                <a:sym typeface="Roboto"/>
              </a:defRPr>
            </a:pPr>
            <a:r>
              <a:rPr lang="en-US" sz="1600" kern="1200" dirty="0">
                <a:solidFill>
                  <a:schemeClr val="tx1"/>
                </a:solidFill>
                <a:latin typeface="+mj-lt"/>
                <a:ea typeface="+mj-ea"/>
                <a:cs typeface="+mj-cs"/>
              </a:rPr>
              <a:t>Roll No : TCOD01</a:t>
            </a:r>
          </a:p>
          <a:p>
            <a:pPr defTabSz="457200" hangingPunct="1">
              <a:lnSpc>
                <a:spcPct val="90000"/>
              </a:lnSpc>
              <a:spcBef>
                <a:spcPts val="1000"/>
              </a:spcBef>
              <a:buClr>
                <a:schemeClr val="accent1"/>
              </a:buClr>
              <a:buSzPct val="80000"/>
              <a:buFont typeface="Wingdings 3" charset="2"/>
              <a:buChar char=""/>
              <a:defRPr sz="1800" b="1">
                <a:latin typeface="Roboto"/>
                <a:ea typeface="Roboto"/>
                <a:cs typeface="Roboto"/>
                <a:sym typeface="Roboto"/>
              </a:defRPr>
            </a:pPr>
            <a:r>
              <a:rPr lang="en-US" sz="1600" kern="1200" dirty="0">
                <a:solidFill>
                  <a:schemeClr val="tx1"/>
                </a:solidFill>
                <a:latin typeface="+mj-lt"/>
                <a:ea typeface="+mj-ea"/>
                <a:cs typeface="+mj-cs"/>
              </a:rPr>
              <a:t>Seat No : T190244266</a:t>
            </a:r>
          </a:p>
          <a:p>
            <a:pPr defTabSz="457200">
              <a:lnSpc>
                <a:spcPct val="90000"/>
              </a:lnSpc>
              <a:spcBef>
                <a:spcPts val="1000"/>
              </a:spcBef>
              <a:buClr>
                <a:schemeClr val="accent1"/>
              </a:buClr>
              <a:buSzPct val="80000"/>
              <a:buFont typeface="Wingdings 3" charset="2"/>
              <a:buChar char=""/>
              <a:defRPr sz="1800" b="1">
                <a:latin typeface="Roboto"/>
                <a:ea typeface="Roboto"/>
                <a:cs typeface="Roboto"/>
                <a:sym typeface="Roboto"/>
              </a:defRPr>
            </a:pPr>
            <a:r>
              <a:rPr lang="en-US" sz="1600" kern="1200" dirty="0">
                <a:solidFill>
                  <a:schemeClr val="tx1"/>
                </a:solidFill>
                <a:latin typeface="+mj-lt"/>
                <a:ea typeface="+mj-ea"/>
                <a:cs typeface="+mj-cs"/>
              </a:rPr>
              <a:t>Guide : Mr. Rajesh Bharati</a:t>
            </a:r>
            <a:endParaRPr lang="en-US" sz="1600" kern="1200" dirty="0">
              <a:solidFill>
                <a:schemeClr val="tx1"/>
              </a:solidFill>
              <a:latin typeface="Century Gothic"/>
              <a:ea typeface="+mj-ea"/>
              <a:cs typeface="+mj-cs"/>
            </a:endParaRPr>
          </a:p>
        </p:txBody>
      </p:sp>
      <p:sp>
        <p:nvSpPr>
          <p:cNvPr id="135"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5515" y="0"/>
            <a:ext cx="419604" cy="2782230"/>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37" name="Rectangle 141">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0494" y="0"/>
            <a:ext cx="457382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837933" y="2067482"/>
            <a:ext cx="5143500" cy="1008536"/>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2" name="Picture 2" descr="Logo, company name&#10;&#10;Description automatically generated">
            <a:extLst>
              <a:ext uri="{FF2B5EF4-FFF2-40B4-BE49-F238E27FC236}">
                <a16:creationId xmlns:a16="http://schemas.microsoft.com/office/drawing/2014/main" id="{6FD1C9B9-1223-5F82-BA26-DCFFE242959D}"/>
              </a:ext>
            </a:extLst>
          </p:cNvPr>
          <p:cNvPicPr>
            <a:picLocks noChangeAspect="1"/>
          </p:cNvPicPr>
          <p:nvPr/>
        </p:nvPicPr>
        <p:blipFill>
          <a:blip r:embed="rId7"/>
          <a:stretch>
            <a:fillRect/>
          </a:stretch>
        </p:blipFill>
        <p:spPr>
          <a:xfrm>
            <a:off x="5105823" y="896983"/>
            <a:ext cx="2850372" cy="3016758"/>
          </a:xfrm>
          <a:prstGeom prst="rect">
            <a:avLst/>
          </a:prstGeom>
          <a:effectLst/>
        </p:spPr>
      </p:pic>
      <p:sp>
        <p:nvSpPr>
          <p:cNvPr id="141" name="Rectangle 145">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Google Shape;71;p15"/>
          <p:cNvSpPr txBox="1">
            <a:spLocks noGrp="1"/>
          </p:cNvSpPr>
          <p:nvPr>
            <p:ph type="title"/>
          </p:nvPr>
        </p:nvSpPr>
        <p:spPr>
          <a:prstGeom prst="rect">
            <a:avLst/>
          </a:prstGeom>
        </p:spPr>
        <p:txBody>
          <a:bodyPr/>
          <a:lstStyle>
            <a:lvl1pPr>
              <a:defRPr sz="4200">
                <a:latin typeface="Roboto"/>
                <a:ea typeface="Roboto"/>
                <a:cs typeface="Roboto"/>
                <a:sym typeface="Roboto"/>
              </a:defRPr>
            </a:lvl1pPr>
          </a:lstStyle>
          <a:p>
            <a:r>
              <a:rPr b="1" dirty="0"/>
              <a:t>Outline</a:t>
            </a:r>
          </a:p>
        </p:txBody>
      </p:sp>
      <p:sp>
        <p:nvSpPr>
          <p:cNvPr id="126" name="Google Shape;72;p15"/>
          <p:cNvSpPr txBox="1">
            <a:spLocks noGrp="1"/>
          </p:cNvSpPr>
          <p:nvPr>
            <p:ph type="body" idx="1"/>
          </p:nvPr>
        </p:nvSpPr>
        <p:spPr>
          <a:xfrm>
            <a:off x="914400" y="1085850"/>
            <a:ext cx="7772400" cy="3936001"/>
          </a:xfrm>
          <a:prstGeom prst="rect">
            <a:avLst/>
          </a:prstGeom>
        </p:spPr>
        <p:txBody>
          <a:bodyPr vert="horz" lIns="45699" tIns="45699" rIns="45699" bIns="45699" rtlCol="0" anchor="t">
            <a:normAutofit/>
          </a:bodyPr>
          <a:lstStyle/>
          <a:p>
            <a:pPr marL="274320" indent="-267970">
              <a:lnSpc>
                <a:spcPct val="95000"/>
              </a:lnSpc>
              <a:spcBef>
                <a:spcPts val="0"/>
              </a:spcBef>
              <a:buSzPts val="1200"/>
              <a:defRPr sz="1200">
                <a:solidFill>
                  <a:srgbClr val="002060"/>
                </a:solidFill>
                <a:latin typeface="Roboto"/>
                <a:ea typeface="Roboto"/>
                <a:cs typeface="Roboto"/>
                <a:sym typeface="Roboto"/>
              </a:defRPr>
            </a:pPr>
            <a:r>
              <a:rPr sz="1400" dirty="0">
                <a:solidFill>
                  <a:schemeClr val="tx1">
                    <a:lumMod val="95000"/>
                  </a:schemeClr>
                </a:solidFill>
              </a:rPr>
              <a:t>Internship company / Course details</a:t>
            </a:r>
            <a:endParaRPr lang="en-US" sz="1400">
              <a:solidFill>
                <a:schemeClr val="tx1">
                  <a:lumMod val="95000"/>
                </a:schemeClr>
              </a:solidFill>
            </a:endParaRP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Internship letter/Course Syllabus</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Introduction ( About the system/project)</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Literature survey</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Problem Statement</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Objectives and scope of the system</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Hardware , Software requirements</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System design (System Architecture, Module diagram/UML diagrams/Algorithms)</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System implementation ( Modules implemented with GUI )</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Results</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Conclusion</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References in IEEE format</a:t>
            </a:r>
          </a:p>
          <a:p>
            <a:pPr marL="274320" indent="-267970">
              <a:lnSpc>
                <a:spcPct val="95000"/>
              </a:lnSpc>
              <a:buSzPts val="1200"/>
              <a:defRPr sz="1200">
                <a:solidFill>
                  <a:srgbClr val="002060"/>
                </a:solidFill>
                <a:latin typeface="Roboto"/>
                <a:ea typeface="Roboto"/>
                <a:cs typeface="Roboto"/>
                <a:sym typeface="Roboto"/>
              </a:defRPr>
            </a:pPr>
            <a:r>
              <a:rPr sz="1400" dirty="0">
                <a:solidFill>
                  <a:schemeClr val="tx1">
                    <a:lumMod val="95000"/>
                  </a:schemeClr>
                </a:solidFill>
              </a:rPr>
              <a:t>Internship diary/Course done detail schedule</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Google Shape;77;p16"/>
          <p:cNvSpPr txBox="1">
            <a:spLocks noGrp="1"/>
          </p:cNvSpPr>
          <p:nvPr>
            <p:ph type="title"/>
          </p:nvPr>
        </p:nvSpPr>
        <p:spPr>
          <a:prstGeom prst="rect">
            <a:avLst/>
          </a:prstGeom>
        </p:spPr>
        <p:txBody>
          <a:bodyPr/>
          <a:lstStyle>
            <a:lvl1pPr>
              <a:defRPr>
                <a:latin typeface="Roboto"/>
                <a:ea typeface="Roboto"/>
                <a:cs typeface="Roboto"/>
                <a:sym typeface="Roboto"/>
              </a:defRPr>
            </a:lvl1pPr>
          </a:lstStyle>
          <a:p>
            <a:r>
              <a:rPr sz="4000" b="1" dirty="0"/>
              <a:t>Internship Company</a:t>
            </a:r>
          </a:p>
        </p:txBody>
      </p:sp>
      <p:sp>
        <p:nvSpPr>
          <p:cNvPr id="129" name="Google Shape;78;p16"/>
          <p:cNvSpPr txBox="1">
            <a:spLocks noGrp="1"/>
          </p:cNvSpPr>
          <p:nvPr>
            <p:ph type="body" idx="1"/>
          </p:nvPr>
        </p:nvSpPr>
        <p:spPr>
          <a:prstGeom prst="rect">
            <a:avLst/>
          </a:prstGeom>
        </p:spPr>
        <p:txBody>
          <a:bodyPr vert="horz" lIns="45699" tIns="45699" rIns="45699" bIns="45699" rtlCol="0" anchor="t">
            <a:normAutofit/>
          </a:bodyPr>
          <a:lstStyle/>
          <a:p>
            <a:pPr marL="0" indent="0">
              <a:buSzTx/>
              <a:buNone/>
              <a:defRPr>
                <a:latin typeface="Roboto"/>
                <a:ea typeface="Roboto"/>
                <a:cs typeface="Roboto"/>
                <a:sym typeface="Roboto"/>
              </a:defRPr>
            </a:pPr>
            <a:r>
              <a:rPr dirty="0"/>
              <a:t>Company Name: </a:t>
            </a:r>
            <a:r>
              <a:rPr u="sng" dirty="0"/>
              <a:t>XOR Bit Infotech Pvt. Ltd.</a:t>
            </a:r>
          </a:p>
          <a:p>
            <a:pPr marL="0" indent="0">
              <a:spcBef>
                <a:spcPts val="1200"/>
              </a:spcBef>
              <a:buSzTx/>
              <a:buNone/>
              <a:defRPr>
                <a:latin typeface="Roboto"/>
                <a:ea typeface="Roboto"/>
                <a:cs typeface="Roboto"/>
                <a:sym typeface="Roboto"/>
              </a:defRPr>
            </a:pPr>
            <a:r>
              <a:rPr sz="1800" dirty="0">
                <a:latin typeface="Old Standard TT"/>
                <a:ea typeface="Old Standard TT"/>
                <a:cs typeface="Old Standard TT"/>
                <a:sym typeface="Old Standard TT"/>
              </a:rPr>
              <a:t>XOR Bit Infotech is  IT service providing company ,which offers cloud services ,</a:t>
            </a:r>
            <a:r>
              <a:rPr lang="en-US" sz="1800" dirty="0">
                <a:latin typeface="Old Standard TT"/>
                <a:ea typeface="Old Standard TT"/>
                <a:cs typeface="Old Standard TT"/>
                <a:sym typeface="Old Standard TT"/>
              </a:rPr>
              <a:t> </a:t>
            </a:r>
            <a:r>
              <a:rPr sz="1800" dirty="0">
                <a:latin typeface="Old Standard TT"/>
                <a:ea typeface="Old Standard TT"/>
                <a:cs typeface="Old Standard TT"/>
                <a:sym typeface="Old Standard TT"/>
              </a:rPr>
              <a:t>IDC consultancy ,</a:t>
            </a:r>
            <a:r>
              <a:rPr lang="en-US" sz="1800" dirty="0">
                <a:latin typeface="Old Standard TT"/>
                <a:ea typeface="Old Standard TT"/>
                <a:cs typeface="Old Standard TT"/>
                <a:sym typeface="Old Standard TT"/>
              </a:rPr>
              <a:t> </a:t>
            </a:r>
            <a:r>
              <a:rPr sz="1800" dirty="0">
                <a:latin typeface="Old Standard TT"/>
                <a:ea typeface="Old Standard TT"/>
                <a:cs typeface="Old Standard TT"/>
                <a:sym typeface="Old Standard TT"/>
              </a:rPr>
              <a:t>IT training</a:t>
            </a:r>
            <a:r>
              <a:rPr lang="en-US" sz="1800" dirty="0">
                <a:latin typeface="Old Standard TT"/>
                <a:ea typeface="Old Standard TT"/>
                <a:cs typeface="Old Standard TT"/>
                <a:sym typeface="Old Standard TT"/>
              </a:rPr>
              <a:t> </a:t>
            </a:r>
            <a:r>
              <a:rPr sz="1800" dirty="0">
                <a:latin typeface="Old Standard TT"/>
                <a:ea typeface="Old Standard TT"/>
                <a:cs typeface="Old Standard TT"/>
                <a:sym typeface="Old Standard TT"/>
              </a:rPr>
              <a:t>, software development , Internet of things ,</a:t>
            </a:r>
            <a:r>
              <a:rPr lang="en-US" sz="1800" dirty="0">
                <a:latin typeface="Old Standard TT"/>
                <a:ea typeface="Old Standard TT"/>
                <a:cs typeface="Old Standard TT"/>
                <a:sym typeface="Old Standard TT"/>
              </a:rPr>
              <a:t> </a:t>
            </a:r>
            <a:r>
              <a:rPr sz="1800" dirty="0">
                <a:latin typeface="Old Standard TT"/>
                <a:ea typeface="Old Standard TT"/>
                <a:cs typeface="Old Standard TT"/>
                <a:sym typeface="Old Standard TT"/>
              </a:rPr>
              <a:t>Artificial intelligence &amp;</a:t>
            </a:r>
            <a:r>
              <a:rPr lang="en-US" sz="1800" dirty="0">
                <a:latin typeface="Old Standard TT"/>
                <a:ea typeface="Old Standard TT"/>
                <a:cs typeface="Old Standard TT"/>
                <a:sym typeface="Old Standard TT"/>
              </a:rPr>
              <a:t> </a:t>
            </a:r>
            <a:r>
              <a:rPr sz="1800" dirty="0">
                <a:latin typeface="Old Standard TT"/>
                <a:ea typeface="Old Standard TT"/>
                <a:cs typeface="Old Standard TT"/>
                <a:sym typeface="Old Standard TT"/>
              </a:rPr>
              <a:t>Machine learning services. IT follows the motto</a:t>
            </a:r>
            <a:r>
              <a:rPr lang="en-US" sz="1800" dirty="0">
                <a:latin typeface="Old Standard TT"/>
                <a:ea typeface="Old Standard TT"/>
                <a:cs typeface="Old Standard TT"/>
                <a:sym typeface="Old Standard TT"/>
              </a:rPr>
              <a:t>:</a:t>
            </a:r>
            <a:r>
              <a:rPr sz="1800" dirty="0">
                <a:latin typeface="Old Standard TT"/>
                <a:ea typeface="Old Standard TT"/>
                <a:cs typeface="Old Standard TT"/>
                <a:sym typeface="Old Standard TT"/>
              </a:rPr>
              <a:t> experience exclusive excellence every time.</a:t>
            </a:r>
            <a:endParaRPr sz="1800" dirty="0">
              <a:latin typeface="Old Standard TT"/>
              <a:ea typeface="Old Standard TT"/>
              <a:cs typeface="Old Standard TT"/>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Google Shape;84;p17"/>
          <p:cNvSpPr txBox="1">
            <a:spLocks noGrp="1"/>
          </p:cNvSpPr>
          <p:nvPr>
            <p:ph type="title"/>
          </p:nvPr>
        </p:nvSpPr>
        <p:spPr>
          <a:prstGeom prst="rect">
            <a:avLst/>
          </a:prstGeom>
        </p:spPr>
        <p:txBody>
          <a:bodyPr/>
          <a:lstStyle/>
          <a:p>
            <a:r>
              <a:rPr sz="4000" b="1" dirty="0"/>
              <a:t>Internship Letter</a:t>
            </a:r>
          </a:p>
        </p:txBody>
      </p:sp>
      <p:sp>
        <p:nvSpPr>
          <p:cNvPr id="132" name="Google Shape;85;p17"/>
          <p:cNvSpPr txBox="1">
            <a:spLocks noGrp="1"/>
          </p:cNvSpPr>
          <p:nvPr>
            <p:ph type="body" idx="1"/>
          </p:nvPr>
        </p:nvSpPr>
        <p:spPr>
          <a:xfrm>
            <a:off x="914400" y="1063379"/>
            <a:ext cx="7772400" cy="2901402"/>
          </a:xfrm>
          <a:prstGeom prst="rect">
            <a:avLst/>
          </a:prstGeom>
        </p:spPr>
        <p:txBody>
          <a:bodyPr vert="horz" lIns="45699" tIns="45699" rIns="45699" bIns="45699" rtlCol="0" anchor="t">
            <a:normAutofit fontScale="92500" lnSpcReduction="10000"/>
          </a:bodyPr>
          <a:lstStyle/>
          <a:p>
            <a:pPr marL="0" indent="457200">
              <a:buSzTx/>
              <a:buNone/>
              <a:defRPr sz="2100"/>
            </a:pPr>
            <a:endParaRPr dirty="0"/>
          </a:p>
          <a:p>
            <a:pPr indent="-344170">
              <a:spcBef>
                <a:spcPts val="1200"/>
              </a:spcBef>
              <a:buSzPts val="2100"/>
              <a:defRPr sz="2100"/>
            </a:pPr>
            <a:r>
              <a:rPr sz="1900" dirty="0"/>
              <a:t>I got offer letter for the Internship on 22th of December, 2021.</a:t>
            </a:r>
          </a:p>
          <a:p>
            <a:pPr indent="-344170">
              <a:spcBef>
                <a:spcPts val="1200"/>
              </a:spcBef>
              <a:buSzPts val="2100"/>
              <a:defRPr sz="2100"/>
            </a:pPr>
            <a:endParaRPr lang="en-US" sz="1900" dirty="0"/>
          </a:p>
          <a:p>
            <a:pPr indent="-344170">
              <a:spcBef>
                <a:spcPts val="0"/>
              </a:spcBef>
              <a:buSzPts val="2100"/>
              <a:defRPr sz="2100"/>
            </a:pPr>
            <a:r>
              <a:rPr sz="1900" dirty="0"/>
              <a:t>I applied for the internship on the </a:t>
            </a:r>
            <a:r>
              <a:rPr lang="en-US" sz="1900" u="sng" dirty="0">
                <a:solidFill>
                  <a:schemeClr val="accent5"/>
                </a:solidFill>
                <a:uFill>
                  <a:solidFill>
                    <a:schemeClr val="accent5"/>
                  </a:solidFill>
                </a:uFill>
              </a:rPr>
              <a:t>LinkedIn</a:t>
            </a:r>
            <a:r>
              <a:rPr sz="1900" u="sng" dirty="0">
                <a:solidFill>
                  <a:schemeClr val="accent5"/>
                </a:solidFill>
                <a:uFill>
                  <a:solidFill>
                    <a:schemeClr val="accent5"/>
                  </a:solidFill>
                </a:uFill>
                <a:hlinkClick r:id="rId2">
                  <a:extLst>
                    <a:ext uri="{A12FA001-AC4F-418D-AE19-62706E023703}">
                      <ahyp:hlinkClr xmlns:ahyp="http://schemas.microsoft.com/office/drawing/2018/hyperlinkcolor" val="tx"/>
                    </a:ext>
                  </a:extLst>
                </a:hlinkClick>
              </a:rPr>
              <a:t> </a:t>
            </a:r>
            <a:r>
              <a:rPr sz="1900" dirty="0"/>
              <a:t>website.</a:t>
            </a:r>
            <a:endParaRPr lang="en-US" sz="1900" dirty="0"/>
          </a:p>
          <a:p>
            <a:pPr indent="-344170">
              <a:spcBef>
                <a:spcPts val="0"/>
              </a:spcBef>
              <a:buSzPts val="2100"/>
              <a:defRPr sz="2100"/>
            </a:pPr>
            <a:endParaRPr lang="en-IN" sz="1900" dirty="0"/>
          </a:p>
          <a:p>
            <a:pPr indent="-344170">
              <a:spcBef>
                <a:spcPts val="0"/>
              </a:spcBef>
              <a:buSzPts val="2100"/>
              <a:defRPr sz="2100"/>
            </a:pPr>
            <a:r>
              <a:rPr lang="en-IN" sz="1900" dirty="0"/>
              <a:t>My date of joining was 1</a:t>
            </a:r>
            <a:r>
              <a:rPr lang="en-IN" sz="1900" baseline="30000" dirty="0"/>
              <a:t>st</a:t>
            </a:r>
            <a:r>
              <a:rPr lang="en-IN" sz="1900" dirty="0"/>
              <a:t> of January.</a:t>
            </a:r>
            <a:endParaRPr sz="1900" dirty="0"/>
          </a:p>
          <a:p>
            <a:pPr indent="-344170">
              <a:spcBef>
                <a:spcPts val="0"/>
              </a:spcBef>
              <a:buSzPts val="2100"/>
              <a:defRPr sz="2100"/>
            </a:pPr>
            <a:endParaRPr lang="en-IN" sz="1900" dirty="0"/>
          </a:p>
          <a:p>
            <a:pPr indent="-344170">
              <a:spcBef>
                <a:spcPts val="0"/>
              </a:spcBef>
              <a:buSzPts val="2100"/>
              <a:defRPr sz="2100"/>
            </a:pPr>
            <a:r>
              <a:rPr sz="1900" dirty="0"/>
              <a:t>The tenure of the internship was of </a:t>
            </a:r>
            <a:r>
              <a:rPr lang="en-US" sz="1900" dirty="0"/>
              <a:t>one</a:t>
            </a:r>
            <a:r>
              <a:rPr sz="1900" dirty="0"/>
              <a:t> month.</a:t>
            </a:r>
          </a:p>
          <a:p>
            <a:pPr indent="-344170">
              <a:spcBef>
                <a:spcPts val="0"/>
              </a:spcBef>
              <a:buSzPts val="2100"/>
              <a:defRPr sz="2100"/>
            </a:pPr>
            <a:endParaRPr lang="en-US" sz="1900" dirty="0"/>
          </a:p>
          <a:p>
            <a:pPr indent="-344170">
              <a:spcBef>
                <a:spcPts val="0"/>
              </a:spcBef>
              <a:buSzPts val="2100"/>
              <a:defRPr sz="2100"/>
            </a:pPr>
            <a:r>
              <a:rPr sz="1900" dirty="0"/>
              <a:t>I was offered the role of Trainee Engineer(IOT services).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4BCFC80-B26D-769B-D65C-F4EFE20B82A8}"/>
              </a:ext>
            </a:extLst>
          </p:cNvPr>
          <p:cNvSpPr txBox="1"/>
          <p:nvPr/>
        </p:nvSpPr>
        <p:spPr>
          <a:xfrm>
            <a:off x="2993481" y="4557516"/>
            <a:ext cx="315039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t>  </a:t>
            </a:r>
            <a:r>
              <a:rPr lang="en-US" dirty="0">
                <a:solidFill>
                  <a:schemeClr val="tx1">
                    <a:lumMod val="95000"/>
                  </a:schemeClr>
                </a:solidFill>
              </a:rPr>
              <a:t>Internship Completion Certificate</a:t>
            </a:r>
            <a:endParaRPr kumimoji="0" lang="en-IN" sz="1400" b="0" i="0" u="none" strike="noStrike" cap="none" spc="0" normalizeH="0" baseline="0" dirty="0">
              <a:ln>
                <a:noFill/>
              </a:ln>
              <a:solidFill>
                <a:schemeClr val="tx1">
                  <a:lumMod val="95000"/>
                </a:schemeClr>
              </a:solidFill>
              <a:effectLst/>
              <a:uFillTx/>
              <a:latin typeface="+mn-lt"/>
              <a:ea typeface="+mn-ea"/>
              <a:cs typeface="+mn-cs"/>
              <a:sym typeface="Arial"/>
            </a:endParaRPr>
          </a:p>
        </p:txBody>
      </p:sp>
      <p:pic>
        <p:nvPicPr>
          <p:cNvPr id="2" name="Picture 2" descr="Text, letter&#10;&#10;Description automatically generated">
            <a:extLst>
              <a:ext uri="{FF2B5EF4-FFF2-40B4-BE49-F238E27FC236}">
                <a16:creationId xmlns:a16="http://schemas.microsoft.com/office/drawing/2014/main" id="{D4F78D37-A157-DA94-B4FC-D62AC2DEEF68}"/>
              </a:ext>
            </a:extLst>
          </p:cNvPr>
          <p:cNvPicPr>
            <a:picLocks noChangeAspect="1"/>
          </p:cNvPicPr>
          <p:nvPr/>
        </p:nvPicPr>
        <p:blipFill>
          <a:blip r:embed="rId2"/>
          <a:stretch>
            <a:fillRect/>
          </a:stretch>
        </p:blipFill>
        <p:spPr>
          <a:xfrm>
            <a:off x="3200400" y="307879"/>
            <a:ext cx="2743200" cy="3901440"/>
          </a:xfrm>
          <a:prstGeom prst="rect">
            <a:avLst/>
          </a:prstGeom>
        </p:spPr>
      </p:pic>
    </p:spTree>
    <p:extLst>
      <p:ext uri="{BB962C8B-B14F-4D97-AF65-F5344CB8AC3E}">
        <p14:creationId xmlns:p14="http://schemas.microsoft.com/office/powerpoint/2010/main" val="3314479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Google Shape;90;p18"/>
          <p:cNvSpPr txBox="1">
            <a:spLocks noGrp="1"/>
          </p:cNvSpPr>
          <p:nvPr>
            <p:ph type="title"/>
          </p:nvPr>
        </p:nvSpPr>
        <p:spPr>
          <a:prstGeom prst="rect">
            <a:avLst/>
          </a:prstGeom>
        </p:spPr>
        <p:txBody>
          <a:bodyPr/>
          <a:lstStyle/>
          <a:p>
            <a:r>
              <a:rPr sz="4000" b="1" dirty="0"/>
              <a:t>INTRODUCTION</a:t>
            </a:r>
            <a:r>
              <a:rPr dirty="0"/>
              <a:t>			</a:t>
            </a:r>
          </a:p>
        </p:txBody>
      </p:sp>
      <p:sp>
        <p:nvSpPr>
          <p:cNvPr id="135" name="Google Shape;91;p18"/>
          <p:cNvSpPr txBox="1">
            <a:spLocks noGrp="1"/>
          </p:cNvSpPr>
          <p:nvPr>
            <p:ph type="body" idx="1"/>
          </p:nvPr>
        </p:nvSpPr>
        <p:spPr>
          <a:xfrm>
            <a:off x="857250" y="1109908"/>
            <a:ext cx="7829550" cy="3726493"/>
          </a:xfrm>
          <a:prstGeom prst="rect">
            <a:avLst/>
          </a:prstGeom>
        </p:spPr>
        <p:txBody>
          <a:bodyPr vert="horz" lIns="45699" tIns="45699" rIns="45699" bIns="45699" rtlCol="0" anchor="t">
            <a:normAutofit/>
          </a:bodyPr>
          <a:lstStyle/>
          <a:p>
            <a:pPr marL="0" indent="0">
              <a:lnSpc>
                <a:spcPct val="92000"/>
              </a:lnSpc>
              <a:spcBef>
                <a:spcPts val="1200"/>
              </a:spcBef>
              <a:buSzTx/>
              <a:buNone/>
              <a:defRPr sz="1200"/>
            </a:pPr>
            <a:r>
              <a:rPr sz="1400" b="1" dirty="0"/>
              <a:t>IOT based smart agriculture controlling system:</a:t>
            </a:r>
            <a:r>
              <a:rPr lang="en-US" sz="1400" dirty="0"/>
              <a:t> </a:t>
            </a:r>
            <a:endParaRPr sz="1400" dirty="0"/>
          </a:p>
          <a:p>
            <a:pPr marL="285750" indent="-285750">
              <a:lnSpc>
                <a:spcPct val="91999"/>
              </a:lnSpc>
              <a:spcBef>
                <a:spcPts val="1200"/>
              </a:spcBef>
              <a:buSzTx/>
              <a:defRPr sz="1200"/>
            </a:pPr>
            <a:r>
              <a:rPr sz="1400" dirty="0"/>
              <a:t>This project presents a new design of water pump control for the development of smart irrigation system linked with SMS.</a:t>
            </a:r>
            <a:endParaRPr lang="en-US" sz="1400" dirty="0"/>
          </a:p>
          <a:p>
            <a:pPr marL="285750" indent="-285750">
              <a:lnSpc>
                <a:spcPct val="91999"/>
              </a:lnSpc>
              <a:spcBef>
                <a:spcPts val="1200"/>
              </a:spcBef>
              <a:buSzTx/>
              <a:defRPr sz="1200"/>
            </a:pPr>
            <a:r>
              <a:rPr sz="1400" dirty="0"/>
              <a:t>Wastage of water in the current scenario, merely due to overflowing tanks, which is not affordable. Conventional water tanks can neither monitor nor control the water level in tank, leading to large amount of water wastage. Some other technologies had certain drawbacks in some or the other way. The need of removal of these short-comings and providing an efficient and economical solution has been the main focus of this project.</a:t>
            </a:r>
            <a:endParaRPr lang="en-US" sz="1400" dirty="0"/>
          </a:p>
          <a:p>
            <a:pPr marL="285750" indent="-285750">
              <a:lnSpc>
                <a:spcPct val="91999"/>
              </a:lnSpc>
              <a:spcBef>
                <a:spcPts val="1200"/>
              </a:spcBef>
              <a:buSzTx/>
              <a:defRPr sz="1200"/>
            </a:pPr>
            <a:r>
              <a:rPr sz="1400" dirty="0"/>
              <a:t>Our project is for water level monitoring as well as controlling with IOT and GSM module. The IOT platform we are using is Arduino which is an open source. An Float-level sensor is placed on the surface of the tank to sense the water level. We can monitor the tank manually using an on/off system provide to the user controlled through GSM module via text message. Index Terms: </a:t>
            </a:r>
            <a:r>
              <a:rPr lang="en-US" sz="1400" dirty="0"/>
              <a:t>IoT</a:t>
            </a:r>
            <a:r>
              <a:rPr sz="1400" dirty="0"/>
              <a:t>, GSM module, ultrasonic sensor, Arduino</a:t>
            </a:r>
            <a:r>
              <a:rPr dirty="0"/>
              <a:t>. </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Google Shape;96;p19"/>
          <p:cNvSpPr txBox="1">
            <a:spLocks noGrp="1"/>
          </p:cNvSpPr>
          <p:nvPr>
            <p:ph type="title"/>
          </p:nvPr>
        </p:nvSpPr>
        <p:spPr>
          <a:prstGeom prst="rect">
            <a:avLst/>
          </a:prstGeom>
        </p:spPr>
        <p:txBody>
          <a:bodyPr/>
          <a:lstStyle/>
          <a:p>
            <a:r>
              <a:rPr sz="4000" b="1" dirty="0"/>
              <a:t>Literature Survey</a:t>
            </a:r>
          </a:p>
        </p:txBody>
      </p:sp>
      <p:sp>
        <p:nvSpPr>
          <p:cNvPr id="138" name="Google Shape;97;p19"/>
          <p:cNvSpPr txBox="1">
            <a:spLocks noGrp="1"/>
          </p:cNvSpPr>
          <p:nvPr>
            <p:ph type="body" idx="1"/>
          </p:nvPr>
        </p:nvSpPr>
        <p:spPr>
          <a:xfrm>
            <a:off x="914400" y="1436924"/>
            <a:ext cx="7772400" cy="2893801"/>
          </a:xfrm>
          <a:prstGeom prst="rect">
            <a:avLst/>
          </a:prstGeom>
        </p:spPr>
        <p:txBody>
          <a:bodyPr vert="horz" lIns="45699" tIns="45699" rIns="45699" bIns="45699" rtlCol="0" anchor="t">
            <a:normAutofit/>
          </a:bodyPr>
          <a:lstStyle/>
          <a:p>
            <a:pPr indent="-327025">
              <a:spcBef>
                <a:spcPts val="0"/>
              </a:spcBef>
            </a:pPr>
            <a:r>
              <a:rPr dirty="0"/>
              <a:t>IOT and Neural network-based water pumping control system for smart irrigation- by </a:t>
            </a:r>
            <a:r>
              <a:rPr dirty="0" err="1"/>
              <a:t>M.E.Karar</a:t>
            </a:r>
            <a:r>
              <a:rPr dirty="0"/>
              <a:t>, </a:t>
            </a:r>
            <a:r>
              <a:rPr dirty="0" err="1"/>
              <a:t>M.F.Al</a:t>
            </a:r>
            <a:r>
              <a:rPr dirty="0"/>
              <a:t>-Rasheed and Omar Reyad.</a:t>
            </a:r>
          </a:p>
          <a:p>
            <a:pPr indent="-327025">
              <a:lnSpc>
                <a:spcPct val="114998"/>
              </a:lnSpc>
              <a:spcBef>
                <a:spcPts val="0"/>
              </a:spcBef>
            </a:pPr>
            <a:r>
              <a:rPr dirty="0"/>
              <a:t>IOT based model for monitoring and controlling water distribution- by J G Natividad and T D </a:t>
            </a:r>
            <a:r>
              <a:rPr dirty="0" err="1"/>
              <a:t>Palaoag</a:t>
            </a:r>
            <a:r>
              <a:rPr dirty="0"/>
              <a:t>. </a:t>
            </a:r>
          </a:p>
          <a:p>
            <a:pPr indent="-327025">
              <a:lnSpc>
                <a:spcPct val="114998"/>
              </a:lnSpc>
              <a:spcBef>
                <a:spcPts val="0"/>
              </a:spcBef>
            </a:pPr>
            <a:r>
              <a:rPr dirty="0"/>
              <a:t>IOT based solar water pump controller- by Mr. </a:t>
            </a:r>
            <a:r>
              <a:rPr dirty="0" err="1"/>
              <a:t>Gokulavasan</a:t>
            </a:r>
            <a:r>
              <a:rPr dirty="0"/>
              <a:t> B. , Mr. Rohith V. , Mr. </a:t>
            </a:r>
            <a:r>
              <a:rPr dirty="0" err="1"/>
              <a:t>Santhoss</a:t>
            </a:r>
            <a:r>
              <a:rPr dirty="0"/>
              <a:t> K. And Mr. Sharan R P.</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Google Shape;102;p20"/>
          <p:cNvSpPr txBox="1">
            <a:spLocks noGrp="1"/>
          </p:cNvSpPr>
          <p:nvPr>
            <p:ph type="title"/>
          </p:nvPr>
        </p:nvSpPr>
        <p:spPr>
          <a:prstGeom prst="rect">
            <a:avLst/>
          </a:prstGeom>
        </p:spPr>
        <p:txBody>
          <a:bodyPr/>
          <a:lstStyle/>
          <a:p>
            <a:r>
              <a:rPr sz="4000" b="1" dirty="0"/>
              <a:t>Problem Statement</a:t>
            </a:r>
          </a:p>
        </p:txBody>
      </p:sp>
      <p:sp>
        <p:nvSpPr>
          <p:cNvPr id="141" name="Google Shape;103;p20"/>
          <p:cNvSpPr txBox="1">
            <a:spLocks noGrp="1"/>
          </p:cNvSpPr>
          <p:nvPr>
            <p:ph type="body" idx="1"/>
          </p:nvPr>
        </p:nvSpPr>
        <p:spPr>
          <a:xfrm>
            <a:off x="914400" y="1085850"/>
            <a:ext cx="7772400" cy="3797700"/>
          </a:xfrm>
          <a:prstGeom prst="rect">
            <a:avLst/>
          </a:prstGeom>
        </p:spPr>
        <p:txBody>
          <a:bodyPr vert="horz" lIns="45699" tIns="45699" rIns="45699" bIns="45699" rtlCol="0" anchor="t">
            <a:normAutofit/>
          </a:bodyPr>
          <a:lstStyle>
            <a:lvl1pPr marL="0" indent="0">
              <a:lnSpc>
                <a:spcPct val="114998"/>
              </a:lnSpc>
              <a:buSzTx/>
              <a:buNone/>
            </a:lvl1pPr>
          </a:lstStyle>
          <a:p>
            <a:r>
              <a:rPr sz="1600" dirty="0"/>
              <a:t>Water is always a crucial part of everyday life. Due to global environmental situation, water management and conservation is vital for human survival. In recent times, there were huge needs of consumer-based humanitarian projects that could be rapidly developed using Internet of Things (IoT) technology. Our proposed system measures water level in real-time and helps the user to monitor the water tank remotely using mobile device via text message . It helps farmers which are not present on fields to remotely check the status of their water tank and provides access to them to operate the motor pump remotely at any time.</a:t>
            </a:r>
            <a:r>
              <a:rPr dirty="0"/>
              <a:t> </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Google Shape;108;p21"/>
          <p:cNvSpPr txBox="1">
            <a:spLocks noGrp="1"/>
          </p:cNvSpPr>
          <p:nvPr>
            <p:ph type="title"/>
          </p:nvPr>
        </p:nvSpPr>
        <p:spPr>
          <a:xfrm>
            <a:off x="914400" y="65060"/>
            <a:ext cx="7772400" cy="998318"/>
          </a:xfrm>
          <a:prstGeom prst="rect">
            <a:avLst/>
          </a:prstGeom>
        </p:spPr>
        <p:txBody>
          <a:bodyPr/>
          <a:lstStyle/>
          <a:p>
            <a:r>
              <a:rPr lang="en-US" sz="4000" b="1" dirty="0"/>
              <a:t>Objectives</a:t>
            </a:r>
            <a:endParaRPr lang="en-US" sz="4000" dirty="0"/>
          </a:p>
        </p:txBody>
      </p:sp>
      <p:sp>
        <p:nvSpPr>
          <p:cNvPr id="144" name="Google Shape;109;p21"/>
          <p:cNvSpPr txBox="1">
            <a:spLocks noGrp="1"/>
          </p:cNvSpPr>
          <p:nvPr>
            <p:ph type="body" idx="1"/>
          </p:nvPr>
        </p:nvSpPr>
        <p:spPr>
          <a:xfrm>
            <a:off x="914400" y="1396725"/>
            <a:ext cx="7772400" cy="2009701"/>
          </a:xfrm>
          <a:prstGeom prst="rect">
            <a:avLst/>
          </a:prstGeom>
        </p:spPr>
        <p:txBody>
          <a:bodyPr/>
          <a:lstStyle/>
          <a:p>
            <a:pPr>
              <a:lnSpc>
                <a:spcPct val="103500"/>
              </a:lnSpc>
            </a:pPr>
            <a:r>
              <a:t>The main objective of the project was to create an IOT based system which is easy to access and operate.</a:t>
            </a:r>
          </a:p>
          <a:p>
            <a:pPr>
              <a:lnSpc>
                <a:spcPct val="103499"/>
              </a:lnSpc>
            </a:pPr>
            <a:r>
              <a:t>To help farmers check electricity status on fields and water level in their tanks remotely </a:t>
            </a:r>
          </a:p>
          <a:p>
            <a:pPr>
              <a:lnSpc>
                <a:spcPct val="103500"/>
              </a:lnSpc>
              <a:spcBef>
                <a:spcPts val="0"/>
              </a:spcBef>
            </a:pPr>
            <a:r>
              <a:t>Also to provide them a way to remotely control the water pump present on their fields using their mobile phone  </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FCCB8C-96F7-6E1F-52CF-2565EABD0E0F}"/>
              </a:ext>
            </a:extLst>
          </p:cNvPr>
          <p:cNvSpPr txBox="1"/>
          <p:nvPr/>
        </p:nvSpPr>
        <p:spPr>
          <a:xfrm>
            <a:off x="480350" y="1055466"/>
            <a:ext cx="7807123"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tx1"/>
                </a:solidFill>
              </a:rPr>
              <a:t>Step Down Module (Lm2596) - </a:t>
            </a:r>
            <a:r>
              <a:rPr lang="en-US" dirty="0">
                <a:solidFill>
                  <a:schemeClr val="tx1"/>
                </a:solidFill>
              </a:rPr>
              <a:t>is a step-down(buck) switching regulator, capable of driving a 3-A load with excellent line and load regulation. These devices are available in fixed output voltages of 3.3 V, 5 V, 12 V, and an adjustable output version.</a:t>
            </a:r>
          </a:p>
          <a:p>
            <a:endParaRPr lang="en-US" b="1" dirty="0">
              <a:solidFill>
                <a:schemeClr val="tx1"/>
              </a:solidFill>
            </a:endParaRPr>
          </a:p>
          <a:p>
            <a:r>
              <a:rPr lang="en-US" b="1" dirty="0">
                <a:solidFill>
                  <a:schemeClr val="tx1"/>
                </a:solidFill>
              </a:rPr>
              <a:t>Relay Module (5V 1Channel)</a:t>
            </a:r>
            <a:r>
              <a:rPr lang="en-US" dirty="0">
                <a:solidFill>
                  <a:schemeClr val="tx1"/>
                </a:solidFill>
              </a:rPr>
              <a:t> - The relay module is an electrically operated switch that can be turned on or off deciding to let current flow through or not. </a:t>
            </a:r>
          </a:p>
          <a:p>
            <a:endParaRPr lang="en-US" dirty="0">
              <a:solidFill>
                <a:schemeClr val="tx1"/>
              </a:solidFill>
            </a:endParaRPr>
          </a:p>
          <a:p>
            <a:r>
              <a:rPr lang="en-US" b="1" dirty="0">
                <a:solidFill>
                  <a:schemeClr val="tx1"/>
                </a:solidFill>
              </a:rPr>
              <a:t>LCD Display and I2C Model</a:t>
            </a:r>
            <a:r>
              <a:rPr lang="en-US" dirty="0">
                <a:solidFill>
                  <a:schemeClr val="tx1"/>
                </a:solidFill>
              </a:rPr>
              <a:t> - I2C_LCD is an easy-to-use display module; it can make display easier. Using it can reduce the difficulty of make, so that makers can focus on the core of the work. </a:t>
            </a:r>
          </a:p>
          <a:p>
            <a:endParaRPr lang="en-US" dirty="0">
              <a:solidFill>
                <a:schemeClr val="tx1">
                  <a:lumMod val="95000"/>
                </a:schemeClr>
              </a:solidFill>
            </a:endParaRPr>
          </a:p>
          <a:p>
            <a:r>
              <a:rPr lang="en-US" b="1" dirty="0">
                <a:solidFill>
                  <a:schemeClr val="tx1">
                    <a:lumMod val="95000"/>
                  </a:schemeClr>
                </a:solidFill>
                <a:ea typeface="+mn-lt"/>
                <a:cs typeface="+mn-lt"/>
              </a:rPr>
              <a:t>Arduino Uno -</a:t>
            </a:r>
            <a:r>
              <a:rPr lang="en-US" dirty="0">
                <a:solidFill>
                  <a:schemeClr val="tx1">
                    <a:lumMod val="95000"/>
                  </a:schemeClr>
                </a:solidFill>
                <a:ea typeface="+mn-lt"/>
                <a:cs typeface="+mn-lt"/>
              </a:rPr>
              <a:t> Arduino is an open-source electronics platform based on easy-to-use hardware and software. Arduino boards </a:t>
            </a:r>
            <a:r>
              <a:rPr lang="en-US" b="1" dirty="0">
                <a:solidFill>
                  <a:schemeClr val="tx1">
                    <a:lumMod val="95000"/>
                  </a:schemeClr>
                </a:solidFill>
                <a:ea typeface="+mn-lt"/>
                <a:cs typeface="+mn-lt"/>
              </a:rPr>
              <a:t>are able</a:t>
            </a:r>
            <a:r>
              <a:rPr lang="en-US" dirty="0">
                <a:solidFill>
                  <a:schemeClr val="tx1">
                    <a:lumMod val="95000"/>
                  </a:schemeClr>
                </a:solidFill>
                <a:ea typeface="+mn-lt"/>
                <a:cs typeface="+mn-lt"/>
              </a:rPr>
              <a:t> to read inputs - light on a sensor, a finger on a button, or a Twitter message - and turn it into an output - activating a motor,</a:t>
            </a:r>
            <a:r>
              <a:rPr lang="en-US" b="1" dirty="0">
                <a:solidFill>
                  <a:schemeClr val="tx1">
                    <a:lumMod val="95000"/>
                  </a:schemeClr>
                </a:solidFill>
                <a:ea typeface="+mn-lt"/>
                <a:cs typeface="+mn-lt"/>
              </a:rPr>
              <a:t> </a:t>
            </a:r>
            <a:r>
              <a:rPr lang="en-US" dirty="0">
                <a:solidFill>
                  <a:schemeClr val="tx1">
                    <a:lumMod val="95000"/>
                  </a:schemeClr>
                </a:solidFill>
                <a:ea typeface="+mn-lt"/>
                <a:cs typeface="+mn-lt"/>
              </a:rPr>
              <a:t>turning on an LED, publishing something online. </a:t>
            </a:r>
            <a:endParaRPr lang="en-US" dirty="0">
              <a:solidFill>
                <a:schemeClr val="tx1">
                  <a:lumMod val="95000"/>
                </a:schemeClr>
              </a:solidFill>
            </a:endParaRPr>
          </a:p>
          <a:p>
            <a:endParaRPr lang="en-US"/>
          </a:p>
        </p:txBody>
      </p:sp>
      <p:sp>
        <p:nvSpPr>
          <p:cNvPr id="4" name="Title 3">
            <a:extLst>
              <a:ext uri="{FF2B5EF4-FFF2-40B4-BE49-F238E27FC236}">
                <a16:creationId xmlns:a16="http://schemas.microsoft.com/office/drawing/2014/main" id="{1B519E36-7F5F-9FE9-FEA5-2329BCB27D31}"/>
              </a:ext>
            </a:extLst>
          </p:cNvPr>
          <p:cNvSpPr>
            <a:spLocks noGrp="1"/>
          </p:cNvSpPr>
          <p:nvPr>
            <p:ph type="title"/>
          </p:nvPr>
        </p:nvSpPr>
        <p:spPr>
          <a:xfrm>
            <a:off x="484584" y="339538"/>
            <a:ext cx="7053542" cy="518042"/>
          </a:xfrm>
        </p:spPr>
        <p:txBody>
          <a:bodyPr/>
          <a:lstStyle/>
          <a:p>
            <a:r>
              <a:rPr lang="en-US" sz="4000" b="1" dirty="0"/>
              <a:t>Hardware Requirements</a:t>
            </a:r>
          </a:p>
        </p:txBody>
      </p:sp>
    </p:spTree>
    <p:extLst>
      <p:ext uri="{BB962C8B-B14F-4D97-AF65-F5344CB8AC3E}">
        <p14:creationId xmlns:p14="http://schemas.microsoft.com/office/powerpoint/2010/main" val="3760122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BB7E9F-249F-1B85-6AA6-6AC57708097C}"/>
              </a:ext>
            </a:extLst>
          </p:cNvPr>
          <p:cNvSpPr txBox="1"/>
          <p:nvPr/>
        </p:nvSpPr>
        <p:spPr>
          <a:xfrm>
            <a:off x="849293" y="889080"/>
            <a:ext cx="7062003"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tx1"/>
                </a:solidFill>
              </a:rPr>
              <a:t>GSM 800L Module</a:t>
            </a:r>
            <a:r>
              <a:rPr lang="en-US" dirty="0">
                <a:solidFill>
                  <a:schemeClr val="tx1"/>
                </a:solidFill>
              </a:rPr>
              <a:t> - The Arduino GSM shield allows an Arduino board to connect to the internet, send  and receive SMS, and make   voice calls using the GSM library.</a:t>
            </a:r>
          </a:p>
          <a:p>
            <a:endParaRPr lang="en-US">
              <a:solidFill>
                <a:schemeClr val="tx1"/>
              </a:solidFill>
            </a:endParaRPr>
          </a:p>
          <a:p>
            <a:r>
              <a:rPr lang="en-US" b="1" dirty="0">
                <a:solidFill>
                  <a:schemeClr val="tx1">
                    <a:lumMod val="95000"/>
                  </a:schemeClr>
                </a:solidFill>
                <a:ea typeface="+mn-lt"/>
                <a:cs typeface="+mn-lt"/>
              </a:rPr>
              <a:t>DC Pump - </a:t>
            </a:r>
            <a:r>
              <a:rPr lang="en-US" dirty="0">
                <a:solidFill>
                  <a:schemeClr val="tx1">
                    <a:lumMod val="95000"/>
                  </a:schemeClr>
                </a:solidFill>
                <a:ea typeface="+mn-lt"/>
                <a:cs typeface="+mn-lt"/>
              </a:rPr>
              <a:t>DC powered pumps use direct current from motor, battery, or solar power to move fluid in a variety of ways. Motorized pumps typically operate on 6, 12, 24, or 32 volts of DC power. </a:t>
            </a:r>
          </a:p>
          <a:p>
            <a:endParaRPr lang="en-US" dirty="0">
              <a:solidFill>
                <a:schemeClr val="tx1">
                  <a:lumMod val="95000"/>
                </a:schemeClr>
              </a:solidFill>
            </a:endParaRPr>
          </a:p>
          <a:p>
            <a:r>
              <a:rPr lang="en-US" b="1" dirty="0">
                <a:solidFill>
                  <a:schemeClr val="tx1"/>
                </a:solidFill>
              </a:rPr>
              <a:t>Float Level Sensor - </a:t>
            </a:r>
            <a:r>
              <a:rPr lang="en-US" dirty="0">
                <a:solidFill>
                  <a:schemeClr val="tx1"/>
                </a:solidFill>
              </a:rPr>
              <a:t>Float level sensors are continuous level sensors featuring a magnetic float that rises and falls as liquid </a:t>
            </a:r>
            <a:r>
              <a:rPr lang="en-US" b="1" dirty="0">
                <a:solidFill>
                  <a:schemeClr val="tx1"/>
                </a:solidFill>
              </a:rPr>
              <a:t>levels change</a:t>
            </a:r>
            <a:r>
              <a:rPr lang="en-US" dirty="0">
                <a:solidFill>
                  <a:schemeClr val="tx1"/>
                </a:solidFill>
              </a:rPr>
              <a:t>. The movement of the float creates a magnetic field that actuates a hermetically sealed reed switch located in the stem</a:t>
            </a:r>
            <a:r>
              <a:rPr lang="en-US" b="1" dirty="0">
                <a:solidFill>
                  <a:schemeClr val="tx1"/>
                </a:solidFill>
              </a:rPr>
              <a:t> of the</a:t>
            </a:r>
            <a:r>
              <a:rPr lang="en-US" dirty="0">
                <a:solidFill>
                  <a:schemeClr val="tx1"/>
                </a:solidFill>
              </a:rPr>
              <a:t> level sensor, triggering the switch to open or close. </a:t>
            </a:r>
          </a:p>
        </p:txBody>
      </p:sp>
    </p:spTree>
    <p:extLst>
      <p:ext uri="{BB962C8B-B14F-4D97-AF65-F5344CB8AC3E}">
        <p14:creationId xmlns:p14="http://schemas.microsoft.com/office/powerpoint/2010/main" val="2780430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8A0D0-0CF6-B138-A38B-39BACFD43353}"/>
              </a:ext>
            </a:extLst>
          </p:cNvPr>
          <p:cNvSpPr>
            <a:spLocks noGrp="1"/>
          </p:cNvSpPr>
          <p:nvPr>
            <p:ph type="title"/>
          </p:nvPr>
        </p:nvSpPr>
        <p:spPr/>
        <p:txBody>
          <a:bodyPr/>
          <a:lstStyle/>
          <a:p>
            <a:r>
              <a:rPr lang="en-US" sz="4000" dirty="0"/>
              <a:t>Software Requirement</a:t>
            </a:r>
          </a:p>
        </p:txBody>
      </p:sp>
      <p:sp>
        <p:nvSpPr>
          <p:cNvPr id="3" name="Content Placeholder 2">
            <a:extLst>
              <a:ext uri="{FF2B5EF4-FFF2-40B4-BE49-F238E27FC236}">
                <a16:creationId xmlns:a16="http://schemas.microsoft.com/office/drawing/2014/main" id="{9787C9BD-0C80-26F5-8C54-5AF5A309EFDB}"/>
              </a:ext>
            </a:extLst>
          </p:cNvPr>
          <p:cNvSpPr>
            <a:spLocks noGrp="1"/>
          </p:cNvSpPr>
          <p:nvPr>
            <p:ph idx="1"/>
          </p:nvPr>
        </p:nvSpPr>
        <p:spPr>
          <a:xfrm>
            <a:off x="827484" y="1539689"/>
            <a:ext cx="7876392" cy="3146611"/>
          </a:xfrm>
        </p:spPr>
        <p:txBody>
          <a:bodyPr vert="horz" lIns="91440" tIns="45720" rIns="91440" bIns="45720" rtlCol="0" anchor="t">
            <a:normAutofit/>
          </a:bodyPr>
          <a:lstStyle/>
          <a:p>
            <a:pPr>
              <a:buFont typeface="Wingdings" charset="2"/>
              <a:buChar char="Ø"/>
            </a:pPr>
            <a:r>
              <a:rPr lang="en-US" b="1" dirty="0"/>
              <a:t>GSM</a:t>
            </a:r>
            <a:r>
              <a:rPr lang="en-US" dirty="0"/>
              <a:t> - This module is able to receive serial data from radiation monitoring devices such as survey meter or area monitor and transmit the data as text SMS to a host server. </a:t>
            </a:r>
            <a:endParaRPr lang="en-US"/>
          </a:p>
          <a:p>
            <a:pPr>
              <a:buFont typeface="Wingdings" charset="2"/>
              <a:buChar char="Ø"/>
            </a:pPr>
            <a:r>
              <a:rPr lang="en-US" b="1" dirty="0"/>
              <a:t>Arduino Operating System</a:t>
            </a:r>
            <a:r>
              <a:rPr lang="en-US" dirty="0"/>
              <a:t> – The Arduino Uno is programmed using the Arduino Software (IDE).</a:t>
            </a:r>
          </a:p>
          <a:p>
            <a:pPr>
              <a:buFont typeface="Wingdings" charset="2"/>
              <a:buChar char="Ø"/>
            </a:pPr>
            <a:endParaRPr lang="en-US"/>
          </a:p>
        </p:txBody>
      </p:sp>
      <p:pic>
        <p:nvPicPr>
          <p:cNvPr id="4" name="Picture 4" descr="Logo&#10;&#10;Description automatically generated">
            <a:extLst>
              <a:ext uri="{FF2B5EF4-FFF2-40B4-BE49-F238E27FC236}">
                <a16:creationId xmlns:a16="http://schemas.microsoft.com/office/drawing/2014/main" id="{C31FD266-78F0-A380-D9FB-1C592158E8DB}"/>
              </a:ext>
            </a:extLst>
          </p:cNvPr>
          <p:cNvPicPr>
            <a:picLocks noChangeAspect="1"/>
          </p:cNvPicPr>
          <p:nvPr/>
        </p:nvPicPr>
        <p:blipFill>
          <a:blip r:embed="rId2"/>
          <a:stretch>
            <a:fillRect/>
          </a:stretch>
        </p:blipFill>
        <p:spPr>
          <a:xfrm>
            <a:off x="7142315" y="3692243"/>
            <a:ext cx="1466850" cy="1000125"/>
          </a:xfrm>
          <a:prstGeom prst="rect">
            <a:avLst/>
          </a:prstGeom>
        </p:spPr>
      </p:pic>
    </p:spTree>
    <p:extLst>
      <p:ext uri="{BB962C8B-B14F-4D97-AF65-F5344CB8AC3E}">
        <p14:creationId xmlns:p14="http://schemas.microsoft.com/office/powerpoint/2010/main" val="177426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ABD41-1611-6A1A-8285-4D6C548EB7EE}"/>
              </a:ext>
            </a:extLst>
          </p:cNvPr>
          <p:cNvSpPr>
            <a:spLocks noGrp="1"/>
          </p:cNvSpPr>
          <p:nvPr>
            <p:ph type="title"/>
          </p:nvPr>
        </p:nvSpPr>
        <p:spPr/>
        <p:txBody>
          <a:bodyPr>
            <a:normAutofit fontScale="90000"/>
          </a:bodyPr>
          <a:lstStyle/>
          <a:p>
            <a:r>
              <a:rPr lang="en-US" dirty="0"/>
              <a:t>Circuit Block diagram</a:t>
            </a:r>
            <a:br>
              <a:rPr lang="en-US" dirty="0"/>
            </a:br>
            <a:endParaRPr lang="en-IN" dirty="0"/>
          </a:p>
        </p:txBody>
      </p:sp>
      <p:pic>
        <p:nvPicPr>
          <p:cNvPr id="5" name="Picture 4">
            <a:extLst>
              <a:ext uri="{FF2B5EF4-FFF2-40B4-BE49-F238E27FC236}">
                <a16:creationId xmlns:a16="http://schemas.microsoft.com/office/drawing/2014/main" id="{BF6DEC1D-E021-E134-D6B1-562461C58A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 y="1328739"/>
            <a:ext cx="7615237" cy="3136106"/>
          </a:xfrm>
          <a:prstGeom prst="rect">
            <a:avLst/>
          </a:prstGeom>
        </p:spPr>
      </p:pic>
    </p:spTree>
    <p:extLst>
      <p:ext uri="{BB962C8B-B14F-4D97-AF65-F5344CB8AC3E}">
        <p14:creationId xmlns:p14="http://schemas.microsoft.com/office/powerpoint/2010/main" val="191776852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Google Shape;124;p23"/>
          <p:cNvSpPr txBox="1">
            <a:spLocks noGrp="1"/>
          </p:cNvSpPr>
          <p:nvPr>
            <p:ph type="title"/>
          </p:nvPr>
        </p:nvSpPr>
        <p:spPr>
          <a:prstGeom prst="rect">
            <a:avLst/>
          </a:prstGeom>
        </p:spPr>
        <p:txBody>
          <a:bodyPr/>
          <a:lstStyle>
            <a:lvl1pPr>
              <a:defRPr sz="2700"/>
            </a:lvl1pPr>
          </a:lstStyle>
          <a:p>
            <a:r>
              <a:rPr b="1" dirty="0"/>
              <a:t>System </a:t>
            </a:r>
            <a:r>
              <a:rPr lang="en-US" b="1" dirty="0"/>
              <a:t>Design</a:t>
            </a:r>
            <a:endParaRPr b="1" dirty="0"/>
          </a:p>
        </p:txBody>
      </p:sp>
      <p:sp>
        <p:nvSpPr>
          <p:cNvPr id="153" name="Google Shape;125;p23"/>
          <p:cNvSpPr txBox="1">
            <a:spLocks noGrp="1"/>
          </p:cNvSpPr>
          <p:nvPr>
            <p:ph type="body" idx="1"/>
          </p:nvPr>
        </p:nvSpPr>
        <p:spPr>
          <a:xfrm>
            <a:off x="827484" y="905560"/>
            <a:ext cx="6709906" cy="4093890"/>
          </a:xfrm>
          <a:prstGeom prst="rect">
            <a:avLst/>
          </a:prstGeom>
        </p:spPr>
        <p:txBody>
          <a:bodyPr vert="horz" lIns="91440" tIns="45720" rIns="91440" bIns="45720" rtlCol="0" anchor="t">
            <a:normAutofit fontScale="92500" lnSpcReduction="10000"/>
          </a:bodyPr>
          <a:lstStyle/>
          <a:p>
            <a:pPr marL="342900" indent="-228600">
              <a:lnSpc>
                <a:spcPct val="91999"/>
              </a:lnSpc>
              <a:buSzTx/>
              <a:buNone/>
              <a:defRPr sz="1600"/>
            </a:pPr>
            <a:r>
              <a:rPr sz="1400" dirty="0"/>
              <a:t>     This module is composed of Float-level sensor, LCD Display, Arduino UNO micro-controller, SIM800L GSM Shield module, Step-Down Converter and 240VAC relay switch.</a:t>
            </a:r>
            <a:endParaRPr lang="en-US" sz="1400" dirty="0"/>
          </a:p>
          <a:p>
            <a:pPr marL="342900" indent="-228600">
              <a:lnSpc>
                <a:spcPct val="91999"/>
              </a:lnSpc>
              <a:buSzTx/>
              <a:buNone/>
              <a:defRPr sz="1200"/>
            </a:pPr>
            <a:r>
              <a:rPr sz="1400" dirty="0"/>
              <a:t>     For monitoring, Float-level sensor was used because of its capability to probe inside water tank. The Float-level sensor is connected to the Arduino UNO micro-controller and the signal send by the sensor will be interpreted and processed by the micro-controller to evaluate the level of water in the tank. Based on the uploaded code, if the level of water requires filling the tank, then the Arduino micro-controller will send signal to turn on the solid-state relay switch where the water pump is connected. As a control measure, the same process  avoid overflowing of  water tank or before it gets empty. If the water is already in a full level, the Arduino micro-controller will send signal to the solid-state relay switch to turn off and when the water level is in a minimum level it will turn on. The microcontroller sends signal to the solid-state relay switch where the motorized electric valve is connected to close and open . The micro-controller will also activate the GSM module that is connected to send data to the server to report the status of the water tank and current activities of the  water pump. The data will be sent through SMS which is believe as the most practical and economical way of communication. The monitoring and controlling system are also allowed to receive SMS to override the built-in automatic controlling system of this module.  </a:t>
            </a:r>
          </a:p>
          <a:p>
            <a:pPr marL="0" indent="0">
              <a:lnSpc>
                <a:spcPct val="91999"/>
              </a:lnSpc>
              <a:buSzTx/>
              <a:buNone/>
              <a:defRPr sz="1200"/>
            </a:pPr>
            <a:r>
              <a:rPr sz="1400" dirty="0"/>
              <a:t>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Google Shape;146;p25"/>
          <p:cNvSpPr txBox="1"/>
          <p:nvPr/>
        </p:nvSpPr>
        <p:spPr>
          <a:xfrm>
            <a:off x="1599194" y="4312008"/>
            <a:ext cx="2914494" cy="398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24" tIns="91424" rIns="91424" bIns="91424" anchor="t">
            <a:spAutoFit/>
          </a:bodyPr>
          <a:lstStyle>
            <a:lvl1pPr>
              <a:defRPr>
                <a:latin typeface="Old Standard TT"/>
                <a:ea typeface="Old Standard TT"/>
                <a:cs typeface="Old Standard TT"/>
                <a:sym typeface="Old Standard TT"/>
              </a:defRPr>
            </a:lvl1pPr>
          </a:lstStyle>
          <a:p>
            <a:r>
              <a:rPr b="1" dirty="0"/>
              <a:t>    </a:t>
            </a:r>
            <a:r>
              <a:rPr b="1" dirty="0">
                <a:solidFill>
                  <a:schemeClr val="tx1">
                    <a:lumMod val="95000"/>
                  </a:schemeClr>
                </a:solidFill>
              </a:rPr>
              <a:t>  Project model </a:t>
            </a:r>
          </a:p>
        </p:txBody>
      </p:sp>
      <p:sp>
        <p:nvSpPr>
          <p:cNvPr id="156" name="Google Shape;148;p25"/>
          <p:cNvSpPr txBox="1"/>
          <p:nvPr/>
        </p:nvSpPr>
        <p:spPr>
          <a:xfrm>
            <a:off x="4899620" y="4215685"/>
            <a:ext cx="3811201" cy="3987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chor="t">
            <a:spAutoFit/>
          </a:bodyPr>
          <a:lstStyle>
            <a:lvl1pPr algn="ctr">
              <a:defRPr>
                <a:latin typeface="Old Standard TT"/>
                <a:ea typeface="Old Standard TT"/>
                <a:cs typeface="Old Standard TT"/>
                <a:sym typeface="Old Standard TT"/>
              </a:defRPr>
            </a:lvl1pPr>
          </a:lstStyle>
          <a:p>
            <a:r>
              <a:rPr b="1" dirty="0">
                <a:solidFill>
                  <a:schemeClr val="tx1">
                    <a:lumMod val="95000"/>
                  </a:schemeClr>
                </a:solidFill>
              </a:rPr>
              <a:t>A Code Stub</a:t>
            </a:r>
          </a:p>
        </p:txBody>
      </p:sp>
      <p:pic>
        <p:nvPicPr>
          <p:cNvPr id="157" name="Picture 2" descr="Picture 2"/>
          <p:cNvPicPr>
            <a:picLocks noChangeAspect="1"/>
          </p:cNvPicPr>
          <p:nvPr/>
        </p:nvPicPr>
        <p:blipFill>
          <a:blip r:embed="rId2"/>
          <a:stretch>
            <a:fillRect/>
          </a:stretch>
        </p:blipFill>
        <p:spPr>
          <a:xfrm>
            <a:off x="1355684" y="912373"/>
            <a:ext cx="2743201" cy="3203008"/>
          </a:xfrm>
          <a:prstGeom prst="rect">
            <a:avLst/>
          </a:prstGeom>
          <a:ln w="12700">
            <a:miter lim="400000"/>
          </a:ln>
        </p:spPr>
      </p:pic>
      <p:pic>
        <p:nvPicPr>
          <p:cNvPr id="3" name="Picture 2">
            <a:extLst>
              <a:ext uri="{FF2B5EF4-FFF2-40B4-BE49-F238E27FC236}">
                <a16:creationId xmlns:a16="http://schemas.microsoft.com/office/drawing/2014/main" id="{4F34996E-848F-8D31-2499-A62441295B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110130"/>
            <a:ext cx="4172531" cy="28074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Google Shape;130;p24"/>
          <p:cNvSpPr txBox="1">
            <a:spLocks noGrp="1"/>
          </p:cNvSpPr>
          <p:nvPr>
            <p:ph type="title"/>
          </p:nvPr>
        </p:nvSpPr>
        <p:spPr>
          <a:prstGeom prst="rect">
            <a:avLst/>
          </a:prstGeom>
        </p:spPr>
        <p:txBody>
          <a:bodyPr lIns="91424" tIns="91424" rIns="91424" bIns="91424" anchor="t"/>
          <a:lstStyle>
            <a:lvl1pPr>
              <a:defRPr sz="2700"/>
            </a:lvl1pPr>
          </a:lstStyle>
          <a:p>
            <a:r>
              <a:rPr sz="4000" b="1" dirty="0"/>
              <a:t>System implementation</a:t>
            </a:r>
          </a:p>
        </p:txBody>
      </p:sp>
      <p:sp>
        <p:nvSpPr>
          <p:cNvPr id="161" name="Text Placeholder 1"/>
          <p:cNvSpPr txBox="1">
            <a:spLocks noGrp="1"/>
          </p:cNvSpPr>
          <p:nvPr>
            <p:ph type="body" idx="1"/>
          </p:nvPr>
        </p:nvSpPr>
        <p:spPr>
          <a:xfrm>
            <a:off x="648222" y="1070192"/>
            <a:ext cx="7772400" cy="3429000"/>
          </a:xfrm>
          <a:prstGeom prst="rect">
            <a:avLst/>
          </a:prstGeom>
        </p:spPr>
        <p:txBody>
          <a:bodyPr vert="horz" lIns="45699" tIns="45699" rIns="45699" bIns="45699" rtlCol="0" anchor="t">
            <a:normAutofit/>
          </a:bodyPr>
          <a:lstStyle>
            <a:lvl1pPr>
              <a:lnSpc>
                <a:spcPct val="103500"/>
              </a:lnSpc>
              <a:buSzPts val="1600"/>
              <a:defRPr sz="1600"/>
            </a:lvl1pPr>
          </a:lstStyle>
          <a:p>
            <a:pPr indent="-325120"/>
            <a:r>
              <a:rPr dirty="0"/>
              <a:t>For this project, we have used Arduino UNO as microcontroller. The values of maximum and minimum levels are obtained by Arduino using ESP module . These values are set in the code written for Arduino UNO. The current level of water is obtained from the Float-level sensor . Depending upon these values, the motor is turned ON / OFF.  Depending on the water levels the status of motor will be automatically controlled. If water level is in between both the levels, then the user can exercise control of motor using his mobile device via text message. ON and OFF have been provided for the same. The height of tank is to be set once in Arduino. This height shall be used to determine the percentage of water. Calculations of the current water level will be done with this. </a:t>
            </a:r>
            <a:endParaRPr lang="en-US"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Working:"/>
          <p:cNvSpPr txBox="1">
            <a:spLocks noGrp="1"/>
          </p:cNvSpPr>
          <p:nvPr>
            <p:ph type="title"/>
          </p:nvPr>
        </p:nvSpPr>
        <p:spPr>
          <a:prstGeom prst="rect">
            <a:avLst/>
          </a:prstGeom>
        </p:spPr>
        <p:txBody>
          <a:bodyPr/>
          <a:lstStyle>
            <a:lvl1pPr defTabSz="850391">
              <a:defRPr sz="2790"/>
            </a:lvl1pPr>
          </a:lstStyle>
          <a:p>
            <a:r>
              <a:t>Working: </a:t>
            </a:r>
          </a:p>
        </p:txBody>
      </p:sp>
      <p:pic>
        <p:nvPicPr>
          <p:cNvPr id="164" name="a50a23ff-8a26-4f0b-8b89-2378deb1bcb5.mp4" descr="a50a23ff-8a26-4f0b-8b89-2378deb1bcb5.mp4"/>
          <p:cNvPicPr>
            <a:picLocks/>
          </p:cNvPicPr>
          <p:nvPr>
            <a:videoFile r:link="rId2"/>
            <p:extLst>
              <p:ext uri="{DAA4B4D4-6D71-4841-9C94-3DE7FCFB9230}">
                <p14:media xmlns:p14="http://schemas.microsoft.com/office/powerpoint/2010/main" r:embed="rId1"/>
              </p:ext>
            </p:extLst>
          </p:nvPr>
        </p:nvPicPr>
        <p:blipFill>
          <a:blip r:embed="rId4"/>
          <a:stretch>
            <a:fillRect/>
          </a:stretch>
        </p:blipFill>
        <p:spPr>
          <a:xfrm>
            <a:off x="2022997" y="1413241"/>
            <a:ext cx="5369191" cy="3039166"/>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9595" fill="hold"/>
                                        <p:tgtEl>
                                          <p:spTgt spid="16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64"/>
                </p:tgtEl>
              </p:cMediaNode>
            </p:video>
            <p:seq concurrent="1" prevAc="none" nextAc="seek">
              <p:cTn id="8" restart="whenNotActive" fill="hold" evtFilter="cancelBubble" nodeType="interactiveSeq">
                <p:stCondLst>
                  <p:cond evt="onClick" delay="0">
                    <p:tgtEl>
                      <p:spTgt spid="16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4"/>
                                        </p:tgtEl>
                                      </p:cBhvr>
                                    </p:cmd>
                                  </p:childTnLst>
                                </p:cTn>
                              </p:par>
                            </p:childTnLst>
                          </p:cTn>
                        </p:par>
                      </p:childTnLst>
                    </p:cTn>
                  </p:par>
                </p:childTnLst>
              </p:cTn>
              <p:nextCondLst>
                <p:cond evt="onClick" delay="0">
                  <p:tgtEl>
                    <p:spTgt spid="164"/>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6BC02-B3EB-6AD4-5075-2A40C7A7A258}"/>
              </a:ext>
            </a:extLst>
          </p:cNvPr>
          <p:cNvSpPr>
            <a:spLocks noGrp="1"/>
          </p:cNvSpPr>
          <p:nvPr>
            <p:ph type="title"/>
          </p:nvPr>
        </p:nvSpPr>
        <p:spPr/>
        <p:txBody>
          <a:bodyPr>
            <a:normAutofit/>
          </a:bodyPr>
          <a:lstStyle/>
          <a:p>
            <a:r>
              <a:rPr lang="en-IN" sz="4000" b="1" dirty="0"/>
              <a:t>Algorithm</a:t>
            </a:r>
          </a:p>
        </p:txBody>
      </p:sp>
      <p:sp>
        <p:nvSpPr>
          <p:cNvPr id="3" name="Text Placeholder 2">
            <a:extLst>
              <a:ext uri="{FF2B5EF4-FFF2-40B4-BE49-F238E27FC236}">
                <a16:creationId xmlns:a16="http://schemas.microsoft.com/office/drawing/2014/main" id="{1496A6C5-64FD-9DBA-FFB9-3C325A7BC0CF}"/>
              </a:ext>
            </a:extLst>
          </p:cNvPr>
          <p:cNvSpPr>
            <a:spLocks noGrp="1"/>
          </p:cNvSpPr>
          <p:nvPr>
            <p:ph type="body" idx="1"/>
          </p:nvPr>
        </p:nvSpPr>
        <p:spPr/>
        <p:txBody>
          <a:bodyPr>
            <a:normAutofit/>
          </a:bodyPr>
          <a:lstStyle/>
          <a:p>
            <a:pPr marL="474346" indent="-342900">
              <a:buFont typeface="+mj-lt"/>
              <a:buAutoNum type="arabicPeriod"/>
            </a:pPr>
            <a:r>
              <a:rPr lang="en-IN" dirty="0"/>
              <a:t>Start</a:t>
            </a:r>
          </a:p>
          <a:p>
            <a:pPr marL="474346" indent="-342900">
              <a:buFont typeface="+mj-lt"/>
              <a:buAutoNum type="arabicPeriod"/>
            </a:pPr>
            <a:r>
              <a:rPr lang="en-IN" dirty="0"/>
              <a:t>Check water level in water tank </a:t>
            </a:r>
          </a:p>
          <a:p>
            <a:pPr marL="474346" indent="-342900">
              <a:buFont typeface="+mj-lt"/>
              <a:buAutoNum type="arabicPeriod"/>
            </a:pPr>
            <a:r>
              <a:rPr lang="en-IN" dirty="0"/>
              <a:t>If below </a:t>
            </a:r>
            <a:r>
              <a:rPr lang="en-IN"/>
              <a:t>threshold, the </a:t>
            </a:r>
            <a:r>
              <a:rPr lang="en-IN" dirty="0"/>
              <a:t>water pump will start automatically and send SMS to registered mobile number</a:t>
            </a:r>
          </a:p>
          <a:p>
            <a:pPr marL="474346" indent="-342900">
              <a:buFont typeface="+mj-lt"/>
              <a:buAutoNum type="arabicPeriod"/>
            </a:pPr>
            <a:r>
              <a:rPr lang="en-IN" dirty="0"/>
              <a:t>If the user wants to stop the pump, they can simply do  it by sending via SMS.</a:t>
            </a:r>
          </a:p>
          <a:p>
            <a:pPr marL="474346" indent="-342900">
              <a:buFont typeface="+mj-lt"/>
              <a:buAutoNum type="arabicPeriod"/>
            </a:pPr>
            <a:r>
              <a:rPr lang="en-IN" dirty="0"/>
              <a:t>If the water reaches the maximum threshold, the pump will stop automatically and send a SMS to user that the water tank is full.</a:t>
            </a:r>
          </a:p>
          <a:p>
            <a:pPr marL="474346" indent="-342900">
              <a:buFont typeface="+mj-lt"/>
              <a:buAutoNum type="arabicPeriod"/>
            </a:pPr>
            <a:r>
              <a:rPr lang="en-IN" dirty="0"/>
              <a:t>Stop</a:t>
            </a:r>
          </a:p>
          <a:p>
            <a:endParaRPr lang="en-IN" dirty="0"/>
          </a:p>
        </p:txBody>
      </p:sp>
    </p:spTree>
    <p:extLst>
      <p:ext uri="{BB962C8B-B14F-4D97-AF65-F5344CB8AC3E}">
        <p14:creationId xmlns:p14="http://schemas.microsoft.com/office/powerpoint/2010/main" val="192170585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itle 1"/>
          <p:cNvSpPr txBox="1">
            <a:spLocks noGrp="1"/>
          </p:cNvSpPr>
          <p:nvPr>
            <p:ph type="title"/>
          </p:nvPr>
        </p:nvSpPr>
        <p:spPr>
          <a:prstGeom prst="rect">
            <a:avLst/>
          </a:prstGeom>
        </p:spPr>
        <p:txBody>
          <a:bodyPr/>
          <a:lstStyle/>
          <a:p>
            <a:r>
              <a:rPr lang="en-US" dirty="0"/>
              <a:t> </a:t>
            </a:r>
            <a:r>
              <a:rPr sz="4000" b="1" dirty="0"/>
              <a:t>System Features </a:t>
            </a:r>
          </a:p>
        </p:txBody>
      </p:sp>
      <p:sp>
        <p:nvSpPr>
          <p:cNvPr id="167" name="Text Placeholder 2"/>
          <p:cNvSpPr txBox="1">
            <a:spLocks noGrp="1"/>
          </p:cNvSpPr>
          <p:nvPr>
            <p:ph type="body" idx="1"/>
          </p:nvPr>
        </p:nvSpPr>
        <p:spPr>
          <a:prstGeom prst="rect">
            <a:avLst/>
          </a:prstGeom>
        </p:spPr>
        <p:txBody>
          <a:bodyPr/>
          <a:lstStyle/>
          <a:p>
            <a:pPr marL="474344" indent="-342900">
              <a:buFontTx/>
              <a:buAutoNum type="arabicPeriod"/>
            </a:pPr>
            <a:r>
              <a:t>Remote control of water pump using SMS.</a:t>
            </a:r>
          </a:p>
          <a:p>
            <a:pPr marL="474344" indent="-342900">
              <a:lnSpc>
                <a:spcPct val="114998"/>
              </a:lnSpc>
              <a:buFontTx/>
              <a:buAutoNum type="arabicPeriod"/>
            </a:pPr>
            <a:r>
              <a:t>Notification on SMS alerts when motor status changes.</a:t>
            </a:r>
          </a:p>
          <a:p>
            <a:pPr marL="474344" indent="-342900">
              <a:lnSpc>
                <a:spcPct val="114998"/>
              </a:lnSpc>
              <a:buFontTx/>
              <a:buAutoNum type="arabicPeriod"/>
            </a:pPr>
            <a:r>
              <a:t>Setup schedule for switching the pump on/off.</a:t>
            </a:r>
          </a:p>
          <a:p>
            <a:pPr marL="474344" indent="-342900">
              <a:lnSpc>
                <a:spcPct val="114998"/>
              </a:lnSpc>
              <a:buFontTx/>
              <a:buAutoNum type="arabicPeriod"/>
            </a:pPr>
            <a:r>
              <a:t>Module operates over GSM.</a:t>
            </a:r>
          </a:p>
          <a:p>
            <a:pPr marL="474344" indent="-342900">
              <a:lnSpc>
                <a:spcPct val="114998"/>
              </a:lnSpc>
              <a:buFontTx/>
              <a:buAutoNum type="arabicPeriod"/>
            </a:pPr>
            <a:r>
              <a:t>Easy to install.</a:t>
            </a:r>
          </a:p>
          <a:p>
            <a:pPr marL="474344" indent="-342900">
              <a:lnSpc>
                <a:spcPct val="114998"/>
              </a:lnSpc>
              <a:buFontTx/>
              <a:buAutoNum type="arabicPeriod"/>
            </a:pPr>
            <a:r>
              <a:t>Sim card insertion, on board GSM module.  </a:t>
            </a:r>
          </a:p>
          <a:p>
            <a:pPr marL="474344" indent="-342900">
              <a:lnSpc>
                <a:spcPct val="114998"/>
              </a:lnSpc>
              <a:buFontTx/>
              <a:buAutoNum type="arabicPeriod"/>
            </a:pPr>
            <a:r>
              <a:t>Can be setup with existing pump.</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Google Shape;153;p26"/>
          <p:cNvSpPr txBox="1">
            <a:spLocks noGrp="1"/>
          </p:cNvSpPr>
          <p:nvPr>
            <p:ph type="title"/>
          </p:nvPr>
        </p:nvSpPr>
        <p:spPr>
          <a:prstGeom prst="rect">
            <a:avLst/>
          </a:prstGeom>
        </p:spPr>
        <p:txBody>
          <a:bodyPr/>
          <a:lstStyle>
            <a:lvl1pPr>
              <a:defRPr sz="2700"/>
            </a:lvl1pPr>
          </a:lstStyle>
          <a:p>
            <a:r>
              <a:rPr sz="4000" b="1" dirty="0"/>
              <a:t>Results</a:t>
            </a:r>
          </a:p>
        </p:txBody>
      </p:sp>
      <p:sp>
        <p:nvSpPr>
          <p:cNvPr id="170" name="Google Shape;154;p26"/>
          <p:cNvSpPr txBox="1">
            <a:spLocks noGrp="1"/>
          </p:cNvSpPr>
          <p:nvPr>
            <p:ph type="body" idx="1"/>
          </p:nvPr>
        </p:nvSpPr>
        <p:spPr>
          <a:xfrm>
            <a:off x="514333" y="1210881"/>
            <a:ext cx="6709906" cy="3146611"/>
          </a:xfrm>
          <a:prstGeom prst="rect">
            <a:avLst/>
          </a:prstGeom>
        </p:spPr>
        <p:txBody>
          <a:bodyPr/>
          <a:lstStyle/>
          <a:p>
            <a:pPr marL="0" indent="0">
              <a:spcBef>
                <a:spcPts val="1200"/>
              </a:spcBef>
              <a:buSzTx/>
              <a:buNone/>
            </a:pPr>
            <a:r>
              <a:rPr dirty="0"/>
              <a:t>So as shown in previous slides, I have successfully finished the IOT  </a:t>
            </a:r>
            <a:r>
              <a:rPr lang="en-US" dirty="0"/>
              <a:t>smart irrigation system </a:t>
            </a:r>
            <a:r>
              <a:rPr dirty="0"/>
              <a:t>project assigned to me by made a properly working IOT model with an executable Arduino</a:t>
            </a:r>
            <a:r>
              <a:rPr b="1" dirty="0"/>
              <a:t> </a:t>
            </a:r>
            <a:r>
              <a:rPr dirty="0"/>
              <a:t>code implemented in it </a:t>
            </a:r>
            <a:r>
              <a:rPr lang="en-US" dirty="0"/>
              <a:t>which checks the water level in tank and controls the motor pump via SMS through mobile phone.</a:t>
            </a:r>
            <a:r>
              <a:rPr dirty="0"/>
              <a:t>  </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Google Shape;159;p27"/>
          <p:cNvSpPr txBox="1">
            <a:spLocks noGrp="1"/>
          </p:cNvSpPr>
          <p:nvPr>
            <p:ph type="title"/>
          </p:nvPr>
        </p:nvSpPr>
        <p:spPr>
          <a:prstGeom prst="rect">
            <a:avLst/>
          </a:prstGeom>
        </p:spPr>
        <p:txBody>
          <a:bodyPr/>
          <a:lstStyle>
            <a:lvl1pPr>
              <a:defRPr sz="2700"/>
            </a:lvl1pPr>
          </a:lstStyle>
          <a:p>
            <a:r>
              <a:rPr sz="4000" b="1" dirty="0"/>
              <a:t>Conclusion</a:t>
            </a:r>
          </a:p>
        </p:txBody>
      </p:sp>
      <p:sp>
        <p:nvSpPr>
          <p:cNvPr id="173" name="Google Shape;160;p27"/>
          <p:cNvSpPr txBox="1">
            <a:spLocks noGrp="1"/>
          </p:cNvSpPr>
          <p:nvPr>
            <p:ph type="body" idx="1"/>
          </p:nvPr>
        </p:nvSpPr>
        <p:spPr>
          <a:xfrm>
            <a:off x="483018" y="1195223"/>
            <a:ext cx="6709906" cy="3146611"/>
          </a:xfrm>
          <a:prstGeom prst="rect">
            <a:avLst/>
          </a:prstGeom>
        </p:spPr>
        <p:txBody>
          <a:bodyPr/>
          <a:lstStyle>
            <a:lvl1pPr marL="0" indent="0">
              <a:buSzTx/>
              <a:buNone/>
            </a:lvl1pPr>
          </a:lstStyle>
          <a:p>
            <a:r>
              <a:rPr lang="en-US" dirty="0"/>
              <a:t>So b</a:t>
            </a:r>
            <a:r>
              <a:rPr dirty="0"/>
              <a:t>y doing this </a:t>
            </a:r>
            <a:r>
              <a:rPr lang="en-US" dirty="0"/>
              <a:t>IOT based smart irrigation system </a:t>
            </a:r>
            <a:r>
              <a:rPr dirty="0"/>
              <a:t>project </a:t>
            </a:r>
            <a:r>
              <a:rPr lang="en-US" dirty="0"/>
              <a:t>, </a:t>
            </a:r>
            <a:r>
              <a:rPr dirty="0"/>
              <a:t>I</a:t>
            </a:r>
            <a:r>
              <a:rPr lang="en-US" dirty="0"/>
              <a:t> have </a:t>
            </a:r>
            <a:r>
              <a:rPr dirty="0"/>
              <a:t> successfully finished my</a:t>
            </a:r>
            <a:r>
              <a:rPr lang="en-US" dirty="0"/>
              <a:t> one month </a:t>
            </a:r>
            <a:r>
              <a:rPr dirty="0"/>
              <a:t>internship at XOR Bit infotech Pvt. Ltd. </a:t>
            </a:r>
            <a:r>
              <a:rPr lang="en-US" dirty="0"/>
              <a:t>On 31th of January.</a:t>
            </a:r>
            <a:endParaRPr dirty="0"/>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Google Shape;165;p28"/>
          <p:cNvSpPr txBox="1">
            <a:spLocks noGrp="1"/>
          </p:cNvSpPr>
          <p:nvPr>
            <p:ph type="title"/>
          </p:nvPr>
        </p:nvSpPr>
        <p:spPr>
          <a:prstGeom prst="rect">
            <a:avLst/>
          </a:prstGeom>
        </p:spPr>
        <p:txBody>
          <a:bodyPr/>
          <a:lstStyle>
            <a:lvl1pPr>
              <a:defRPr sz="2700"/>
            </a:lvl1pPr>
          </a:lstStyle>
          <a:p>
            <a:r>
              <a:rPr sz="4000" b="1" dirty="0"/>
              <a:t>References</a:t>
            </a:r>
          </a:p>
        </p:txBody>
      </p:sp>
      <p:sp>
        <p:nvSpPr>
          <p:cNvPr id="176" name="Google Shape;166;p28"/>
          <p:cNvSpPr txBox="1">
            <a:spLocks noGrp="1"/>
          </p:cNvSpPr>
          <p:nvPr>
            <p:ph type="body" idx="1"/>
          </p:nvPr>
        </p:nvSpPr>
        <p:spPr>
          <a:xfrm>
            <a:off x="483018" y="1289169"/>
            <a:ext cx="6709906" cy="3146611"/>
          </a:xfrm>
          <a:prstGeom prst="rect">
            <a:avLst/>
          </a:prstGeom>
        </p:spPr>
        <p:txBody>
          <a:bodyPr/>
          <a:lstStyle/>
          <a:p>
            <a:pPr>
              <a:buSzPts val="1100"/>
              <a:defRPr sz="1100"/>
            </a:pPr>
            <a:r>
              <a:rPr u="sng">
                <a:solidFill>
                  <a:schemeClr val="accent5"/>
                </a:solidFill>
                <a:uFill>
                  <a:solidFill>
                    <a:schemeClr val="accent5"/>
                  </a:solidFill>
                </a:uFill>
                <a:hlinkClick r:id="rId2"/>
              </a:rPr>
              <a:t>https://www.researchgate.net/publication/341398707_IoT_and_Neural_Network-  Based_Water_Pumping_Control_System_For_Smart_Irrigation</a:t>
            </a:r>
            <a:r>
              <a:t> </a:t>
            </a:r>
          </a:p>
          <a:p>
            <a:pPr>
              <a:lnSpc>
                <a:spcPct val="114998"/>
              </a:lnSpc>
              <a:buSzPts val="1100"/>
              <a:defRPr sz="1100"/>
            </a:pPr>
            <a:r>
              <a:t> </a:t>
            </a:r>
            <a:r>
              <a:rPr u="sng">
                <a:solidFill>
                  <a:schemeClr val="accent5"/>
                </a:solidFill>
                <a:uFill>
                  <a:solidFill>
                    <a:schemeClr val="accent5"/>
                  </a:solidFill>
                </a:uFill>
                <a:hlinkClick r:id="rId3"/>
              </a:rPr>
              <a:t>https://www.arduino.cc/en/Tutorial/HomePage</a:t>
            </a:r>
            <a:r>
              <a:t> </a:t>
            </a:r>
          </a:p>
          <a:p>
            <a:pPr>
              <a:lnSpc>
                <a:spcPct val="114998"/>
              </a:lnSpc>
              <a:buSzPts val="1100"/>
              <a:defRPr sz="1100"/>
            </a:pPr>
            <a:r>
              <a:rPr u="sng">
                <a:solidFill>
                  <a:schemeClr val="accent5"/>
                </a:solidFill>
                <a:uFill>
                  <a:solidFill>
                    <a:schemeClr val="accent5"/>
                  </a:solidFill>
                </a:uFill>
                <a:hlinkClick r:id="rId4"/>
              </a:rPr>
              <a:t>https://iopscience.iop.org/article/10.1088/1757-899X/482/1/012045</a:t>
            </a:r>
            <a:r>
              <a:t> </a:t>
            </a:r>
          </a:p>
          <a:p>
            <a:pPr>
              <a:lnSpc>
                <a:spcPct val="114998"/>
              </a:lnSpc>
              <a:buSzPts val="1100"/>
              <a:defRPr sz="1100"/>
            </a:pPr>
            <a:r>
              <a:rPr u="sng">
                <a:solidFill>
                  <a:schemeClr val="accent5"/>
                </a:solidFill>
                <a:uFill>
                  <a:solidFill>
                    <a:schemeClr val="accent5"/>
                  </a:solidFill>
                </a:uFill>
                <a:hlinkClick r:id="rId5"/>
              </a:rPr>
              <a:t>http://www.ijsred.com/volume3/issue5/IJSRED-V3I5P1.pdf</a:t>
            </a:r>
            <a:r>
              <a:t> </a:t>
            </a:r>
          </a:p>
          <a:p>
            <a:pPr>
              <a:lnSpc>
                <a:spcPct val="114998"/>
              </a:lnSpc>
              <a:buSzPts val="1100"/>
              <a:defRPr sz="1100"/>
            </a:pPr>
            <a:r>
              <a:rPr u="sng">
                <a:solidFill>
                  <a:schemeClr val="accent5"/>
                </a:solidFill>
                <a:uFill>
                  <a:solidFill>
                    <a:schemeClr val="accent5"/>
                  </a:solidFill>
                </a:uFill>
                <a:hlinkClick r:id="rId6"/>
              </a:rPr>
              <a:t>http://ieeexplore.ieee.org/document/</a:t>
            </a:r>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Paperback">
  <a:themeElements>
    <a:clrScheme name="Paperback">
      <a:dk1>
        <a:srgbClr val="000000"/>
      </a:dk1>
      <a:lt1>
        <a:srgbClr val="FFFFFF"/>
      </a:lt1>
      <a:dk2>
        <a:srgbClr val="A7A7A7"/>
      </a:dk2>
      <a:lt2>
        <a:srgbClr val="535353"/>
      </a:lt2>
      <a:accent1>
        <a:srgbClr val="FFFBF0"/>
      </a:accent1>
      <a:accent2>
        <a:srgbClr val="B7B7B7"/>
      </a:accent2>
      <a:accent3>
        <a:srgbClr val="FB8C00"/>
      </a:accent3>
      <a:accent4>
        <a:srgbClr val="80CBC4"/>
      </a:accent4>
      <a:accent5>
        <a:srgbClr val="AF4345"/>
      </a:accent5>
      <a:accent6>
        <a:srgbClr val="F58F8F"/>
      </a:accent6>
      <a:hlink>
        <a:srgbClr val="0000FF"/>
      </a:hlink>
      <a:folHlink>
        <a:srgbClr val="FF00FF"/>
      </a:folHlink>
    </a:clrScheme>
    <a:fontScheme name="Paperback">
      <a:majorFont>
        <a:latin typeface="Helvetica"/>
        <a:ea typeface="Helvetica"/>
        <a:cs typeface="Helvetica"/>
      </a:majorFont>
      <a:minorFont>
        <a:latin typeface="Arial"/>
        <a:ea typeface="Arial"/>
        <a:cs typeface="Arial"/>
      </a:minorFont>
    </a:fontScheme>
    <a:fmtScheme name="Paperb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105</TotalTime>
  <Words>1868</Words>
  <Application>Microsoft Office PowerPoint</Application>
  <PresentationFormat>On-screen Show (16:9)</PresentationFormat>
  <Paragraphs>111</Paragraphs>
  <Slides>22</Slides>
  <Notes>0</Notes>
  <HiddenSlides>0</HiddenSlides>
  <MMClips>1</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Ion</vt:lpstr>
      <vt:lpstr>PowerPoint Presentation</vt:lpstr>
      <vt:lpstr>Outline</vt:lpstr>
      <vt:lpstr>Internship Company</vt:lpstr>
      <vt:lpstr>Internship Letter</vt:lpstr>
      <vt:lpstr>PowerPoint Presentation</vt:lpstr>
      <vt:lpstr>INTRODUCTION   </vt:lpstr>
      <vt:lpstr>Literature Survey</vt:lpstr>
      <vt:lpstr>Problem Statement</vt:lpstr>
      <vt:lpstr>Objectives</vt:lpstr>
      <vt:lpstr>Hardware Requirements</vt:lpstr>
      <vt:lpstr>PowerPoint Presentation</vt:lpstr>
      <vt:lpstr>Software Requirement</vt:lpstr>
      <vt:lpstr>Circuit Block diagram </vt:lpstr>
      <vt:lpstr>System Design</vt:lpstr>
      <vt:lpstr>PowerPoint Presentation</vt:lpstr>
      <vt:lpstr>System implementation</vt:lpstr>
      <vt:lpstr>Working: </vt:lpstr>
      <vt:lpstr>Algorithm</vt:lpstr>
      <vt:lpstr> System Features </vt:lpstr>
      <vt:lpstr>Results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aryandhar27@outlook.com</cp:lastModifiedBy>
  <cp:revision>358</cp:revision>
  <dcterms:modified xsi:type="dcterms:W3CDTF">2022-05-25T19:53:24Z</dcterms:modified>
</cp:coreProperties>
</file>