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4687" r:id="rId1"/>
  </p:sldMasterIdLst>
  <p:notesMasterIdLst>
    <p:notesMasterId r:id="rId28"/>
  </p:notesMasterIdLst>
  <p:sldIdLst>
    <p:sldId id="256" r:id="rId2"/>
    <p:sldId id="278" r:id="rId3"/>
    <p:sldId id="258" r:id="rId4"/>
    <p:sldId id="257" r:id="rId5"/>
    <p:sldId id="260" r:id="rId6"/>
    <p:sldId id="291" r:id="rId7"/>
    <p:sldId id="292" r:id="rId8"/>
    <p:sldId id="285" r:id="rId9"/>
    <p:sldId id="284" r:id="rId10"/>
    <p:sldId id="288" r:id="rId11"/>
    <p:sldId id="289" r:id="rId12"/>
    <p:sldId id="274" r:id="rId13"/>
    <p:sldId id="279" r:id="rId14"/>
    <p:sldId id="280" r:id="rId15"/>
    <p:sldId id="276" r:id="rId16"/>
    <p:sldId id="296" r:id="rId17"/>
    <p:sldId id="295" r:id="rId18"/>
    <p:sldId id="297" r:id="rId19"/>
    <p:sldId id="298" r:id="rId20"/>
    <p:sldId id="281" r:id="rId21"/>
    <p:sldId id="277" r:id="rId22"/>
    <p:sldId id="282" r:id="rId23"/>
    <p:sldId id="283" r:id="rId24"/>
    <p:sldId id="266" r:id="rId25"/>
    <p:sldId id="286" r:id="rId26"/>
    <p:sldId id="287" r:id="rId27"/>
  </p:sldIdLst>
  <p:sldSz cx="12192000" cy="6858000"/>
  <p:notesSz cx="12192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353" autoAdjust="0"/>
    <p:restoredTop sz="94643"/>
  </p:normalViewPr>
  <p:slideViewPr>
    <p:cSldViewPr>
      <p:cViewPr varScale="1">
        <p:scale>
          <a:sx n="83" d="100"/>
          <a:sy n="83" d="100"/>
        </p:scale>
        <p:origin x="624" y="6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ECF7C63E-8AF7-42A8-9815-761D8E264F4A}" type="datetimeFigureOut">
              <a:rPr lang="en-IN" smtClean="0"/>
              <a:pPr/>
              <a:t>05-06-2023</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8B929154-9358-4A02-BA3E-CCEF716C84DF}" type="slidenum">
              <a:rPr lang="en-IN" smtClean="0"/>
              <a:pPr/>
              <a:t>‹#›</a:t>
            </a:fld>
            <a:endParaRPr lang="en-IN"/>
          </a:p>
        </p:txBody>
      </p:sp>
    </p:spTree>
    <p:extLst>
      <p:ext uri="{BB962C8B-B14F-4D97-AF65-F5344CB8AC3E}">
        <p14:creationId xmlns:p14="http://schemas.microsoft.com/office/powerpoint/2010/main" val="41989945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6843" y="2059012"/>
            <a:ext cx="12195668"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65759" y="2166364"/>
            <a:ext cx="11471565" cy="1739347"/>
          </a:xfrm>
        </p:spPr>
        <p:txBody>
          <a:bodyPr tIns="45720" bIns="45720" anchor="ctr">
            <a:normAutofit/>
          </a:bodyPr>
          <a:lstStyle>
            <a:lvl1pPr algn="ctr">
              <a:lnSpc>
                <a:spcPct val="80000"/>
              </a:lnSpc>
              <a:defRPr sz="6000" spc="150" baseline="0"/>
            </a:lvl1pPr>
          </a:lstStyle>
          <a:p>
            <a:r>
              <a:rPr lang="en-US"/>
              <a:t>Click to edit Master title style</a:t>
            </a:r>
            <a:endParaRPr lang="en-US" dirty="0"/>
          </a:p>
        </p:txBody>
      </p:sp>
      <p:sp>
        <p:nvSpPr>
          <p:cNvPr id="3" name="Subtitle 2"/>
          <p:cNvSpPr>
            <a:spLocks noGrp="1"/>
          </p:cNvSpPr>
          <p:nvPr>
            <p:ph type="subTitle" idx="1"/>
          </p:nvPr>
        </p:nvSpPr>
        <p:spPr>
          <a:xfrm>
            <a:off x="1524000" y="3996250"/>
            <a:ext cx="9144000" cy="1309255"/>
          </a:xfrm>
        </p:spPr>
        <p:txBody>
          <a:bodyPr>
            <a:normAutofit/>
          </a:bodyPr>
          <a:lstStyle>
            <a:lvl1pPr marL="0" indent="0" algn="ctr">
              <a:buNone/>
              <a:defRPr sz="2000"/>
            </a:lvl1pPr>
            <a:lvl2pPr marL="457200" indent="0" algn="ctr">
              <a:buNone/>
              <a:defRPr sz="2000"/>
            </a:lvl2pPr>
            <a:lvl3pPr marL="914400" indent="0" algn="ctr">
              <a:buNone/>
              <a:defRPr sz="20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6/5/2023</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pPr/>
              <a:t>‹#›</a:t>
            </a:fld>
            <a:endParaRPr lang="en-IN"/>
          </a:p>
        </p:txBody>
      </p:sp>
    </p:spTree>
    <p:extLst>
      <p:ext uri="{BB962C8B-B14F-4D97-AF65-F5344CB8AC3E}">
        <p14:creationId xmlns:p14="http://schemas.microsoft.com/office/powerpoint/2010/main" val="18998900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6/5/2023</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pPr/>
              <a:t>‹#›</a:t>
            </a:fld>
            <a:endParaRPr lang="en-IN"/>
          </a:p>
        </p:txBody>
      </p:sp>
    </p:spTree>
    <p:extLst>
      <p:ext uri="{BB962C8B-B14F-4D97-AF65-F5344CB8AC3E}">
        <p14:creationId xmlns:p14="http://schemas.microsoft.com/office/powerpoint/2010/main" val="22245558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7" name="Rectangle 6"/>
          <p:cNvSpPr/>
          <p:nvPr/>
        </p:nvSpPr>
        <p:spPr>
          <a:xfrm>
            <a:off x="-6843" y="2059012"/>
            <a:ext cx="12195668"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191" y="2208879"/>
            <a:ext cx="10515600" cy="1676400"/>
          </a:xfrm>
        </p:spPr>
        <p:txBody>
          <a:bodyPr anchor="ctr">
            <a:noAutofit/>
          </a:bodyPr>
          <a:lstStyle>
            <a:lvl1pPr algn="ctr">
              <a:lnSpc>
                <a:spcPct val="80000"/>
              </a:lnSpc>
              <a:defRPr sz="6000" b="0" spc="150" baseline="0">
                <a:solidFill>
                  <a:schemeClr val="bg1"/>
                </a:solidFill>
              </a:defRPr>
            </a:lvl1pPr>
          </a:lstStyle>
          <a:p>
            <a:r>
              <a:rPr lang="en-US"/>
              <a:t>Click to edit Master title style</a:t>
            </a:r>
            <a:endParaRPr lang="en-US" dirty="0"/>
          </a:p>
        </p:txBody>
      </p:sp>
      <p:sp>
        <p:nvSpPr>
          <p:cNvPr id="3" name="Text Placeholder 2"/>
          <p:cNvSpPr>
            <a:spLocks noGrp="1"/>
          </p:cNvSpPr>
          <p:nvPr>
            <p:ph type="body" idx="1"/>
          </p:nvPr>
        </p:nvSpPr>
        <p:spPr>
          <a:xfrm>
            <a:off x="833191" y="4010334"/>
            <a:ext cx="10515600" cy="1174639"/>
          </a:xfrm>
        </p:spPr>
        <p:txBody>
          <a:bodyPr anchor="t">
            <a:normAutofit/>
          </a:bodyPr>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tx2"/>
                </a:solidFill>
              </a:defRPr>
            </a:lvl1pPr>
          </a:lstStyle>
          <a:p>
            <a:fld id="{1D8BD707-D9CF-40AE-B4C6-C98DA3205C09}" type="datetimeFigureOut">
              <a:rPr lang="en-US" smtClean="0"/>
              <a:pPr/>
              <a:t>6/5/2023</a:t>
            </a:fld>
            <a:endParaRPr lang="en-US"/>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IN"/>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B6F15528-21DE-4FAA-801E-634DDDAF4B2B}" type="slidenum">
              <a:rPr lang="en-IN" smtClean="0"/>
              <a:pPr/>
              <a:t>‹#›</a:t>
            </a:fld>
            <a:endParaRPr lang="en-IN"/>
          </a:p>
        </p:txBody>
      </p:sp>
    </p:spTree>
    <p:extLst>
      <p:ext uri="{BB962C8B-B14F-4D97-AF65-F5344CB8AC3E}">
        <p14:creationId xmlns:p14="http://schemas.microsoft.com/office/powerpoint/2010/main" val="4069530199"/>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05344"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30391"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6/5/2023</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pPr/>
              <a:t>‹#›</a:t>
            </a:fld>
            <a:endParaRPr lang="en-IN"/>
          </a:p>
        </p:txBody>
      </p:sp>
    </p:spTree>
    <p:extLst>
      <p:ext uri="{BB962C8B-B14F-4D97-AF65-F5344CB8AC3E}">
        <p14:creationId xmlns:p14="http://schemas.microsoft.com/office/powerpoint/2010/main" val="2151294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07008"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07008" y="2656566"/>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31230"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31230" y="2656564"/>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6/5/2023</a:t>
            </a:fld>
            <a:endParaRPr lang="en-US"/>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6F15528-21DE-4FAA-801E-634DDDAF4B2B}" type="slidenum">
              <a:rPr lang="en-IN" smtClean="0"/>
              <a:pPr/>
              <a:t>‹#›</a:t>
            </a:fld>
            <a:endParaRPr lang="en-IN"/>
          </a:p>
        </p:txBody>
      </p:sp>
    </p:spTree>
    <p:extLst>
      <p:ext uri="{BB962C8B-B14F-4D97-AF65-F5344CB8AC3E}">
        <p14:creationId xmlns:p14="http://schemas.microsoft.com/office/powerpoint/2010/main" val="23122835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6/5/2023</a:t>
            </a:fld>
            <a:endParaRPr lang="en-US"/>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6F15528-21DE-4FAA-801E-634DDDAF4B2B}" type="slidenum">
              <a:rPr lang="en-IN" smtClean="0"/>
              <a:pPr/>
              <a:t>‹#›</a:t>
            </a:fld>
            <a:endParaRPr lang="en-IN"/>
          </a:p>
        </p:txBody>
      </p:sp>
    </p:spTree>
    <p:extLst>
      <p:ext uri="{BB962C8B-B14F-4D97-AF65-F5344CB8AC3E}">
        <p14:creationId xmlns:p14="http://schemas.microsoft.com/office/powerpoint/2010/main" val="12167121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6/5/2023</a:t>
            </a:fld>
            <a:endParaRPr lang="en-US"/>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6F15528-21DE-4FAA-801E-634DDDAF4B2B}" type="slidenum">
              <a:rPr lang="en-IN" smtClean="0"/>
              <a:pPr/>
              <a:t>‹#›</a:t>
            </a:fld>
            <a:endParaRPr lang="en-IN"/>
          </a:p>
        </p:txBody>
      </p:sp>
    </p:spTree>
    <p:extLst>
      <p:ext uri="{BB962C8B-B14F-4D97-AF65-F5344CB8AC3E}">
        <p14:creationId xmlns:p14="http://schemas.microsoft.com/office/powerpoint/2010/main" val="35209145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207008" y="2120054"/>
            <a:ext cx="6126480" cy="41148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789023" y="2147486"/>
            <a:ext cx="3200400" cy="3432319"/>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6/5/2023</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pPr/>
              <a:t>‹#›</a:t>
            </a:fld>
            <a:endParaRPr lang="en-IN"/>
          </a:p>
        </p:txBody>
      </p:sp>
    </p:spTree>
    <p:extLst>
      <p:ext uri="{BB962C8B-B14F-4D97-AF65-F5344CB8AC3E}">
        <p14:creationId xmlns:p14="http://schemas.microsoft.com/office/powerpoint/2010/main" val="24689414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Picture Placeholder 2"/>
          <p:cNvSpPr>
            <a:spLocks noGrp="1" noChangeAspect="1"/>
          </p:cNvSpPr>
          <p:nvPr>
            <p:ph type="pic" idx="1"/>
          </p:nvPr>
        </p:nvSpPr>
        <p:spPr>
          <a:xfrm>
            <a:off x="1280160" y="2211494"/>
            <a:ext cx="6126480" cy="3931920"/>
          </a:xfrm>
          <a:solidFill>
            <a:schemeClr val="tx2">
              <a:lumMod val="60000"/>
              <a:lumOff val="40000"/>
            </a:schemeClr>
          </a:solidFill>
        </p:spPr>
        <p:txBody>
          <a:bodyPr tIns="365760" anchor="t"/>
          <a:lstStyle>
            <a:lvl1pPr marL="0" indent="0" algn="ctr">
              <a:buNone/>
              <a:defRPr sz="3200">
                <a:solidFill>
                  <a:schemeClr val="tx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790688" y="2150621"/>
            <a:ext cx="3200400" cy="3429000"/>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6/5/2023</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pPr/>
              <a:t>‹#›</a:t>
            </a:fld>
            <a:endParaRPr lang="en-IN"/>
          </a:p>
        </p:txBody>
      </p:sp>
    </p:spTree>
    <p:extLst>
      <p:ext uri="{BB962C8B-B14F-4D97-AF65-F5344CB8AC3E}">
        <p14:creationId xmlns:p14="http://schemas.microsoft.com/office/powerpoint/2010/main" val="16796856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6/5/2023</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pPr/>
              <a:t>‹#›</a:t>
            </a:fld>
            <a:endParaRPr lang="en-IN"/>
          </a:p>
        </p:txBody>
      </p:sp>
    </p:spTree>
    <p:extLst>
      <p:ext uri="{BB962C8B-B14F-4D97-AF65-F5344CB8AC3E}">
        <p14:creationId xmlns:p14="http://schemas.microsoft.com/office/powerpoint/2010/main" val="18260445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9019312" y="0"/>
            <a:ext cx="27432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9160624" y="274638"/>
            <a:ext cx="240238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274638"/>
            <a:ext cx="7973291"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0" y="6422854"/>
            <a:ext cx="2743196" cy="365125"/>
          </a:xfrm>
        </p:spPr>
        <p:txBody>
          <a:bodyPr/>
          <a:lstStyle/>
          <a:p>
            <a:fld id="{1D8BD707-D9CF-40AE-B4C6-C98DA3205C09}" type="datetimeFigureOut">
              <a:rPr lang="en-US" smtClean="0"/>
              <a:pPr/>
              <a:t>6/5/2023</a:t>
            </a:fld>
            <a:endParaRPr lang="en-US"/>
          </a:p>
        </p:txBody>
      </p:sp>
      <p:sp>
        <p:nvSpPr>
          <p:cNvPr id="5" name="Footer Placeholder 4"/>
          <p:cNvSpPr>
            <a:spLocks noGrp="1"/>
          </p:cNvSpPr>
          <p:nvPr>
            <p:ph type="ftr" sz="quarter" idx="11"/>
          </p:nvPr>
        </p:nvSpPr>
        <p:spPr>
          <a:xfrm>
            <a:off x="3776135" y="6422854"/>
            <a:ext cx="4279669" cy="365125"/>
          </a:xfrm>
        </p:spPr>
        <p:txBody>
          <a:bodyPr/>
          <a:lstStyle/>
          <a:p>
            <a:endParaRPr lang="en-IN"/>
          </a:p>
        </p:txBody>
      </p:sp>
      <p:sp>
        <p:nvSpPr>
          <p:cNvPr id="6" name="Slide Number Placeholder 5"/>
          <p:cNvSpPr>
            <a:spLocks noGrp="1"/>
          </p:cNvSpPr>
          <p:nvPr>
            <p:ph type="sldNum" sz="quarter" idx="12"/>
          </p:nvPr>
        </p:nvSpPr>
        <p:spPr>
          <a:xfrm>
            <a:off x="8073048" y="6422854"/>
            <a:ext cx="879759" cy="365125"/>
          </a:xfrm>
        </p:spPr>
        <p:txBody>
          <a:bodyPr/>
          <a:lstStyle/>
          <a:p>
            <a:fld id="{B6F15528-21DE-4FAA-801E-634DDDAF4B2B}" type="slidenum">
              <a:rPr lang="en-IN" smtClean="0"/>
              <a:pPr/>
              <a:t>‹#›</a:t>
            </a:fld>
            <a:endParaRPr lang="en-IN"/>
          </a:p>
        </p:txBody>
      </p:sp>
    </p:spTree>
    <p:extLst>
      <p:ext uri="{BB962C8B-B14F-4D97-AF65-F5344CB8AC3E}">
        <p14:creationId xmlns:p14="http://schemas.microsoft.com/office/powerpoint/2010/main" val="40908955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483" y="176109"/>
            <a:ext cx="12188952" cy="16459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02919" y="284176"/>
            <a:ext cx="9784080" cy="15087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02919" y="2011680"/>
            <a:ext cx="9784080" cy="420624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02266" y="6422854"/>
            <a:ext cx="3000894" cy="365125"/>
          </a:xfrm>
          <a:prstGeom prst="rect">
            <a:avLst/>
          </a:prstGeom>
        </p:spPr>
        <p:txBody>
          <a:bodyPr vert="horz" lIns="91440" tIns="45720" rIns="45720" bIns="45720" rtlCol="0" anchor="ctr"/>
          <a:lstStyle>
            <a:lvl1pPr algn="l">
              <a:defRPr sz="1050">
                <a:solidFill>
                  <a:schemeClr val="tx1"/>
                </a:solidFill>
              </a:defRPr>
            </a:lvl1pPr>
          </a:lstStyle>
          <a:p>
            <a:fld id="{1D8BD707-D9CF-40AE-B4C6-C98DA3205C09}" type="datetimeFigureOut">
              <a:rPr lang="en-US" smtClean="0"/>
              <a:pPr/>
              <a:t>6/5/2023</a:t>
            </a:fld>
            <a:endParaRPr lang="en-US"/>
          </a:p>
        </p:txBody>
      </p:sp>
      <p:sp>
        <p:nvSpPr>
          <p:cNvPr id="5" name="Footer Placeholder 4"/>
          <p:cNvSpPr>
            <a:spLocks noGrp="1"/>
          </p:cNvSpPr>
          <p:nvPr>
            <p:ph type="ftr" sz="quarter" idx="3"/>
          </p:nvPr>
        </p:nvSpPr>
        <p:spPr>
          <a:xfrm>
            <a:off x="5596471" y="6422854"/>
            <a:ext cx="5044440" cy="365125"/>
          </a:xfrm>
          <a:prstGeom prst="rect">
            <a:avLst/>
          </a:prstGeom>
        </p:spPr>
        <p:txBody>
          <a:bodyPr vert="horz" lIns="91440" tIns="45720" rIns="91440" bIns="45720" rtlCol="0" anchor="ctr"/>
          <a:lstStyle>
            <a:lvl1pPr algn="r">
              <a:defRPr sz="1050">
                <a:solidFill>
                  <a:schemeClr val="tx1"/>
                </a:solidFill>
              </a:defRPr>
            </a:lvl1pPr>
          </a:lstStyle>
          <a:p>
            <a:endParaRPr lang="en-IN"/>
          </a:p>
        </p:txBody>
      </p:sp>
      <p:sp>
        <p:nvSpPr>
          <p:cNvPr id="6" name="Slide Number Placeholder 5"/>
          <p:cNvSpPr>
            <a:spLocks noGrp="1"/>
          </p:cNvSpPr>
          <p:nvPr>
            <p:ph type="sldNum" sz="quarter" idx="4"/>
          </p:nvPr>
        </p:nvSpPr>
        <p:spPr>
          <a:xfrm>
            <a:off x="10658927" y="6422854"/>
            <a:ext cx="946264" cy="365125"/>
          </a:xfrm>
          <a:prstGeom prst="rect">
            <a:avLst/>
          </a:prstGeom>
        </p:spPr>
        <p:txBody>
          <a:bodyPr vert="horz" lIns="45720" tIns="45720" rIns="91440" bIns="45720" rtlCol="0" anchor="ctr"/>
          <a:lstStyle>
            <a:lvl1pPr algn="l">
              <a:defRPr sz="1200" b="0">
                <a:solidFill>
                  <a:schemeClr val="tx1"/>
                </a:solidFill>
              </a:defRPr>
            </a:lvl1pPr>
          </a:lstStyle>
          <a:p>
            <a:fld id="{B6F15528-21DE-4FAA-801E-634DDDAF4B2B}" type="slidenum">
              <a:rPr lang="en-IN" smtClean="0"/>
              <a:pPr/>
              <a:t>‹#›</a:t>
            </a:fld>
            <a:endParaRPr lang="en-IN"/>
          </a:p>
        </p:txBody>
      </p:sp>
    </p:spTree>
    <p:extLst>
      <p:ext uri="{BB962C8B-B14F-4D97-AF65-F5344CB8AC3E}">
        <p14:creationId xmlns:p14="http://schemas.microsoft.com/office/powerpoint/2010/main" val="571262466"/>
      </p:ext>
    </p:extLst>
  </p:cSld>
  <p:clrMap bg1="dk1" tx1="lt1" bg2="dk2" tx2="lt2" accent1="accent1" accent2="accent2" accent3="accent3" accent4="accent4" accent5="accent5" accent6="accent6" hlink="hlink" folHlink="folHlink"/>
  <p:sldLayoutIdLst>
    <p:sldLayoutId id="2147484688" r:id="rId1"/>
    <p:sldLayoutId id="2147484689" r:id="rId2"/>
    <p:sldLayoutId id="2147484690" r:id="rId3"/>
    <p:sldLayoutId id="2147484691" r:id="rId4"/>
    <p:sldLayoutId id="2147484692" r:id="rId5"/>
    <p:sldLayoutId id="2147484693" r:id="rId6"/>
    <p:sldLayoutId id="2147484694" r:id="rId7"/>
    <p:sldLayoutId id="2147484695" r:id="rId8"/>
    <p:sldLayoutId id="2147484696" r:id="rId9"/>
    <p:sldLayoutId id="2147484697" r:id="rId10"/>
    <p:sldLayoutId id="2147484698" r:id="rId11"/>
  </p:sldLayoutIdLst>
  <p:txStyles>
    <p:titleStyle>
      <a:lvl1pPr algn="l" defTabSz="914400" rtl="0" eaLnBrk="1" latinLnBrk="0" hangingPunct="1">
        <a:lnSpc>
          <a:spcPct val="85000"/>
        </a:lnSpc>
        <a:spcBef>
          <a:spcPct val="0"/>
        </a:spcBef>
        <a:buNone/>
        <a:defRPr sz="4000" kern="1200" cap="all" baseline="0">
          <a:solidFill>
            <a:schemeClr val="bg2"/>
          </a:solidFill>
          <a:latin typeface="+mj-lt"/>
          <a:ea typeface="+mj-ea"/>
          <a:cs typeface="+mj-cs"/>
        </a:defRPr>
      </a:lvl1pPr>
    </p:titleStyle>
    <p:bodyStyle>
      <a:lvl1pPr marL="182880" indent="-182880" algn="l" defTabSz="914400" rtl="0" eaLnBrk="1" latinLnBrk="0" hangingPunct="1">
        <a:lnSpc>
          <a:spcPct val="90000"/>
        </a:lnSpc>
        <a:spcBef>
          <a:spcPts val="1200"/>
        </a:spcBef>
        <a:spcAft>
          <a:spcPts val="200"/>
        </a:spcAft>
        <a:buClr>
          <a:schemeClr val="tx1"/>
        </a:buClr>
        <a:buFont typeface="Wingdings" pitchFamily="2" charset="2"/>
        <a:buChar char=""/>
        <a:defRPr sz="2200" kern="1200">
          <a:solidFill>
            <a:schemeClr val="tx1"/>
          </a:solidFill>
          <a:latin typeface="+mn-lt"/>
          <a:ea typeface="+mn-ea"/>
          <a:cs typeface="+mn-cs"/>
        </a:defRPr>
      </a:lvl1pPr>
      <a:lvl2pPr marL="411480" indent="-182880" algn="l" defTabSz="914400" rtl="0" eaLnBrk="1" latinLnBrk="0" hangingPunct="1">
        <a:lnSpc>
          <a:spcPct val="90000"/>
        </a:lnSpc>
        <a:spcBef>
          <a:spcPts val="200"/>
        </a:spcBef>
        <a:spcAft>
          <a:spcPts val="400"/>
        </a:spcAft>
        <a:buClr>
          <a:schemeClr val="tx1"/>
        </a:buClr>
        <a:buFont typeface="Wingdings" pitchFamily="2" charset="2"/>
        <a:buChar char=""/>
        <a:defRPr sz="2000" kern="1200">
          <a:solidFill>
            <a:schemeClr val="tx1"/>
          </a:solidFill>
          <a:latin typeface="+mn-lt"/>
          <a:ea typeface="+mn-ea"/>
          <a:cs typeface="+mn-cs"/>
        </a:defRPr>
      </a:lvl2pPr>
      <a:lvl3pPr marL="640080" indent="-182880" algn="l" defTabSz="914400" rtl="0" eaLnBrk="1" latinLnBrk="0" hangingPunct="1">
        <a:lnSpc>
          <a:spcPct val="90000"/>
        </a:lnSpc>
        <a:spcBef>
          <a:spcPts val="200"/>
        </a:spcBef>
        <a:spcAft>
          <a:spcPts val="400"/>
        </a:spcAft>
        <a:buClr>
          <a:schemeClr val="tx1"/>
        </a:buClr>
        <a:buFont typeface="Wingdings" pitchFamily="2" charset="2"/>
        <a:buChar char=""/>
        <a:defRPr sz="1800" kern="1200">
          <a:solidFill>
            <a:schemeClr val="tx1"/>
          </a:solidFill>
          <a:latin typeface="+mn-lt"/>
          <a:ea typeface="+mn-ea"/>
          <a:cs typeface="+mn-cs"/>
        </a:defRPr>
      </a:lvl3pPr>
      <a:lvl4pPr marL="8686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4pPr>
      <a:lvl5pPr marL="10972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5pPr>
      <a:lvl6pPr marL="12846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6pPr>
      <a:lvl7pPr marL="14718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7pPr>
      <a:lvl8pPr marL="16290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8pPr>
      <a:lvl9pPr marL="18062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7470393" y="4943982"/>
            <a:ext cx="2477135" cy="1397819"/>
          </a:xfrm>
          <a:prstGeom prst="rect">
            <a:avLst/>
          </a:prstGeom>
        </p:spPr>
        <p:txBody>
          <a:bodyPr vert="horz" wrap="square" lIns="0" tIns="12700" rIns="0" bIns="0" rtlCol="0">
            <a:spAutoFit/>
          </a:bodyPr>
          <a:lstStyle/>
          <a:p>
            <a:pPr marL="12065">
              <a:lnSpc>
                <a:spcPct val="100000"/>
              </a:lnSpc>
              <a:tabLst>
                <a:tab pos="267335" algn="l"/>
              </a:tabLst>
            </a:pPr>
            <a:r>
              <a:rPr lang="en-US" sz="1800" b="1" dirty="0">
                <a:solidFill>
                  <a:schemeClr val="bg1"/>
                </a:solidFill>
                <a:latin typeface="Arial MT"/>
                <a:cs typeface="Arial MT"/>
              </a:rPr>
              <a:t>Group Members:</a:t>
            </a:r>
          </a:p>
          <a:p>
            <a:pPr marL="12065">
              <a:lnSpc>
                <a:spcPct val="100000"/>
              </a:lnSpc>
              <a:tabLst>
                <a:tab pos="267335" algn="l"/>
              </a:tabLst>
            </a:pPr>
            <a:r>
              <a:rPr lang="en-US" sz="1800" b="1" dirty="0">
                <a:solidFill>
                  <a:schemeClr val="bg1"/>
                </a:solidFill>
                <a:latin typeface="Arial MT"/>
                <a:cs typeface="Arial MT"/>
              </a:rPr>
              <a:t>1  </a:t>
            </a:r>
            <a:r>
              <a:rPr lang="en-US" sz="1800" b="1" dirty="0" err="1">
                <a:solidFill>
                  <a:schemeClr val="bg1"/>
                </a:solidFill>
                <a:latin typeface="Arial MT"/>
                <a:cs typeface="Arial MT"/>
              </a:rPr>
              <a:t>Amar</a:t>
            </a:r>
            <a:r>
              <a:rPr lang="en-US" sz="1800" b="1" dirty="0">
                <a:solidFill>
                  <a:schemeClr val="bg1"/>
                </a:solidFill>
                <a:latin typeface="Arial MT"/>
                <a:cs typeface="Arial MT"/>
              </a:rPr>
              <a:t> </a:t>
            </a:r>
            <a:r>
              <a:rPr lang="en-US" sz="1800" b="1" dirty="0" err="1">
                <a:solidFill>
                  <a:schemeClr val="bg1"/>
                </a:solidFill>
                <a:latin typeface="Arial MT"/>
                <a:cs typeface="Arial MT"/>
              </a:rPr>
              <a:t>bhade</a:t>
            </a:r>
            <a:endParaRPr sz="1800" b="1" dirty="0">
              <a:solidFill>
                <a:schemeClr val="bg1"/>
              </a:solidFill>
              <a:latin typeface="Arial MT"/>
              <a:cs typeface="Arial MT"/>
            </a:endParaRPr>
          </a:p>
          <a:p>
            <a:pPr marL="12065">
              <a:lnSpc>
                <a:spcPct val="100000"/>
              </a:lnSpc>
              <a:tabLst>
                <a:tab pos="267335" algn="l"/>
              </a:tabLst>
            </a:pPr>
            <a:r>
              <a:rPr lang="en-US" b="1" spc="-5" dirty="0">
                <a:solidFill>
                  <a:schemeClr val="bg1"/>
                </a:solidFill>
                <a:latin typeface="Arial MT"/>
                <a:cs typeface="Arial MT"/>
              </a:rPr>
              <a:t>2. </a:t>
            </a:r>
            <a:r>
              <a:rPr lang="en-US" b="1" spc="-5" dirty="0" err="1">
                <a:solidFill>
                  <a:schemeClr val="bg1"/>
                </a:solidFill>
                <a:latin typeface="Arial MT"/>
                <a:cs typeface="Arial MT"/>
              </a:rPr>
              <a:t>Pankaj</a:t>
            </a:r>
            <a:r>
              <a:rPr lang="en-US" b="1" spc="-5" dirty="0">
                <a:solidFill>
                  <a:schemeClr val="bg1"/>
                </a:solidFill>
                <a:latin typeface="Arial MT"/>
                <a:cs typeface="Arial MT"/>
              </a:rPr>
              <a:t> </a:t>
            </a:r>
            <a:r>
              <a:rPr lang="en-US" b="1" spc="-5" dirty="0" err="1">
                <a:solidFill>
                  <a:schemeClr val="bg1"/>
                </a:solidFill>
                <a:latin typeface="Arial MT"/>
                <a:cs typeface="Arial MT"/>
              </a:rPr>
              <a:t>phulera</a:t>
            </a:r>
            <a:endParaRPr lang="en-US" b="1" spc="-5" dirty="0">
              <a:solidFill>
                <a:schemeClr val="bg1"/>
              </a:solidFill>
              <a:latin typeface="Arial MT"/>
              <a:cs typeface="Arial MT"/>
            </a:endParaRPr>
          </a:p>
          <a:p>
            <a:pPr marL="12065">
              <a:lnSpc>
                <a:spcPct val="100000"/>
              </a:lnSpc>
              <a:tabLst>
                <a:tab pos="267335" algn="l"/>
              </a:tabLst>
            </a:pPr>
            <a:r>
              <a:rPr lang="en-US" sz="1800" b="1" spc="-5" dirty="0">
                <a:solidFill>
                  <a:schemeClr val="bg1"/>
                </a:solidFill>
                <a:latin typeface="Arial MT"/>
                <a:cs typeface="Arial MT"/>
              </a:rPr>
              <a:t>3  </a:t>
            </a:r>
            <a:r>
              <a:rPr lang="en-US" sz="1800" b="1" spc="-5" dirty="0" smtClean="0">
                <a:solidFill>
                  <a:schemeClr val="bg1"/>
                </a:solidFill>
                <a:latin typeface="Arial MT"/>
                <a:cs typeface="Arial MT"/>
              </a:rPr>
              <a:t>Divyaamshu </a:t>
            </a:r>
            <a:r>
              <a:rPr lang="en-US" b="1" spc="-5" dirty="0">
                <a:solidFill>
                  <a:schemeClr val="bg1"/>
                </a:solidFill>
                <a:latin typeface="Arial MT"/>
                <a:cs typeface="Arial MT"/>
              </a:rPr>
              <a:t>V</a:t>
            </a:r>
            <a:r>
              <a:rPr lang="en-US" sz="1800" b="1" spc="-5" dirty="0" smtClean="0">
                <a:solidFill>
                  <a:schemeClr val="bg1"/>
                </a:solidFill>
                <a:latin typeface="Arial MT"/>
                <a:cs typeface="Arial MT"/>
              </a:rPr>
              <a:t>erma</a:t>
            </a:r>
            <a:endParaRPr lang="en-US" sz="1800" b="1" spc="-5" dirty="0">
              <a:solidFill>
                <a:schemeClr val="bg1"/>
              </a:solidFill>
              <a:latin typeface="Arial MT"/>
              <a:cs typeface="Arial MT"/>
            </a:endParaRPr>
          </a:p>
          <a:p>
            <a:pPr marL="12065">
              <a:lnSpc>
                <a:spcPct val="100000"/>
              </a:lnSpc>
              <a:tabLst>
                <a:tab pos="267335" algn="l"/>
              </a:tabLst>
            </a:pPr>
            <a:r>
              <a:rPr lang="en-US" b="1" spc="-5" dirty="0">
                <a:solidFill>
                  <a:schemeClr val="bg1"/>
                </a:solidFill>
                <a:latin typeface="Arial MT"/>
                <a:cs typeface="Arial MT"/>
              </a:rPr>
              <a:t>4  Vijay </a:t>
            </a:r>
            <a:r>
              <a:rPr lang="en-US" b="1" spc="-5" dirty="0" err="1">
                <a:solidFill>
                  <a:schemeClr val="bg1"/>
                </a:solidFill>
                <a:latin typeface="Arial MT"/>
                <a:cs typeface="Arial MT"/>
              </a:rPr>
              <a:t>Aglawe</a:t>
            </a:r>
            <a:endParaRPr sz="1800" b="1" dirty="0">
              <a:solidFill>
                <a:schemeClr val="bg1"/>
              </a:solidFill>
              <a:latin typeface="Arial MT"/>
              <a:cs typeface="Arial MT"/>
            </a:endParaRPr>
          </a:p>
        </p:txBody>
      </p:sp>
      <p:sp>
        <p:nvSpPr>
          <p:cNvPr id="4" name="object 4"/>
          <p:cNvSpPr txBox="1"/>
          <p:nvPr/>
        </p:nvSpPr>
        <p:spPr>
          <a:xfrm>
            <a:off x="2961830" y="5355871"/>
            <a:ext cx="2738755" cy="574040"/>
          </a:xfrm>
          <a:prstGeom prst="rect">
            <a:avLst/>
          </a:prstGeom>
        </p:spPr>
        <p:txBody>
          <a:bodyPr vert="horz" wrap="square" lIns="0" tIns="12700" rIns="0" bIns="0" rtlCol="0">
            <a:spAutoFit/>
          </a:bodyPr>
          <a:lstStyle/>
          <a:p>
            <a:pPr marL="12700">
              <a:lnSpc>
                <a:spcPct val="100000"/>
              </a:lnSpc>
              <a:spcBef>
                <a:spcPts val="100"/>
              </a:spcBef>
            </a:pPr>
            <a:r>
              <a:rPr sz="1800" b="1" dirty="0">
                <a:solidFill>
                  <a:schemeClr val="bg1"/>
                </a:solidFill>
                <a:latin typeface="Arial"/>
                <a:cs typeface="Arial"/>
              </a:rPr>
              <a:t>Guide</a:t>
            </a:r>
            <a:r>
              <a:rPr sz="1800" b="1" spc="-60" dirty="0">
                <a:solidFill>
                  <a:schemeClr val="bg1"/>
                </a:solidFill>
                <a:latin typeface="Arial"/>
                <a:cs typeface="Arial"/>
              </a:rPr>
              <a:t> </a:t>
            </a:r>
            <a:r>
              <a:rPr sz="1800" dirty="0">
                <a:solidFill>
                  <a:schemeClr val="bg1"/>
                </a:solidFill>
                <a:latin typeface="Arial MT"/>
                <a:cs typeface="Arial MT"/>
              </a:rPr>
              <a:t>:</a:t>
            </a:r>
          </a:p>
          <a:p>
            <a:pPr marL="12700">
              <a:lnSpc>
                <a:spcPct val="100000"/>
              </a:lnSpc>
            </a:pPr>
            <a:r>
              <a:rPr sz="1800" dirty="0">
                <a:solidFill>
                  <a:schemeClr val="bg1"/>
                </a:solidFill>
                <a:latin typeface="Arial MT"/>
                <a:cs typeface="Arial MT"/>
              </a:rPr>
              <a:t>Prof</a:t>
            </a:r>
            <a:r>
              <a:rPr sz="1800">
                <a:solidFill>
                  <a:schemeClr val="bg1"/>
                </a:solidFill>
                <a:latin typeface="Arial MT"/>
                <a:cs typeface="Arial MT"/>
              </a:rPr>
              <a:t>.</a:t>
            </a:r>
            <a:r>
              <a:rPr sz="1800" spc="-50">
                <a:solidFill>
                  <a:schemeClr val="bg1"/>
                </a:solidFill>
                <a:latin typeface="Arial MT"/>
                <a:cs typeface="Arial MT"/>
              </a:rPr>
              <a:t> </a:t>
            </a:r>
            <a:r>
              <a:rPr lang="en-US" spc="-50" dirty="0" err="1">
                <a:solidFill>
                  <a:schemeClr val="bg1"/>
                </a:solidFill>
                <a:latin typeface="Arial MT"/>
                <a:cs typeface="Arial MT"/>
              </a:rPr>
              <a:t>Rupesh</a:t>
            </a:r>
            <a:r>
              <a:rPr lang="en-US" spc="-50" dirty="0">
                <a:solidFill>
                  <a:schemeClr val="bg1"/>
                </a:solidFill>
                <a:latin typeface="Arial MT"/>
                <a:cs typeface="Arial MT"/>
              </a:rPr>
              <a:t> </a:t>
            </a:r>
            <a:r>
              <a:rPr lang="en-US" spc="-50" dirty="0" err="1">
                <a:solidFill>
                  <a:schemeClr val="bg1"/>
                </a:solidFill>
                <a:latin typeface="Arial MT"/>
                <a:cs typeface="Arial MT"/>
              </a:rPr>
              <a:t>Mahajan</a:t>
            </a:r>
            <a:endParaRPr sz="1800" dirty="0">
              <a:solidFill>
                <a:schemeClr val="bg1"/>
              </a:solidFill>
              <a:latin typeface="Arial MT"/>
              <a:cs typeface="Arial MT"/>
            </a:endParaRPr>
          </a:p>
        </p:txBody>
      </p:sp>
      <p:grpSp>
        <p:nvGrpSpPr>
          <p:cNvPr id="5" name="object 5"/>
          <p:cNvGrpSpPr/>
          <p:nvPr/>
        </p:nvGrpSpPr>
        <p:grpSpPr>
          <a:xfrm>
            <a:off x="3406175" y="612985"/>
            <a:ext cx="3713353" cy="2176688"/>
            <a:chOff x="4145152" y="621791"/>
            <a:chExt cx="3713353" cy="2176688"/>
          </a:xfrm>
        </p:grpSpPr>
        <p:pic>
          <p:nvPicPr>
            <p:cNvPr id="6" name="object 6"/>
            <p:cNvPicPr/>
            <p:nvPr/>
          </p:nvPicPr>
          <p:blipFill>
            <a:blip r:embed="rId2" cstate="print"/>
            <a:stretch>
              <a:fillRect/>
            </a:stretch>
          </p:blipFill>
          <p:spPr>
            <a:xfrm>
              <a:off x="4331208" y="621791"/>
              <a:ext cx="3527297" cy="1398269"/>
            </a:xfrm>
            <a:prstGeom prst="rect">
              <a:avLst/>
            </a:prstGeom>
          </p:spPr>
        </p:pic>
        <p:sp>
          <p:nvSpPr>
            <p:cNvPr id="7" name="object 7"/>
            <p:cNvSpPr/>
            <p:nvPr/>
          </p:nvSpPr>
          <p:spPr>
            <a:xfrm>
              <a:off x="4145152" y="2456849"/>
              <a:ext cx="3110865" cy="341630"/>
            </a:xfrm>
            <a:custGeom>
              <a:avLst/>
              <a:gdLst/>
              <a:ahLst/>
              <a:cxnLst/>
              <a:rect l="l" t="t" r="r" b="b"/>
              <a:pathLst>
                <a:path w="3110865" h="341630">
                  <a:moveTo>
                    <a:pt x="3110484" y="0"/>
                  </a:moveTo>
                  <a:lnTo>
                    <a:pt x="169164" y="0"/>
                  </a:lnTo>
                  <a:lnTo>
                    <a:pt x="0" y="0"/>
                  </a:lnTo>
                  <a:lnTo>
                    <a:pt x="0" y="341376"/>
                  </a:lnTo>
                  <a:lnTo>
                    <a:pt x="169164" y="341376"/>
                  </a:lnTo>
                  <a:lnTo>
                    <a:pt x="3110484" y="341376"/>
                  </a:lnTo>
                  <a:lnTo>
                    <a:pt x="3110484" y="0"/>
                  </a:lnTo>
                  <a:close/>
                </a:path>
              </a:pathLst>
            </a:custGeom>
            <a:solidFill>
              <a:srgbClr val="C0C0C0"/>
            </a:solidFill>
          </p:spPr>
          <p:txBody>
            <a:bodyPr wrap="square" lIns="0" tIns="0" rIns="0" bIns="0" rtlCol="0"/>
            <a:lstStyle/>
            <a:p>
              <a:endParaRPr/>
            </a:p>
          </p:txBody>
        </p:sp>
      </p:grpSp>
      <p:sp>
        <p:nvSpPr>
          <p:cNvPr id="8" name="object 8"/>
          <p:cNvSpPr txBox="1">
            <a:spLocks noGrp="1"/>
          </p:cNvSpPr>
          <p:nvPr>
            <p:ph type="title"/>
          </p:nvPr>
        </p:nvSpPr>
        <p:spPr>
          <a:xfrm>
            <a:off x="2592359" y="2041906"/>
            <a:ext cx="5527040" cy="365760"/>
          </a:xfrm>
          <a:prstGeom prst="rect">
            <a:avLst/>
          </a:prstGeom>
          <a:solidFill>
            <a:srgbClr val="C0C0C0"/>
          </a:solidFill>
        </p:spPr>
        <p:txBody>
          <a:bodyPr vert="horz" wrap="square" lIns="0" tIns="0" rIns="0" bIns="0" rtlCol="0">
            <a:spAutoFit/>
          </a:bodyPr>
          <a:lstStyle/>
          <a:p>
            <a:pPr marL="169545">
              <a:lnSpc>
                <a:spcPts val="2620"/>
              </a:lnSpc>
              <a:tabLst>
                <a:tab pos="2192655" algn="l"/>
              </a:tabLst>
            </a:pPr>
            <a:r>
              <a:rPr sz="2400" spc="-50" dirty="0">
                <a:solidFill>
                  <a:srgbClr val="852A2A"/>
                </a:solidFill>
              </a:rPr>
              <a:t>Dr.</a:t>
            </a:r>
            <a:r>
              <a:rPr sz="2400" spc="5" dirty="0">
                <a:solidFill>
                  <a:srgbClr val="852A2A"/>
                </a:solidFill>
              </a:rPr>
              <a:t> </a:t>
            </a:r>
            <a:r>
              <a:rPr sz="2400" spc="-5" dirty="0">
                <a:solidFill>
                  <a:srgbClr val="852A2A"/>
                </a:solidFill>
              </a:rPr>
              <a:t>D.</a:t>
            </a:r>
            <a:r>
              <a:rPr sz="2400" spc="-45" dirty="0">
                <a:solidFill>
                  <a:srgbClr val="852A2A"/>
                </a:solidFill>
              </a:rPr>
              <a:t> </a:t>
            </a:r>
            <a:r>
              <a:rPr sz="2400" spc="-140" dirty="0">
                <a:solidFill>
                  <a:srgbClr val="852A2A"/>
                </a:solidFill>
              </a:rPr>
              <a:t>Y.</a:t>
            </a:r>
            <a:r>
              <a:rPr sz="2400" spc="10" dirty="0">
                <a:solidFill>
                  <a:srgbClr val="852A2A"/>
                </a:solidFill>
              </a:rPr>
              <a:t> </a:t>
            </a:r>
            <a:r>
              <a:rPr sz="2400" spc="-5" dirty="0">
                <a:solidFill>
                  <a:srgbClr val="852A2A"/>
                </a:solidFill>
              </a:rPr>
              <a:t>Patil	</a:t>
            </a:r>
            <a:r>
              <a:rPr sz="2400" dirty="0">
                <a:solidFill>
                  <a:srgbClr val="852A2A"/>
                </a:solidFill>
              </a:rPr>
              <a:t>Institute</a:t>
            </a:r>
            <a:r>
              <a:rPr sz="2400" spc="-85" dirty="0">
                <a:solidFill>
                  <a:srgbClr val="852A2A"/>
                </a:solidFill>
              </a:rPr>
              <a:t> </a:t>
            </a:r>
            <a:r>
              <a:rPr sz="2400" dirty="0">
                <a:solidFill>
                  <a:srgbClr val="852A2A"/>
                </a:solidFill>
              </a:rPr>
              <a:t>of</a:t>
            </a:r>
            <a:r>
              <a:rPr sz="2400" spc="-50" dirty="0">
                <a:solidFill>
                  <a:srgbClr val="852A2A"/>
                </a:solidFill>
              </a:rPr>
              <a:t> </a:t>
            </a:r>
            <a:r>
              <a:rPr sz="2400" spc="-20" dirty="0">
                <a:solidFill>
                  <a:srgbClr val="852A2A"/>
                </a:solidFill>
              </a:rPr>
              <a:t>Technology</a:t>
            </a:r>
            <a:endParaRPr sz="2400" dirty="0"/>
          </a:p>
        </p:txBody>
      </p:sp>
      <p:sp>
        <p:nvSpPr>
          <p:cNvPr id="10" name="object 10"/>
          <p:cNvSpPr txBox="1">
            <a:spLocks noGrp="1"/>
          </p:cNvSpPr>
          <p:nvPr>
            <p:ph idx="1"/>
          </p:nvPr>
        </p:nvSpPr>
        <p:spPr>
          <a:xfrm>
            <a:off x="1981200" y="2923590"/>
            <a:ext cx="9138285" cy="3206006"/>
          </a:xfrm>
          <a:prstGeom prst="rect">
            <a:avLst/>
          </a:prstGeom>
        </p:spPr>
        <p:txBody>
          <a:bodyPr vert="horz" wrap="square" lIns="0" tIns="142240" rIns="0" bIns="0" rtlCol="0">
            <a:spAutoFit/>
          </a:bodyPr>
          <a:lstStyle/>
          <a:p>
            <a:pPr marL="341630" indent="0">
              <a:lnSpc>
                <a:spcPct val="100000"/>
              </a:lnSpc>
              <a:spcBef>
                <a:spcPts val="1120"/>
              </a:spcBef>
              <a:buNone/>
            </a:pPr>
            <a:r>
              <a:rPr dirty="0">
                <a:solidFill>
                  <a:schemeClr val="bg1"/>
                </a:solidFill>
              </a:rPr>
              <a:t>BE</a:t>
            </a:r>
            <a:r>
              <a:rPr spc="-10" dirty="0">
                <a:solidFill>
                  <a:schemeClr val="bg1"/>
                </a:solidFill>
              </a:rPr>
              <a:t> </a:t>
            </a:r>
            <a:r>
              <a:rPr spc="-5" dirty="0">
                <a:solidFill>
                  <a:schemeClr val="bg1"/>
                </a:solidFill>
              </a:rPr>
              <a:t>computer</a:t>
            </a:r>
            <a:r>
              <a:rPr dirty="0">
                <a:solidFill>
                  <a:schemeClr val="bg1"/>
                </a:solidFill>
              </a:rPr>
              <a:t> </a:t>
            </a:r>
            <a:r>
              <a:rPr spc="-5" dirty="0">
                <a:solidFill>
                  <a:schemeClr val="bg1"/>
                </a:solidFill>
              </a:rPr>
              <a:t>engineering</a:t>
            </a:r>
            <a:r>
              <a:rPr spc="15" dirty="0">
                <a:solidFill>
                  <a:schemeClr val="bg1"/>
                </a:solidFill>
              </a:rPr>
              <a:t> </a:t>
            </a:r>
            <a:r>
              <a:rPr spc="-5" dirty="0">
                <a:solidFill>
                  <a:schemeClr val="bg1"/>
                </a:solidFill>
              </a:rPr>
              <a:t>project</a:t>
            </a:r>
            <a:r>
              <a:rPr dirty="0">
                <a:solidFill>
                  <a:schemeClr val="bg1"/>
                </a:solidFill>
              </a:rPr>
              <a:t> </a:t>
            </a:r>
            <a:r>
              <a:rPr spc="-5" dirty="0">
                <a:solidFill>
                  <a:schemeClr val="bg1"/>
                </a:solidFill>
              </a:rPr>
              <a:t>on</a:t>
            </a:r>
            <a:r>
              <a:rPr lang="en-US" spc="-5" dirty="0">
                <a:solidFill>
                  <a:schemeClr val="bg1"/>
                </a:solidFill>
              </a:rPr>
              <a:t> :</a:t>
            </a:r>
          </a:p>
          <a:p>
            <a:pPr marL="341630" indent="0">
              <a:lnSpc>
                <a:spcPct val="100000"/>
              </a:lnSpc>
              <a:spcBef>
                <a:spcPts val="1120"/>
              </a:spcBef>
              <a:buNone/>
            </a:pPr>
            <a:r>
              <a:rPr lang="en-IN" sz="2000" spc="-5" dirty="0">
                <a:solidFill>
                  <a:schemeClr val="bg1"/>
                </a:solidFill>
                <a:latin typeface="Arial"/>
                <a:cs typeface="Arial"/>
              </a:rPr>
              <a:t>  </a:t>
            </a:r>
          </a:p>
          <a:p>
            <a:pPr marL="341630" indent="0">
              <a:lnSpc>
                <a:spcPct val="100000"/>
              </a:lnSpc>
              <a:spcBef>
                <a:spcPts val="1120"/>
              </a:spcBef>
              <a:buNone/>
            </a:pPr>
            <a:r>
              <a:rPr lang="en-IN" sz="2000" spc="-5" dirty="0">
                <a:solidFill>
                  <a:schemeClr val="bg1"/>
                </a:solidFill>
                <a:latin typeface="Arial"/>
                <a:cs typeface="Arial"/>
              </a:rPr>
              <a:t>“Multiple disease detector system Using Machine Learning &amp; Deep </a:t>
            </a:r>
            <a:r>
              <a:rPr lang="en-IN" sz="2000" spc="-5" dirty="0" smtClean="0">
                <a:solidFill>
                  <a:schemeClr val="bg1"/>
                </a:solidFill>
                <a:latin typeface="Arial"/>
                <a:cs typeface="Arial"/>
              </a:rPr>
              <a:t>Learning Techniques”</a:t>
            </a:r>
            <a:endParaRPr lang="en-IN" sz="2000" spc="-5" dirty="0">
              <a:latin typeface="Arial"/>
              <a:cs typeface="Arial"/>
            </a:endParaRPr>
          </a:p>
          <a:p>
            <a:pPr marL="570230">
              <a:lnSpc>
                <a:spcPct val="100000"/>
              </a:lnSpc>
              <a:spcBef>
                <a:spcPts val="1120"/>
              </a:spcBef>
            </a:pPr>
            <a:endParaRPr lang="en-IN" sz="2000" spc="-5" dirty="0">
              <a:latin typeface="Arial"/>
              <a:cs typeface="Arial"/>
            </a:endParaRPr>
          </a:p>
          <a:p>
            <a:pPr marL="570230">
              <a:lnSpc>
                <a:spcPct val="100000"/>
              </a:lnSpc>
              <a:spcBef>
                <a:spcPts val="1120"/>
              </a:spcBef>
            </a:pPr>
            <a:endParaRPr lang="en-IN" sz="2000" spc="-5" dirty="0">
              <a:latin typeface="Arial"/>
              <a:cs typeface="Arial"/>
            </a:endParaRPr>
          </a:p>
          <a:p>
            <a:pPr marL="0" indent="0">
              <a:lnSpc>
                <a:spcPct val="100000"/>
              </a:lnSpc>
              <a:buNone/>
            </a:pPr>
            <a:endParaRPr sz="2200" dirty="0">
              <a:latin typeface="Arial"/>
              <a:cs typeface="Arial"/>
            </a:endParaRPr>
          </a:p>
        </p:txBody>
      </p:sp>
      <p:sp>
        <p:nvSpPr>
          <p:cNvPr id="9" name="object 9"/>
          <p:cNvSpPr txBox="1"/>
          <p:nvPr/>
        </p:nvSpPr>
        <p:spPr>
          <a:xfrm>
            <a:off x="3406175" y="2448043"/>
            <a:ext cx="3123565" cy="341630"/>
          </a:xfrm>
          <a:prstGeom prst="rect">
            <a:avLst/>
          </a:prstGeom>
        </p:spPr>
        <p:txBody>
          <a:bodyPr vert="horz" wrap="square" lIns="0" tIns="0" rIns="0" bIns="0" rtlCol="0">
            <a:spAutoFit/>
          </a:bodyPr>
          <a:lstStyle/>
          <a:p>
            <a:pPr marL="169545">
              <a:lnSpc>
                <a:spcPts val="2620"/>
              </a:lnSpc>
            </a:pPr>
            <a:r>
              <a:rPr sz="2400" b="1" dirty="0">
                <a:solidFill>
                  <a:srgbClr val="852A2A"/>
                </a:solidFill>
                <a:latin typeface="Arial"/>
                <a:cs typeface="Arial"/>
              </a:rPr>
              <a:t>Pimpri,</a:t>
            </a:r>
            <a:r>
              <a:rPr sz="2400" b="1" spc="-60" dirty="0">
                <a:solidFill>
                  <a:srgbClr val="852A2A"/>
                </a:solidFill>
                <a:latin typeface="Arial"/>
                <a:cs typeface="Arial"/>
              </a:rPr>
              <a:t> </a:t>
            </a:r>
            <a:r>
              <a:rPr sz="2400" b="1" spc="-5" dirty="0">
                <a:solidFill>
                  <a:srgbClr val="852A2A"/>
                </a:solidFill>
                <a:latin typeface="Arial"/>
                <a:cs typeface="Arial"/>
              </a:rPr>
              <a:t>Pune</a:t>
            </a:r>
            <a:r>
              <a:rPr sz="2400" b="1" spc="-35" dirty="0">
                <a:solidFill>
                  <a:srgbClr val="852A2A"/>
                </a:solidFill>
                <a:latin typeface="Arial"/>
                <a:cs typeface="Arial"/>
              </a:rPr>
              <a:t> </a:t>
            </a:r>
            <a:r>
              <a:rPr sz="2400" b="1" spc="-30" dirty="0">
                <a:solidFill>
                  <a:srgbClr val="852A2A"/>
                </a:solidFill>
                <a:latin typeface="Arial"/>
                <a:cs typeface="Arial"/>
              </a:rPr>
              <a:t>411018</a:t>
            </a:r>
            <a:endParaRPr sz="2400" dirty="0">
              <a:latin typeface="Arial"/>
              <a:cs typeface="Aria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2F2DB9E-7BCB-709D-D68B-B45A95966059}"/>
              </a:ext>
            </a:extLst>
          </p:cNvPr>
          <p:cNvSpPr>
            <a:spLocks noGrp="1"/>
          </p:cNvSpPr>
          <p:nvPr>
            <p:ph type="title"/>
          </p:nvPr>
        </p:nvSpPr>
        <p:spPr>
          <a:xfrm>
            <a:off x="646111" y="443387"/>
            <a:ext cx="9404723" cy="1400530"/>
          </a:xfrm>
        </p:spPr>
        <p:txBody>
          <a:bodyPr/>
          <a:lstStyle/>
          <a:p>
            <a:r>
              <a:rPr lang="en-IN" dirty="0"/>
              <a:t>CONTENTS:</a:t>
            </a:r>
          </a:p>
        </p:txBody>
      </p:sp>
      <p:sp>
        <p:nvSpPr>
          <p:cNvPr id="3" name="Content Placeholder 2">
            <a:extLst>
              <a:ext uri="{FF2B5EF4-FFF2-40B4-BE49-F238E27FC236}">
                <a16:creationId xmlns:a16="http://schemas.microsoft.com/office/drawing/2014/main" xmlns="" id="{47A6ACBE-F27B-866F-302E-BF12CB04442D}"/>
              </a:ext>
            </a:extLst>
          </p:cNvPr>
          <p:cNvSpPr>
            <a:spLocks noGrp="1"/>
          </p:cNvSpPr>
          <p:nvPr>
            <p:ph idx="1"/>
          </p:nvPr>
        </p:nvSpPr>
        <p:spPr>
          <a:xfrm>
            <a:off x="423721" y="1905000"/>
            <a:ext cx="9613861" cy="4292527"/>
          </a:xfrm>
        </p:spPr>
        <p:txBody>
          <a:bodyPr>
            <a:normAutofit fontScale="55000" lnSpcReduction="20000"/>
          </a:bodyPr>
          <a:lstStyle/>
          <a:p>
            <a:pPr marL="0" indent="0">
              <a:buNone/>
            </a:pPr>
            <a:endParaRPr lang="en-IN" dirty="0">
              <a:solidFill>
                <a:schemeClr val="bg1"/>
              </a:solidFill>
            </a:endParaRPr>
          </a:p>
          <a:p>
            <a:r>
              <a:rPr lang="en-IN" spc="-5" dirty="0">
                <a:solidFill>
                  <a:schemeClr val="bg1"/>
                </a:solidFill>
              </a:rPr>
              <a:t>Introduction</a:t>
            </a:r>
            <a:r>
              <a:rPr lang="en-IN" spc="-50" dirty="0">
                <a:solidFill>
                  <a:schemeClr val="bg1"/>
                </a:solidFill>
              </a:rPr>
              <a:t> </a:t>
            </a:r>
            <a:endParaRPr lang="en-US" sz="2400" dirty="0">
              <a:solidFill>
                <a:schemeClr val="bg1"/>
              </a:solidFill>
            </a:endParaRPr>
          </a:p>
          <a:p>
            <a:r>
              <a:rPr lang="en-IN" dirty="0">
                <a:solidFill>
                  <a:schemeClr val="bg1"/>
                </a:solidFill>
              </a:rPr>
              <a:t>Motivation </a:t>
            </a:r>
            <a:r>
              <a:rPr lang="en-IN" spc="-5" dirty="0">
                <a:solidFill>
                  <a:schemeClr val="bg1"/>
                </a:solidFill>
              </a:rPr>
              <a:t>Problem Statement</a:t>
            </a:r>
          </a:p>
          <a:p>
            <a:r>
              <a:rPr lang="en-US" sz="2100" dirty="0" smtClean="0">
                <a:solidFill>
                  <a:schemeClr val="bg1"/>
                </a:solidFill>
                <a:latin typeface="Arial" pitchFamily="34" charset="0"/>
                <a:cs typeface="Arial" pitchFamily="34" charset="0"/>
              </a:rPr>
              <a:t>Objectives</a:t>
            </a:r>
          </a:p>
          <a:p>
            <a:r>
              <a:rPr lang="en-US" sz="2100" dirty="0" smtClean="0">
                <a:solidFill>
                  <a:schemeClr val="bg1"/>
                </a:solidFill>
                <a:latin typeface="Arial" pitchFamily="34" charset="0"/>
                <a:cs typeface="Arial" pitchFamily="34" charset="0"/>
              </a:rPr>
              <a:t>Literature Survey</a:t>
            </a:r>
            <a:endParaRPr lang="en-US" sz="2100" dirty="0">
              <a:solidFill>
                <a:schemeClr val="bg1"/>
              </a:solidFill>
              <a:latin typeface="Arial" pitchFamily="34" charset="0"/>
              <a:cs typeface="Arial" pitchFamily="34" charset="0"/>
            </a:endParaRPr>
          </a:p>
          <a:p>
            <a:r>
              <a:rPr lang="en-US" dirty="0">
                <a:solidFill>
                  <a:schemeClr val="bg1"/>
                </a:solidFill>
              </a:rPr>
              <a:t>Proposed Methodology</a:t>
            </a:r>
          </a:p>
          <a:p>
            <a:r>
              <a:rPr lang="en-US" dirty="0">
                <a:solidFill>
                  <a:schemeClr val="bg1"/>
                </a:solidFill>
              </a:rPr>
              <a:t>Algorithms Used(Features)</a:t>
            </a:r>
          </a:p>
          <a:p>
            <a:r>
              <a:rPr lang="en-US" dirty="0">
                <a:solidFill>
                  <a:schemeClr val="bg1"/>
                </a:solidFill>
              </a:rPr>
              <a:t>Software/Hardware Requirements</a:t>
            </a:r>
          </a:p>
          <a:p>
            <a:r>
              <a:rPr lang="en-US" dirty="0">
                <a:solidFill>
                  <a:schemeClr val="bg1"/>
                </a:solidFill>
              </a:rPr>
              <a:t>Architecture </a:t>
            </a:r>
            <a:r>
              <a:rPr lang="en-US" dirty="0" smtClean="0">
                <a:solidFill>
                  <a:schemeClr val="bg1"/>
                </a:solidFill>
              </a:rPr>
              <a:t>Diagram</a:t>
            </a:r>
          </a:p>
          <a:p>
            <a:r>
              <a:rPr lang="en-US" spc="-5" dirty="0" smtClean="0">
                <a:solidFill>
                  <a:schemeClr val="bg1"/>
                </a:solidFill>
                <a:uFill>
                  <a:solidFill>
                    <a:srgbClr val="000000"/>
                  </a:solidFill>
                </a:uFill>
              </a:rPr>
              <a:t>Results</a:t>
            </a:r>
            <a:endParaRPr lang="en-IN" spc="-5" dirty="0">
              <a:solidFill>
                <a:schemeClr val="bg1"/>
              </a:solidFill>
              <a:uFill>
                <a:solidFill>
                  <a:srgbClr val="000000"/>
                </a:solidFill>
              </a:uFill>
            </a:endParaRPr>
          </a:p>
          <a:p>
            <a:r>
              <a:rPr lang="en-IN" spc="-5" dirty="0">
                <a:solidFill>
                  <a:schemeClr val="bg1"/>
                </a:solidFill>
                <a:uFill>
                  <a:solidFill>
                    <a:srgbClr val="000000"/>
                  </a:solidFill>
                </a:uFill>
              </a:rPr>
              <a:t>Future improvements</a:t>
            </a:r>
          </a:p>
          <a:p>
            <a:r>
              <a:rPr lang="en-IN" spc="-5" dirty="0">
                <a:solidFill>
                  <a:schemeClr val="bg1"/>
                </a:solidFill>
                <a:uFill>
                  <a:solidFill>
                    <a:srgbClr val="000000"/>
                  </a:solidFill>
                </a:uFill>
              </a:rPr>
              <a:t>Challenges</a:t>
            </a:r>
          </a:p>
          <a:p>
            <a:r>
              <a:rPr lang="en-IN" dirty="0">
                <a:solidFill>
                  <a:schemeClr val="bg1"/>
                </a:solidFill>
              </a:rPr>
              <a:t>Conclusion</a:t>
            </a:r>
          </a:p>
          <a:p>
            <a:r>
              <a:rPr lang="en-IN" dirty="0">
                <a:solidFill>
                  <a:schemeClr val="bg1"/>
                </a:solidFill>
              </a:rPr>
              <a:t>References</a:t>
            </a:r>
          </a:p>
          <a:p>
            <a:endParaRPr lang="en-IN" spc="-50" dirty="0">
              <a:solidFill>
                <a:schemeClr val="bg1"/>
              </a:solidFill>
            </a:endParaRPr>
          </a:p>
        </p:txBody>
      </p:sp>
    </p:spTree>
    <p:extLst>
      <p:ext uri="{BB962C8B-B14F-4D97-AF65-F5344CB8AC3E}">
        <p14:creationId xmlns:p14="http://schemas.microsoft.com/office/powerpoint/2010/main" val="285969768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960566"/>
            <a:ext cx="5029200" cy="566822"/>
          </a:xfrm>
          <a:prstGeom prst="rect">
            <a:avLst/>
          </a:prstGeom>
        </p:spPr>
        <p:txBody>
          <a:bodyPr vert="horz" wrap="square" lIns="0" tIns="12700" rIns="0" bIns="0" rtlCol="0">
            <a:spAutoFit/>
          </a:bodyPr>
          <a:lstStyle/>
          <a:p>
            <a:pPr marL="12700">
              <a:lnSpc>
                <a:spcPct val="100000"/>
              </a:lnSpc>
              <a:spcBef>
                <a:spcPts val="100"/>
              </a:spcBef>
            </a:pPr>
            <a:r>
              <a:rPr lang="en-US" spc="-5" dirty="0"/>
              <a:t>Introduction:</a:t>
            </a:r>
            <a:endParaRPr dirty="0"/>
          </a:p>
        </p:txBody>
      </p:sp>
      <p:sp>
        <p:nvSpPr>
          <p:cNvPr id="3" name="object 3"/>
          <p:cNvSpPr txBox="1"/>
          <p:nvPr/>
        </p:nvSpPr>
        <p:spPr>
          <a:xfrm>
            <a:off x="381000" y="2057400"/>
            <a:ext cx="10933922" cy="4198585"/>
          </a:xfrm>
          <a:prstGeom prst="rect">
            <a:avLst/>
          </a:prstGeom>
        </p:spPr>
        <p:txBody>
          <a:bodyPr vert="horz" wrap="square" lIns="0" tIns="12700" rIns="0" bIns="0" rtlCol="0">
            <a:spAutoFit/>
          </a:bodyPr>
          <a:lstStyle/>
          <a:p>
            <a:pPr marL="342900" indent="-342900">
              <a:lnSpc>
                <a:spcPct val="170000"/>
              </a:lnSpc>
              <a:buFont typeface="Arial" panose="020B0604020202020204" pitchFamily="34" charset="0"/>
              <a:buChar char="•"/>
            </a:pPr>
            <a:r>
              <a:rPr lang="en-US" sz="1600" dirty="0">
                <a:solidFill>
                  <a:schemeClr val="bg1"/>
                </a:solidFill>
                <a:latin typeface="Times New Roman" pitchFamily="18" charset="0"/>
                <a:cs typeface="Times New Roman" pitchFamily="18" charset="0"/>
              </a:rPr>
              <a:t>Machine learning and Artificial Intelligence are  playing a huge role in today’s world. From self-driving cars to medical fields, we can find them everywhere. The medical industry generates a huge amount of patient data which can be processed in a lot of ways. So, with the help of machine learning, we have created a Prediction System that can detect more than one disease at a time. Many of the existing systems can predict only one disease at a time and that too with lower accuracy. Lower accuracy can seriously put a patient’s health in danger. We have considered </a:t>
            </a:r>
            <a:r>
              <a:rPr lang="en-US" sz="1600" dirty="0" smtClean="0">
                <a:solidFill>
                  <a:schemeClr val="bg1"/>
                </a:solidFill>
                <a:latin typeface="Times New Roman" pitchFamily="18" charset="0"/>
                <a:cs typeface="Times New Roman" pitchFamily="18" charset="0"/>
              </a:rPr>
              <a:t>four</a:t>
            </a:r>
            <a:r>
              <a:rPr lang="en-US" sz="1600" dirty="0" smtClean="0">
                <a:solidFill>
                  <a:schemeClr val="bg1"/>
                </a:solidFill>
                <a:latin typeface="Times New Roman" pitchFamily="18" charset="0"/>
                <a:cs typeface="Times New Roman" pitchFamily="18" charset="0"/>
              </a:rPr>
              <a:t> </a:t>
            </a:r>
            <a:r>
              <a:rPr lang="en-US" sz="1600" dirty="0">
                <a:solidFill>
                  <a:schemeClr val="bg1"/>
                </a:solidFill>
                <a:latin typeface="Times New Roman" pitchFamily="18" charset="0"/>
                <a:cs typeface="Times New Roman" pitchFamily="18" charset="0"/>
              </a:rPr>
              <a:t>diseases for now that are Kidney, Thyroid</a:t>
            </a:r>
            <a:r>
              <a:rPr lang="en-US" sz="1600" dirty="0" smtClean="0">
                <a:solidFill>
                  <a:schemeClr val="bg1"/>
                </a:solidFill>
                <a:latin typeface="Times New Roman" pitchFamily="18" charset="0"/>
                <a:cs typeface="Times New Roman" pitchFamily="18" charset="0"/>
              </a:rPr>
              <a:t>, Covid </a:t>
            </a:r>
            <a:r>
              <a:rPr lang="en-US" sz="1600" dirty="0">
                <a:solidFill>
                  <a:schemeClr val="bg1"/>
                </a:solidFill>
                <a:latin typeface="Times New Roman" pitchFamily="18" charset="0"/>
                <a:cs typeface="Times New Roman" pitchFamily="18" charset="0"/>
              </a:rPr>
              <a:t>and Cancer and in the future, many more diseases can be added. The user has to enter various parameters of the disease and the system would display the output whether he/she has the disease or not. This project can help a lot of people as one can monitor the persons’ condition and take the necessary precautions thus increasing the life expectancy. </a:t>
            </a:r>
          </a:p>
          <a:p>
            <a:pPr marL="342900" indent="-342900">
              <a:lnSpc>
                <a:spcPct val="170000"/>
              </a:lnSpc>
              <a:buFont typeface="Arial" panose="020B0604020202020204" pitchFamily="34" charset="0"/>
              <a:buChar char="•"/>
            </a:pPr>
            <a:endParaRPr lang="en-US" sz="1600" dirty="0">
              <a:solidFill>
                <a:schemeClr val="bg1"/>
              </a:solidFill>
              <a:latin typeface="Times New Roman" pitchFamily="18" charset="0"/>
              <a:cs typeface="Times New Roman" pitchFamily="18" charset="0"/>
            </a:endParaRPr>
          </a:p>
          <a:p>
            <a:pPr marL="342900" indent="-342900">
              <a:lnSpc>
                <a:spcPct val="170000"/>
              </a:lnSpc>
              <a:buFont typeface="Arial" panose="020B0604020202020204" pitchFamily="34" charset="0"/>
              <a:buChar char="•"/>
            </a:pPr>
            <a:r>
              <a:rPr lang="en-US" sz="1600" dirty="0">
                <a:solidFill>
                  <a:schemeClr val="bg1"/>
                </a:solidFill>
                <a:latin typeface="Times New Roman" pitchFamily="18" charset="0"/>
                <a:cs typeface="Times New Roman" pitchFamily="18" charset="0"/>
              </a:rPr>
              <a:t>Key Words: Kidney, Covid , Cancer, </a:t>
            </a:r>
            <a:r>
              <a:rPr lang="en-US" sz="1600" dirty="0" smtClean="0">
                <a:solidFill>
                  <a:schemeClr val="bg1"/>
                </a:solidFill>
                <a:latin typeface="Times New Roman" pitchFamily="18" charset="0"/>
                <a:cs typeface="Times New Roman" pitchFamily="18" charset="0"/>
              </a:rPr>
              <a:t>XgBoost </a:t>
            </a:r>
            <a:r>
              <a:rPr lang="en-US" sz="1600" dirty="0">
                <a:solidFill>
                  <a:schemeClr val="bg1"/>
                </a:solidFill>
                <a:latin typeface="Times New Roman" pitchFamily="18" charset="0"/>
                <a:cs typeface="Times New Roman" pitchFamily="18" charset="0"/>
              </a:rPr>
              <a:t>, Random forest, CNN, Thyroid.</a:t>
            </a:r>
            <a:endParaRPr lang="en-GB" sz="1600" dirty="0">
              <a:solidFill>
                <a:schemeClr val="bg1"/>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600" y="838200"/>
            <a:ext cx="4396740" cy="635000"/>
          </a:xfrm>
          <a:prstGeom prst="rect">
            <a:avLst/>
          </a:prstGeom>
        </p:spPr>
        <p:txBody>
          <a:bodyPr vert="horz" wrap="square" lIns="0" tIns="12065" rIns="0" bIns="0" rtlCol="0">
            <a:spAutoFit/>
          </a:bodyPr>
          <a:lstStyle/>
          <a:p>
            <a:pPr marL="12700">
              <a:lnSpc>
                <a:spcPct val="100000"/>
              </a:lnSpc>
              <a:spcBef>
                <a:spcPts val="95"/>
              </a:spcBef>
            </a:pPr>
            <a:r>
              <a:rPr sz="4000" spc="-5" dirty="0"/>
              <a:t>Problem</a:t>
            </a:r>
            <a:r>
              <a:rPr sz="4000" spc="-170" dirty="0"/>
              <a:t> </a:t>
            </a:r>
            <a:r>
              <a:rPr dirty="0"/>
              <a:t>Statement</a:t>
            </a:r>
            <a:r>
              <a:rPr lang="en-US" dirty="0"/>
              <a:t>:</a:t>
            </a:r>
            <a:endParaRPr sz="4000" dirty="0"/>
          </a:p>
        </p:txBody>
      </p:sp>
      <p:sp>
        <p:nvSpPr>
          <p:cNvPr id="4" name="TextBox 3"/>
          <p:cNvSpPr txBox="1"/>
          <p:nvPr/>
        </p:nvSpPr>
        <p:spPr>
          <a:xfrm>
            <a:off x="1676400" y="2971800"/>
            <a:ext cx="8305800" cy="1938992"/>
          </a:xfrm>
          <a:prstGeom prst="rect">
            <a:avLst/>
          </a:prstGeom>
          <a:noFill/>
        </p:spPr>
        <p:txBody>
          <a:bodyPr wrap="square" rtlCol="0">
            <a:spAutoFit/>
          </a:bodyPr>
          <a:lstStyle/>
          <a:p>
            <a:r>
              <a:rPr lang="en-IN" sz="4000" b="1" spc="-5" dirty="0">
                <a:solidFill>
                  <a:schemeClr val="bg1"/>
                </a:solidFill>
                <a:latin typeface="Arial"/>
                <a:cs typeface="Arial"/>
              </a:rPr>
              <a:t>Multiple disease detector system Using Machine Learning &amp; Deep Learning</a:t>
            </a:r>
            <a:endParaRPr lang="en-US" sz="4000" b="1"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4400" y="811032"/>
            <a:ext cx="2895600" cy="628377"/>
          </a:xfrm>
          <a:prstGeom prst="rect">
            <a:avLst/>
          </a:prstGeom>
        </p:spPr>
        <p:txBody>
          <a:bodyPr vert="horz" wrap="square" lIns="0" tIns="12700" rIns="0" bIns="0" rtlCol="0">
            <a:spAutoFit/>
          </a:bodyPr>
          <a:lstStyle/>
          <a:p>
            <a:pPr marL="12700">
              <a:lnSpc>
                <a:spcPct val="100000"/>
              </a:lnSpc>
              <a:spcBef>
                <a:spcPts val="100"/>
              </a:spcBef>
            </a:pPr>
            <a:r>
              <a:rPr spc="-5" dirty="0"/>
              <a:t>Objective</a:t>
            </a:r>
            <a:r>
              <a:rPr lang="en-US" spc="-5" dirty="0"/>
              <a:t>:</a:t>
            </a:r>
            <a:r>
              <a:rPr spc="-60" dirty="0">
                <a:solidFill>
                  <a:srgbClr val="404040"/>
                </a:solidFill>
              </a:rPr>
              <a:t> </a:t>
            </a:r>
            <a:r>
              <a:rPr dirty="0">
                <a:solidFill>
                  <a:srgbClr val="FFFFFF"/>
                </a:solidFill>
              </a:rPr>
              <a:t>:</a:t>
            </a:r>
          </a:p>
        </p:txBody>
      </p:sp>
      <p:sp>
        <p:nvSpPr>
          <p:cNvPr id="3" name="object 3"/>
          <p:cNvSpPr txBox="1"/>
          <p:nvPr/>
        </p:nvSpPr>
        <p:spPr>
          <a:xfrm>
            <a:off x="685800" y="2057400"/>
            <a:ext cx="10546715" cy="3944926"/>
          </a:xfrm>
          <a:prstGeom prst="rect">
            <a:avLst/>
          </a:prstGeom>
        </p:spPr>
        <p:txBody>
          <a:bodyPr vert="horz" wrap="square" lIns="0" tIns="12700" rIns="0" bIns="0" rtlCol="0">
            <a:spAutoFit/>
          </a:bodyPr>
          <a:lstStyle/>
          <a:p>
            <a:pPr algn="just">
              <a:lnSpc>
                <a:spcPct val="160000"/>
              </a:lnSpc>
            </a:pPr>
            <a:r>
              <a:rPr lang="en-US" dirty="0">
                <a:solidFill>
                  <a:schemeClr val="bg1"/>
                </a:solidFill>
                <a:latin typeface="Times New Roman" pitchFamily="18" charset="0"/>
                <a:cs typeface="Times New Roman" pitchFamily="18" charset="0"/>
              </a:rPr>
              <a:t>The aim of this study is to develop and test a reliable diagnostic tool, using deep learning technology to detect COVID-19 ,Cancer disease, Kidney chronic disease which features from chest X-rays and medical data . This tool would accelerate the diagnosis and referral of patients, improving clinical outcomes. </a:t>
            </a:r>
          </a:p>
          <a:p>
            <a:pPr algn="just">
              <a:lnSpc>
                <a:spcPct val="160000"/>
              </a:lnSpc>
            </a:pPr>
            <a:endParaRPr lang="en-US" dirty="0">
              <a:solidFill>
                <a:schemeClr val="bg1"/>
              </a:solidFill>
              <a:latin typeface="Times New Roman" pitchFamily="18" charset="0"/>
              <a:cs typeface="Times New Roman" pitchFamily="18" charset="0"/>
            </a:endParaRPr>
          </a:p>
          <a:p>
            <a:pPr algn="just">
              <a:lnSpc>
                <a:spcPct val="160000"/>
              </a:lnSpc>
            </a:pPr>
            <a:r>
              <a:rPr lang="en-US" dirty="0">
                <a:solidFill>
                  <a:schemeClr val="bg1"/>
                </a:solidFill>
                <a:latin typeface="Times New Roman" pitchFamily="18" charset="0"/>
                <a:cs typeface="Times New Roman" pitchFamily="18" charset="0"/>
              </a:rPr>
              <a:t>Releasing the deep learning model as open source would facilitate the use of the tool both now and in any future pandemics, where a similar algorithm could be used. Also we used the Xgboost, Random Forest ,CNN layers. </a:t>
            </a:r>
          </a:p>
          <a:p>
            <a:pPr algn="just">
              <a:lnSpc>
                <a:spcPct val="160000"/>
              </a:lnSpc>
            </a:pPr>
            <a:endParaRPr lang="en-US" dirty="0">
              <a:solidFill>
                <a:schemeClr val="bg1"/>
              </a:solidFill>
              <a:latin typeface="Times New Roman" pitchFamily="18" charset="0"/>
              <a:cs typeface="Times New Roman" pitchFamily="18" charset="0"/>
            </a:endParaRPr>
          </a:p>
          <a:p>
            <a:pPr algn="just">
              <a:lnSpc>
                <a:spcPct val="160000"/>
              </a:lnSpc>
            </a:pPr>
            <a:r>
              <a:rPr lang="en-US" dirty="0">
                <a:solidFill>
                  <a:schemeClr val="bg1"/>
                </a:solidFill>
                <a:latin typeface="Times New Roman" pitchFamily="18" charset="0"/>
                <a:cs typeface="Times New Roman" pitchFamily="18" charset="0"/>
              </a:rPr>
              <a:t>This particular application also has the potential to be scaled up and used for more generalized high-impact applications in biomedical imaging.</a:t>
            </a:r>
            <a:endParaRPr lang="en-GB" dirty="0">
              <a:solidFill>
                <a:schemeClr val="bg1"/>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2919" y="284176"/>
            <a:ext cx="9784080" cy="1239824"/>
          </a:xfrm>
        </p:spPr>
        <p:txBody>
          <a:bodyPr/>
          <a:lstStyle/>
          <a:p>
            <a:r>
              <a:rPr lang="en-IN" dirty="0" smtClean="0"/>
              <a:t>LITERATURE SURVEY:</a:t>
            </a:r>
            <a:endParaRPr lang="en-IN" dirty="0"/>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24000" y="2209800"/>
            <a:ext cx="8839200" cy="4191000"/>
          </a:xfrm>
        </p:spPr>
      </p:pic>
    </p:spTree>
    <p:extLst>
      <p:ext uri="{BB962C8B-B14F-4D97-AF65-F5344CB8AC3E}">
        <p14:creationId xmlns:p14="http://schemas.microsoft.com/office/powerpoint/2010/main" val="128383882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0200" y="0"/>
            <a:ext cx="8305800" cy="3535218"/>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00200" y="3532909"/>
            <a:ext cx="8305800" cy="3322782"/>
          </a:xfrm>
          <a:prstGeom prst="rect">
            <a:avLst/>
          </a:prstGeom>
        </p:spPr>
      </p:pic>
    </p:spTree>
    <p:extLst>
      <p:ext uri="{BB962C8B-B14F-4D97-AF65-F5344CB8AC3E}">
        <p14:creationId xmlns:p14="http://schemas.microsoft.com/office/powerpoint/2010/main" val="129690374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76F3D69-F151-FED0-5CB2-B58DD7698058}"/>
              </a:ext>
            </a:extLst>
          </p:cNvPr>
          <p:cNvSpPr>
            <a:spLocks noGrp="1"/>
          </p:cNvSpPr>
          <p:nvPr>
            <p:ph type="title"/>
          </p:nvPr>
        </p:nvSpPr>
        <p:spPr/>
        <p:txBody>
          <a:bodyPr/>
          <a:lstStyle/>
          <a:p>
            <a:r>
              <a:rPr lang="en-US" dirty="0"/>
              <a:t>METHODOLOGY:</a:t>
            </a:r>
          </a:p>
        </p:txBody>
      </p:sp>
      <p:sp>
        <p:nvSpPr>
          <p:cNvPr id="3" name="Content Placeholder 2">
            <a:extLst>
              <a:ext uri="{FF2B5EF4-FFF2-40B4-BE49-F238E27FC236}">
                <a16:creationId xmlns:a16="http://schemas.microsoft.com/office/drawing/2014/main" xmlns="" id="{2F521855-901C-3DC3-B4D2-3ABACBB5E4D8}"/>
              </a:ext>
            </a:extLst>
          </p:cNvPr>
          <p:cNvSpPr>
            <a:spLocks noGrp="1"/>
          </p:cNvSpPr>
          <p:nvPr>
            <p:ph idx="1"/>
          </p:nvPr>
        </p:nvSpPr>
        <p:spPr>
          <a:xfrm>
            <a:off x="1202919" y="2011680"/>
            <a:ext cx="9784080" cy="3322320"/>
          </a:xfrm>
        </p:spPr>
        <p:txBody>
          <a:bodyPr>
            <a:noAutofit/>
          </a:bodyPr>
          <a:lstStyle/>
          <a:p>
            <a:r>
              <a:rPr lang="en-US" sz="1400" b="1" dirty="0">
                <a:solidFill>
                  <a:schemeClr val="bg1"/>
                </a:solidFill>
                <a:latin typeface="Times New Roman" pitchFamily="18" charset="0"/>
                <a:cs typeface="Times New Roman" pitchFamily="18" charset="0"/>
              </a:rPr>
              <a:t>Knn Algorithm</a:t>
            </a:r>
            <a:r>
              <a:rPr lang="en-US" sz="1400" b="0" dirty="0">
                <a:solidFill>
                  <a:schemeClr val="bg1"/>
                </a:solidFill>
                <a:latin typeface="Times New Roman" pitchFamily="18" charset="0"/>
                <a:cs typeface="Times New Roman" pitchFamily="18" charset="0"/>
              </a:rPr>
              <a:t>	</a:t>
            </a:r>
            <a:br>
              <a:rPr lang="en-US" sz="1400" b="0" dirty="0">
                <a:solidFill>
                  <a:schemeClr val="bg1"/>
                </a:solidFill>
                <a:latin typeface="Times New Roman" pitchFamily="18" charset="0"/>
                <a:cs typeface="Times New Roman" pitchFamily="18" charset="0"/>
              </a:rPr>
            </a:br>
            <a:r>
              <a:rPr lang="en-US" sz="1400" b="0" dirty="0">
                <a:solidFill>
                  <a:schemeClr val="bg1"/>
                </a:solidFill>
                <a:latin typeface="Times New Roman" pitchFamily="18" charset="0"/>
                <a:cs typeface="Times New Roman" pitchFamily="18" charset="0"/>
              </a:rPr>
              <a:t>The working of the K-NN algorithm is as followed:	</a:t>
            </a:r>
            <a:br>
              <a:rPr lang="en-US" sz="1400" b="0" dirty="0">
                <a:solidFill>
                  <a:schemeClr val="bg1"/>
                </a:solidFill>
                <a:latin typeface="Times New Roman" pitchFamily="18" charset="0"/>
                <a:cs typeface="Times New Roman" pitchFamily="18" charset="0"/>
              </a:rPr>
            </a:br>
            <a:r>
              <a:rPr lang="en-US" sz="1400" b="0" dirty="0">
                <a:solidFill>
                  <a:schemeClr val="bg1"/>
                </a:solidFill>
                <a:latin typeface="Times New Roman" pitchFamily="18" charset="0"/>
                <a:cs typeface="Times New Roman" pitchFamily="18" charset="0"/>
              </a:rPr>
              <a:t>• Step-1: Start to select the K value for example k=5</a:t>
            </a:r>
            <a:r>
              <a:rPr lang="en-US" sz="1400" dirty="0">
                <a:solidFill>
                  <a:schemeClr val="bg1"/>
                </a:solidFill>
                <a:latin typeface="Times New Roman" pitchFamily="18" charset="0"/>
                <a:cs typeface="Times New Roman" pitchFamily="18" charset="0"/>
              </a:rPr>
              <a:t/>
            </a:r>
            <a:br>
              <a:rPr lang="en-US" sz="1400" dirty="0">
                <a:solidFill>
                  <a:schemeClr val="bg1"/>
                </a:solidFill>
                <a:latin typeface="Times New Roman" pitchFamily="18" charset="0"/>
                <a:cs typeface="Times New Roman" pitchFamily="18" charset="0"/>
              </a:rPr>
            </a:br>
            <a:r>
              <a:rPr lang="en-US" sz="1400" b="0" dirty="0">
                <a:solidFill>
                  <a:schemeClr val="bg1"/>
                </a:solidFill>
                <a:latin typeface="Times New Roman" pitchFamily="18" charset="0"/>
                <a:cs typeface="Times New Roman" pitchFamily="18" charset="0"/>
              </a:rPr>
              <a:t>• Step-2: Then we will find the Euclidean distance between the points.</a:t>
            </a:r>
            <a:br>
              <a:rPr lang="en-US" sz="1400" b="0" dirty="0">
                <a:solidFill>
                  <a:schemeClr val="bg1"/>
                </a:solidFill>
                <a:latin typeface="Times New Roman" pitchFamily="18" charset="0"/>
                <a:cs typeface="Times New Roman" pitchFamily="18" charset="0"/>
              </a:rPr>
            </a:br>
            <a:r>
              <a:rPr lang="en-US" sz="1400" b="0" dirty="0">
                <a:solidFill>
                  <a:schemeClr val="bg1"/>
                </a:solidFill>
                <a:latin typeface="Times New Roman" pitchFamily="18" charset="0"/>
                <a:cs typeface="Times New Roman" pitchFamily="18" charset="0"/>
              </a:rPr>
              <a:t>                    Euclidean Distance - √(█((x2-x1)^2+(y2-y1)^</a:t>
            </a:r>
            <a:r>
              <a:rPr lang="en-US" sz="1400" b="0" dirty="0" smtClean="0">
                <a:solidFill>
                  <a:schemeClr val="bg1"/>
                </a:solidFill>
                <a:latin typeface="Times New Roman" pitchFamily="18" charset="0"/>
                <a:cs typeface="Times New Roman" pitchFamily="18" charset="0"/>
              </a:rPr>
              <a:t>2))</a:t>
            </a:r>
            <a:r>
              <a:rPr lang="en-US" sz="1400" b="0" dirty="0">
                <a:solidFill>
                  <a:schemeClr val="bg1"/>
                </a:solidFill>
                <a:latin typeface="Times New Roman" pitchFamily="18" charset="0"/>
                <a:cs typeface="Times New Roman" pitchFamily="18" charset="0"/>
              </a:rPr>
              <a:t>	</a:t>
            </a:r>
            <a:br>
              <a:rPr lang="en-US" sz="1400" b="0" dirty="0">
                <a:solidFill>
                  <a:schemeClr val="bg1"/>
                </a:solidFill>
                <a:latin typeface="Times New Roman" pitchFamily="18" charset="0"/>
                <a:cs typeface="Times New Roman" pitchFamily="18" charset="0"/>
              </a:rPr>
            </a:br>
            <a:r>
              <a:rPr lang="en-US" sz="1400" b="0" dirty="0">
                <a:solidFill>
                  <a:schemeClr val="bg1"/>
                </a:solidFill>
                <a:latin typeface="Times New Roman" pitchFamily="18" charset="0"/>
                <a:cs typeface="Times New Roman" pitchFamily="18" charset="0"/>
              </a:rPr>
              <a:t>• Step-3: Then we will calculate the Euclidean distance of the nearest neighbour. 	</a:t>
            </a:r>
            <a:br>
              <a:rPr lang="en-US" sz="1400" b="0" dirty="0">
                <a:solidFill>
                  <a:schemeClr val="bg1"/>
                </a:solidFill>
                <a:latin typeface="Times New Roman" pitchFamily="18" charset="0"/>
                <a:cs typeface="Times New Roman" pitchFamily="18" charset="0"/>
              </a:rPr>
            </a:br>
            <a:r>
              <a:rPr lang="en-US" sz="1400" b="0" dirty="0">
                <a:solidFill>
                  <a:schemeClr val="bg1"/>
                </a:solidFill>
                <a:latin typeface="Times New Roman" pitchFamily="18" charset="0"/>
                <a:cs typeface="Times New Roman" pitchFamily="18" charset="0"/>
              </a:rPr>
              <a:t>• Step-4: Then count the number of the data points in each category .For example found three values for Category A and two values for category B.	</a:t>
            </a:r>
            <a:br>
              <a:rPr lang="en-US" sz="1400" b="0" dirty="0">
                <a:solidFill>
                  <a:schemeClr val="bg1"/>
                </a:solidFill>
                <a:latin typeface="Times New Roman" pitchFamily="18" charset="0"/>
                <a:cs typeface="Times New Roman" pitchFamily="18" charset="0"/>
              </a:rPr>
            </a:br>
            <a:r>
              <a:rPr lang="en-US" sz="1400" b="0" dirty="0">
                <a:solidFill>
                  <a:schemeClr val="bg1"/>
                </a:solidFill>
                <a:latin typeface="Times New Roman" pitchFamily="18" charset="0"/>
                <a:cs typeface="Times New Roman" pitchFamily="18" charset="0"/>
              </a:rPr>
              <a:t>• Step-5: Then assign the new point to the category having maximum number of neighbours. For example Category A has highest number of neighbour so we will assign the new data point to category A.	</a:t>
            </a:r>
            <a:br>
              <a:rPr lang="en-US" sz="1400" b="0" dirty="0">
                <a:solidFill>
                  <a:schemeClr val="bg1"/>
                </a:solidFill>
                <a:latin typeface="Times New Roman" pitchFamily="18" charset="0"/>
                <a:cs typeface="Times New Roman" pitchFamily="18" charset="0"/>
              </a:rPr>
            </a:br>
            <a:r>
              <a:rPr lang="en-US" sz="1400" b="0" dirty="0">
                <a:solidFill>
                  <a:schemeClr val="bg1"/>
                </a:solidFill>
                <a:latin typeface="Times New Roman" pitchFamily="18" charset="0"/>
                <a:cs typeface="Times New Roman" pitchFamily="18" charset="0"/>
              </a:rPr>
              <a:t>• Step-6: So finally our Knn model is ready. </a:t>
            </a:r>
            <a:br>
              <a:rPr lang="en-US" sz="1400" b="0" dirty="0">
                <a:solidFill>
                  <a:schemeClr val="bg1"/>
                </a:solidFill>
                <a:latin typeface="Times New Roman" pitchFamily="18" charset="0"/>
                <a:cs typeface="Times New Roman" pitchFamily="18" charset="0"/>
              </a:rPr>
            </a:br>
            <a:r>
              <a:rPr lang="en-US" sz="1400" b="0" dirty="0">
                <a:solidFill>
                  <a:schemeClr val="bg1"/>
                </a:solidFill>
                <a:latin typeface="Times New Roman" pitchFamily="18" charset="0"/>
                <a:cs typeface="Times New Roman" pitchFamily="18" charset="0"/>
              </a:rPr>
              <a:t/>
            </a:r>
            <a:br>
              <a:rPr lang="en-US" sz="1400" b="0" dirty="0">
                <a:solidFill>
                  <a:schemeClr val="bg1"/>
                </a:solidFill>
                <a:latin typeface="Times New Roman" pitchFamily="18" charset="0"/>
                <a:cs typeface="Times New Roman" pitchFamily="18" charset="0"/>
              </a:rPr>
            </a:br>
            <a:r>
              <a:rPr lang="en-US" sz="1400" b="1" dirty="0">
                <a:solidFill>
                  <a:schemeClr val="bg1"/>
                </a:solidFill>
                <a:latin typeface="Times New Roman" pitchFamily="18" charset="0"/>
                <a:cs typeface="Times New Roman" pitchFamily="18" charset="0"/>
              </a:rPr>
              <a:t>Random Forest Algorithm </a:t>
            </a:r>
            <a:br>
              <a:rPr lang="en-US" sz="1400" b="1" dirty="0">
                <a:solidFill>
                  <a:schemeClr val="bg1"/>
                </a:solidFill>
                <a:latin typeface="Times New Roman" pitchFamily="18" charset="0"/>
                <a:cs typeface="Times New Roman" pitchFamily="18" charset="0"/>
              </a:rPr>
            </a:br>
            <a:r>
              <a:rPr lang="en-US" sz="1400" b="0" dirty="0">
                <a:solidFill>
                  <a:schemeClr val="bg1"/>
                </a:solidFill>
                <a:latin typeface="Times New Roman" pitchFamily="18" charset="0"/>
                <a:cs typeface="Times New Roman" pitchFamily="18" charset="0"/>
              </a:rPr>
              <a:t/>
            </a:r>
            <a:br>
              <a:rPr lang="en-US" sz="1400" b="0" dirty="0">
                <a:solidFill>
                  <a:schemeClr val="bg1"/>
                </a:solidFill>
                <a:latin typeface="Times New Roman" pitchFamily="18" charset="0"/>
                <a:cs typeface="Times New Roman" pitchFamily="18" charset="0"/>
              </a:rPr>
            </a:br>
            <a:r>
              <a:rPr lang="en-US" sz="1400" b="0" dirty="0">
                <a:solidFill>
                  <a:schemeClr val="bg1"/>
                </a:solidFill>
                <a:latin typeface="Times New Roman" pitchFamily="18" charset="0"/>
                <a:cs typeface="Times New Roman" pitchFamily="18" charset="0"/>
              </a:rPr>
              <a:t>Random Forest working is possible in two phases , first is to create the random forest by merging N decision tree, and second is making prediction for each tree created in the first phase. The working of the random forest is as follows:	</a:t>
            </a:r>
            <a:br>
              <a:rPr lang="en-US" sz="1400" b="0" dirty="0">
                <a:solidFill>
                  <a:schemeClr val="bg1"/>
                </a:solidFill>
                <a:latin typeface="Times New Roman" pitchFamily="18" charset="0"/>
                <a:cs typeface="Times New Roman" pitchFamily="18" charset="0"/>
              </a:rPr>
            </a:br>
            <a:r>
              <a:rPr lang="en-US" sz="1400" b="0" dirty="0">
                <a:solidFill>
                  <a:schemeClr val="bg1"/>
                </a:solidFill>
                <a:latin typeface="Times New Roman" pitchFamily="18" charset="0"/>
                <a:cs typeface="Times New Roman" pitchFamily="18" charset="0"/>
              </a:rPr>
              <a:t>Step-1: Firstly it will select random K data points from the training set.	</a:t>
            </a:r>
            <a:br>
              <a:rPr lang="en-US" sz="1400" b="0" dirty="0">
                <a:solidFill>
                  <a:schemeClr val="bg1"/>
                </a:solidFill>
                <a:latin typeface="Times New Roman" pitchFamily="18" charset="0"/>
                <a:cs typeface="Times New Roman" pitchFamily="18" charset="0"/>
              </a:rPr>
            </a:br>
            <a:r>
              <a:rPr lang="en-US" sz="1400" b="0" dirty="0">
                <a:solidFill>
                  <a:schemeClr val="bg1"/>
                </a:solidFill>
                <a:latin typeface="Times New Roman" pitchFamily="18" charset="0"/>
                <a:cs typeface="Times New Roman" pitchFamily="18" charset="0"/>
              </a:rPr>
              <a:t>Step-2: After selecting k data points then building the decision trees associated with the selected data points (Subsets).	</a:t>
            </a:r>
            <a:br>
              <a:rPr lang="en-US" sz="1400" b="0" dirty="0">
                <a:solidFill>
                  <a:schemeClr val="bg1"/>
                </a:solidFill>
                <a:latin typeface="Times New Roman" pitchFamily="18" charset="0"/>
                <a:cs typeface="Times New Roman" pitchFamily="18" charset="0"/>
              </a:rPr>
            </a:br>
            <a:r>
              <a:rPr lang="en-US" sz="1400" b="0" dirty="0">
                <a:solidFill>
                  <a:schemeClr val="bg1"/>
                </a:solidFill>
                <a:latin typeface="Times New Roman" pitchFamily="18" charset="0"/>
                <a:cs typeface="Times New Roman" pitchFamily="18" charset="0"/>
              </a:rPr>
              <a:t>Step-3: Then choosing the number N for decision trees that you want to build.	</a:t>
            </a:r>
            <a:br>
              <a:rPr lang="en-US" sz="1400" b="0" dirty="0">
                <a:solidFill>
                  <a:schemeClr val="bg1"/>
                </a:solidFill>
                <a:latin typeface="Times New Roman" pitchFamily="18" charset="0"/>
                <a:cs typeface="Times New Roman" pitchFamily="18" charset="0"/>
              </a:rPr>
            </a:br>
            <a:r>
              <a:rPr lang="en-US" sz="1400" b="0" dirty="0">
                <a:solidFill>
                  <a:schemeClr val="bg1"/>
                </a:solidFill>
                <a:latin typeface="Times New Roman" pitchFamily="18" charset="0"/>
                <a:cs typeface="Times New Roman" pitchFamily="18" charset="0"/>
              </a:rPr>
              <a:t>Step-4:Repeating step 1 and 2 .	</a:t>
            </a:r>
            <a:br>
              <a:rPr lang="en-US" sz="1400" b="0" dirty="0">
                <a:solidFill>
                  <a:schemeClr val="bg1"/>
                </a:solidFill>
                <a:latin typeface="Times New Roman" pitchFamily="18" charset="0"/>
                <a:cs typeface="Times New Roman" pitchFamily="18" charset="0"/>
              </a:rPr>
            </a:br>
            <a:r>
              <a:rPr lang="en-US" sz="1400" b="0" dirty="0">
                <a:solidFill>
                  <a:schemeClr val="bg1"/>
                </a:solidFill>
                <a:latin typeface="Times New Roman" pitchFamily="18" charset="0"/>
                <a:cs typeface="Times New Roman" pitchFamily="18" charset="0"/>
              </a:rPr>
              <a:t>Step-5: Finding the predictions of each decision tree, and assigning the new data points to the category that wins the majority votes.</a:t>
            </a:r>
            <a:endParaRPr lang="en-US" sz="1400" dirty="0"/>
          </a:p>
        </p:txBody>
      </p:sp>
    </p:spTree>
    <p:extLst>
      <p:ext uri="{BB962C8B-B14F-4D97-AF65-F5344CB8AC3E}">
        <p14:creationId xmlns:p14="http://schemas.microsoft.com/office/powerpoint/2010/main" val="341806319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AEAA4A99-56AA-667B-8CF5-70CB24076D5F}"/>
              </a:ext>
            </a:extLst>
          </p:cNvPr>
          <p:cNvSpPr txBox="1"/>
          <p:nvPr/>
        </p:nvSpPr>
        <p:spPr>
          <a:xfrm>
            <a:off x="1219200" y="990600"/>
            <a:ext cx="8839200" cy="4247317"/>
          </a:xfrm>
          <a:prstGeom prst="rect">
            <a:avLst/>
          </a:prstGeom>
          <a:noFill/>
        </p:spPr>
        <p:txBody>
          <a:bodyPr wrap="square">
            <a:spAutoFit/>
          </a:bodyPr>
          <a:lstStyle/>
          <a:p>
            <a:r>
              <a:rPr lang="en-US" sz="1500" b="1" dirty="0" err="1">
                <a:solidFill>
                  <a:schemeClr val="bg1"/>
                </a:solidFill>
                <a:latin typeface="Times New Roman" pitchFamily="18" charset="0"/>
                <a:cs typeface="Times New Roman" pitchFamily="18" charset="0"/>
              </a:rPr>
              <a:t>XGBoost</a:t>
            </a:r>
            <a:r>
              <a:rPr lang="en-US" sz="1500" b="1" dirty="0">
                <a:solidFill>
                  <a:schemeClr val="bg1"/>
                </a:solidFill>
                <a:latin typeface="Times New Roman" pitchFamily="18" charset="0"/>
                <a:cs typeface="Times New Roman" pitchFamily="18" charset="0"/>
              </a:rPr>
              <a:t> Algorithm </a:t>
            </a:r>
            <a:r>
              <a:rPr lang="en-US" sz="1500" b="0" dirty="0">
                <a:solidFill>
                  <a:schemeClr val="bg1"/>
                </a:solidFill>
                <a:latin typeface="Times New Roman" pitchFamily="18" charset="0"/>
                <a:cs typeface="Times New Roman" pitchFamily="18" charset="0"/>
              </a:rPr>
              <a:t/>
            </a:r>
            <a:br>
              <a:rPr lang="en-US" sz="1500" b="0" dirty="0">
                <a:solidFill>
                  <a:schemeClr val="bg1"/>
                </a:solidFill>
                <a:latin typeface="Times New Roman" pitchFamily="18" charset="0"/>
                <a:cs typeface="Times New Roman" pitchFamily="18" charset="0"/>
              </a:rPr>
            </a:br>
            <a:r>
              <a:rPr lang="en-US" sz="1500" b="0" dirty="0">
                <a:solidFill>
                  <a:schemeClr val="bg1"/>
                </a:solidFill>
                <a:latin typeface="Times New Roman" pitchFamily="18" charset="0"/>
                <a:cs typeface="Times New Roman" pitchFamily="18" charset="0"/>
              </a:rPr>
              <a:t>The working of </a:t>
            </a:r>
            <a:r>
              <a:rPr lang="en-US" sz="1500" b="0" dirty="0" err="1">
                <a:solidFill>
                  <a:schemeClr val="bg1"/>
                </a:solidFill>
                <a:latin typeface="Times New Roman" pitchFamily="18" charset="0"/>
                <a:cs typeface="Times New Roman" pitchFamily="18" charset="0"/>
              </a:rPr>
              <a:t>XGBoost</a:t>
            </a:r>
            <a:r>
              <a:rPr lang="en-US" sz="1500" b="0" dirty="0">
                <a:solidFill>
                  <a:schemeClr val="bg1"/>
                </a:solidFill>
                <a:latin typeface="Times New Roman" pitchFamily="18" charset="0"/>
                <a:cs typeface="Times New Roman" pitchFamily="18" charset="0"/>
              </a:rPr>
              <a:t> algorithm are as follows:	</a:t>
            </a:r>
            <a:br>
              <a:rPr lang="en-US" sz="1500" b="0" dirty="0">
                <a:solidFill>
                  <a:schemeClr val="bg1"/>
                </a:solidFill>
                <a:latin typeface="Times New Roman" pitchFamily="18" charset="0"/>
                <a:cs typeface="Times New Roman" pitchFamily="18" charset="0"/>
              </a:rPr>
            </a:br>
            <a:r>
              <a:rPr lang="en-US" sz="1500" b="0" dirty="0">
                <a:solidFill>
                  <a:schemeClr val="bg1"/>
                </a:solidFill>
                <a:latin typeface="Times New Roman" pitchFamily="18" charset="0"/>
                <a:cs typeface="Times New Roman" pitchFamily="18" charset="0"/>
              </a:rPr>
              <a:t>Step 1: Firstly creating a single leaf tree.	</a:t>
            </a:r>
            <a:br>
              <a:rPr lang="en-US" sz="1500" b="0" dirty="0">
                <a:solidFill>
                  <a:schemeClr val="bg1"/>
                </a:solidFill>
                <a:latin typeface="Times New Roman" pitchFamily="18" charset="0"/>
                <a:cs typeface="Times New Roman" pitchFamily="18" charset="0"/>
              </a:rPr>
            </a:br>
            <a:r>
              <a:rPr lang="en-US" sz="1500" b="0" dirty="0">
                <a:solidFill>
                  <a:schemeClr val="bg1"/>
                </a:solidFill>
                <a:latin typeface="Times New Roman" pitchFamily="18" charset="0"/>
                <a:cs typeface="Times New Roman" pitchFamily="18" charset="0"/>
              </a:rPr>
              <a:t>Step 2: Then for the first tree, we have to compute the average of target variable as prediction and then calculating the residuals using the desired loss function and then for subsequent trees the residuals come from prediction that was there in previous tree.	</a:t>
            </a:r>
            <a:br>
              <a:rPr lang="en-US" sz="1500" b="0" dirty="0">
                <a:solidFill>
                  <a:schemeClr val="bg1"/>
                </a:solidFill>
                <a:latin typeface="Times New Roman" pitchFamily="18" charset="0"/>
                <a:cs typeface="Times New Roman" pitchFamily="18" charset="0"/>
              </a:rPr>
            </a:br>
            <a:r>
              <a:rPr lang="en-US" sz="1500" b="0" dirty="0">
                <a:solidFill>
                  <a:schemeClr val="bg1"/>
                </a:solidFill>
                <a:latin typeface="Times New Roman" pitchFamily="18" charset="0"/>
                <a:cs typeface="Times New Roman" pitchFamily="18" charset="0"/>
              </a:rPr>
              <a:t>Step 3: Calculating the similarity score using formula: where, Hessian is equal to number of residuals; Gradient2 = squared sum of residuals; λ is a regularization hyperparameter.	</a:t>
            </a:r>
            <a:br>
              <a:rPr lang="en-US" sz="1500" b="0" dirty="0">
                <a:solidFill>
                  <a:schemeClr val="bg1"/>
                </a:solidFill>
                <a:latin typeface="Times New Roman" pitchFamily="18" charset="0"/>
                <a:cs typeface="Times New Roman" pitchFamily="18" charset="0"/>
              </a:rPr>
            </a:br>
            <a:r>
              <a:rPr lang="en-US" sz="1500" b="0" dirty="0">
                <a:solidFill>
                  <a:schemeClr val="bg1"/>
                </a:solidFill>
                <a:latin typeface="Times New Roman" pitchFamily="18" charset="0"/>
                <a:cs typeface="Times New Roman" pitchFamily="18" charset="0"/>
              </a:rPr>
              <a:t>Step 4: Applying similarity score we select the appropriate node. The higher the similarity score more the homogeneity.	</a:t>
            </a:r>
            <a:br>
              <a:rPr lang="en-US" sz="1500" b="0" dirty="0">
                <a:solidFill>
                  <a:schemeClr val="bg1"/>
                </a:solidFill>
                <a:latin typeface="Times New Roman" pitchFamily="18" charset="0"/>
                <a:cs typeface="Times New Roman" pitchFamily="18" charset="0"/>
              </a:rPr>
            </a:br>
            <a:r>
              <a:rPr lang="en-US" sz="1500" b="0" dirty="0">
                <a:solidFill>
                  <a:schemeClr val="bg1"/>
                </a:solidFill>
                <a:latin typeface="Times New Roman" pitchFamily="18" charset="0"/>
                <a:cs typeface="Times New Roman" pitchFamily="18" charset="0"/>
              </a:rPr>
              <a:t>Step 5: Applying similarity score we calculate Information gain. Information gain help to find the difference between old similarity and new similarity and tells how much homogeneity is achieved by splitting the node at a given point. 	</a:t>
            </a:r>
            <a:br>
              <a:rPr lang="en-US" sz="1500" b="0" dirty="0">
                <a:solidFill>
                  <a:schemeClr val="bg1"/>
                </a:solidFill>
                <a:latin typeface="Times New Roman" pitchFamily="18" charset="0"/>
                <a:cs typeface="Times New Roman" pitchFamily="18" charset="0"/>
              </a:rPr>
            </a:br>
            <a:r>
              <a:rPr lang="en-US" sz="1500" b="0" dirty="0">
                <a:solidFill>
                  <a:schemeClr val="bg1"/>
                </a:solidFill>
                <a:latin typeface="Times New Roman" pitchFamily="18" charset="0"/>
                <a:cs typeface="Times New Roman" pitchFamily="18" charset="0"/>
              </a:rPr>
              <a:t>Step 6:Creating the tree of desired length using the above method pruning and regularization can be done by playing with the regularization hyperparameter. </a:t>
            </a:r>
            <a:br>
              <a:rPr lang="en-US" sz="1500" b="0" dirty="0">
                <a:solidFill>
                  <a:schemeClr val="bg1"/>
                </a:solidFill>
                <a:latin typeface="Times New Roman" pitchFamily="18" charset="0"/>
                <a:cs typeface="Times New Roman" pitchFamily="18" charset="0"/>
              </a:rPr>
            </a:br>
            <a:r>
              <a:rPr lang="en-US" sz="1500" b="0" dirty="0">
                <a:solidFill>
                  <a:schemeClr val="bg1"/>
                </a:solidFill>
                <a:latin typeface="Times New Roman" pitchFamily="18" charset="0"/>
                <a:cs typeface="Times New Roman" pitchFamily="18" charset="0"/>
              </a:rPr>
              <a:t>Step 7: Then we can predict the residual values using the Decision Tree you constructed.	</a:t>
            </a:r>
            <a:br>
              <a:rPr lang="en-US" sz="1500" b="0" dirty="0">
                <a:solidFill>
                  <a:schemeClr val="bg1"/>
                </a:solidFill>
                <a:latin typeface="Times New Roman" pitchFamily="18" charset="0"/>
                <a:cs typeface="Times New Roman" pitchFamily="18" charset="0"/>
              </a:rPr>
            </a:br>
            <a:r>
              <a:rPr lang="en-US" sz="1500" b="0" dirty="0">
                <a:solidFill>
                  <a:schemeClr val="bg1"/>
                </a:solidFill>
                <a:latin typeface="Times New Roman" pitchFamily="18" charset="0"/>
                <a:cs typeface="Times New Roman" pitchFamily="18" charset="0"/>
              </a:rPr>
              <a:t>Step 8: The new set of residuals is calculated as: where ρ is the learning rate.	</a:t>
            </a:r>
            <a:br>
              <a:rPr lang="en-US" sz="1500" b="0" dirty="0">
                <a:solidFill>
                  <a:schemeClr val="bg1"/>
                </a:solidFill>
                <a:latin typeface="Times New Roman" pitchFamily="18" charset="0"/>
                <a:cs typeface="Times New Roman" pitchFamily="18" charset="0"/>
              </a:rPr>
            </a:br>
            <a:r>
              <a:rPr lang="en-US" sz="1500" b="0" dirty="0">
                <a:solidFill>
                  <a:schemeClr val="bg1"/>
                </a:solidFill>
                <a:latin typeface="Times New Roman" pitchFamily="18" charset="0"/>
                <a:cs typeface="Times New Roman" pitchFamily="18" charset="0"/>
              </a:rPr>
              <a:t>Step 9:Then go back to step 1 and repeat the process for all	</a:t>
            </a:r>
            <a:endParaRPr lang="en-US" sz="1500" dirty="0"/>
          </a:p>
        </p:txBody>
      </p:sp>
    </p:spTree>
    <p:extLst>
      <p:ext uri="{BB962C8B-B14F-4D97-AF65-F5344CB8AC3E}">
        <p14:creationId xmlns:p14="http://schemas.microsoft.com/office/powerpoint/2010/main" val="194726150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xmlns="" id="{C9DE02CC-8C3F-93EA-411A-EA344318C448}"/>
              </a:ext>
            </a:extLst>
          </p:cNvPr>
          <p:cNvSpPr txBox="1"/>
          <p:nvPr/>
        </p:nvSpPr>
        <p:spPr>
          <a:xfrm>
            <a:off x="0" y="-36576"/>
            <a:ext cx="12192000" cy="569387"/>
          </a:xfrm>
          <a:prstGeom prst="rect">
            <a:avLst/>
          </a:prstGeom>
          <a:noFill/>
        </p:spPr>
        <p:txBody>
          <a:bodyPr wrap="square" rtlCol="0">
            <a:spAutoFit/>
          </a:bodyPr>
          <a:lstStyle/>
          <a:p>
            <a:r>
              <a:rPr lang="en-US" sz="1600" b="1" dirty="0">
                <a:solidFill>
                  <a:schemeClr val="bg1"/>
                </a:solidFill>
                <a:latin typeface="Times New Roman" pitchFamily="18" charset="0"/>
                <a:cs typeface="Times New Roman" pitchFamily="18" charset="0"/>
              </a:rPr>
              <a:t>CNN Algorithm</a:t>
            </a:r>
            <a:endParaRPr lang="en-US" sz="1600" dirty="0">
              <a:highlight>
                <a:srgbClr val="000000"/>
              </a:highlight>
              <a:latin typeface="Times New Roman" panose="02020603050405020304" pitchFamily="18" charset="0"/>
              <a:cs typeface="Times New Roman" panose="02020603050405020304" pitchFamily="18" charset="0"/>
            </a:endParaRPr>
          </a:p>
          <a:p>
            <a:endParaRPr lang="en-US" sz="1500" dirty="0">
              <a:highlight>
                <a:srgbClr val="000000"/>
              </a:highlight>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xmlns="" id="{02B98C59-47AA-2530-EAC3-22C200621BFF}"/>
              </a:ext>
            </a:extLst>
          </p:cNvPr>
          <p:cNvSpPr txBox="1"/>
          <p:nvPr/>
        </p:nvSpPr>
        <p:spPr>
          <a:xfrm>
            <a:off x="0" y="990600"/>
            <a:ext cx="12192000" cy="5632311"/>
          </a:xfrm>
          <a:prstGeom prst="rect">
            <a:avLst/>
          </a:prstGeom>
          <a:noFill/>
        </p:spPr>
        <p:txBody>
          <a:bodyPr wrap="square" rtlCol="0">
            <a:spAutoFit/>
          </a:bodyPr>
          <a:lstStyle/>
          <a:p>
            <a:pPr algn="l">
              <a:buFont typeface="+mj-lt"/>
              <a:buAutoNum type="arabicPeriod"/>
            </a:pPr>
            <a:r>
              <a:rPr lang="en-US" sz="1500" b="0" i="0" dirty="0">
                <a:solidFill>
                  <a:srgbClr val="374151"/>
                </a:solidFill>
                <a:effectLst/>
                <a:latin typeface="Times New Roman" panose="02020603050405020304" pitchFamily="18" charset="0"/>
                <a:cs typeface="Times New Roman" panose="02020603050405020304" pitchFamily="18" charset="0"/>
              </a:rPr>
              <a:t>Data Collection and Preprocessing:</a:t>
            </a:r>
          </a:p>
          <a:p>
            <a:pPr marL="742950" lvl="1" indent="-285750" algn="l">
              <a:buFont typeface="+mj-lt"/>
              <a:buAutoNum type="arabicPeriod"/>
            </a:pPr>
            <a:r>
              <a:rPr lang="en-US" sz="1500" b="0" i="0" dirty="0">
                <a:solidFill>
                  <a:srgbClr val="374151"/>
                </a:solidFill>
                <a:effectLst/>
                <a:latin typeface="Times New Roman" panose="02020603050405020304" pitchFamily="18" charset="0"/>
                <a:cs typeface="Times New Roman" panose="02020603050405020304" pitchFamily="18" charset="0"/>
              </a:rPr>
              <a:t>Collect a dataset of chest X-ray or CT scan images including COVID-19 positive cases and non-COVID-19 cases.</a:t>
            </a:r>
          </a:p>
          <a:p>
            <a:pPr marL="742950" lvl="1" indent="-285750" algn="l">
              <a:buFont typeface="+mj-lt"/>
              <a:buAutoNum type="arabicPeriod"/>
            </a:pPr>
            <a:r>
              <a:rPr lang="en-US" sz="1500" b="0" i="0" dirty="0">
                <a:solidFill>
                  <a:srgbClr val="374151"/>
                </a:solidFill>
                <a:effectLst/>
                <a:latin typeface="Times New Roman" panose="02020603050405020304" pitchFamily="18" charset="0"/>
                <a:cs typeface="Times New Roman" panose="02020603050405020304" pitchFamily="18" charset="0"/>
              </a:rPr>
              <a:t>Preprocess the images by resizing them to a consistent resolution, normalizing pixel values, and applying data augmentation techniques like rotation, scaling, and flipping.</a:t>
            </a:r>
          </a:p>
          <a:p>
            <a:pPr algn="l">
              <a:buFont typeface="+mj-lt"/>
              <a:buAutoNum type="arabicPeriod"/>
            </a:pPr>
            <a:r>
              <a:rPr lang="en-US" sz="1500" b="0" i="0" dirty="0">
                <a:solidFill>
                  <a:srgbClr val="374151"/>
                </a:solidFill>
                <a:effectLst/>
                <a:latin typeface="Times New Roman" panose="02020603050405020304" pitchFamily="18" charset="0"/>
                <a:cs typeface="Times New Roman" panose="02020603050405020304" pitchFamily="18" charset="0"/>
              </a:rPr>
              <a:t>Dataset Split:</a:t>
            </a:r>
          </a:p>
          <a:p>
            <a:pPr marL="742950" lvl="1" indent="-285750" algn="l">
              <a:buFont typeface="+mj-lt"/>
              <a:buAutoNum type="arabicPeriod"/>
            </a:pPr>
            <a:r>
              <a:rPr lang="en-US" sz="1500" b="0" i="0" dirty="0">
                <a:solidFill>
                  <a:srgbClr val="374151"/>
                </a:solidFill>
                <a:effectLst/>
                <a:latin typeface="Times New Roman" panose="02020603050405020304" pitchFamily="18" charset="0"/>
                <a:cs typeface="Times New Roman" panose="02020603050405020304" pitchFamily="18" charset="0"/>
              </a:rPr>
              <a:t>Split the preprocessed dataset into three subsets: training set, validation set, and test set.</a:t>
            </a:r>
          </a:p>
          <a:p>
            <a:pPr marL="742950" lvl="1" indent="-285750" algn="l">
              <a:buFont typeface="+mj-lt"/>
              <a:buAutoNum type="arabicPeriod"/>
            </a:pPr>
            <a:r>
              <a:rPr lang="en-US" sz="1500" b="0" i="0" dirty="0">
                <a:solidFill>
                  <a:srgbClr val="374151"/>
                </a:solidFill>
                <a:effectLst/>
                <a:latin typeface="Times New Roman" panose="02020603050405020304" pitchFamily="18" charset="0"/>
                <a:cs typeface="Times New Roman" panose="02020603050405020304" pitchFamily="18" charset="0"/>
              </a:rPr>
              <a:t>The training set is used to train the CNN model, the validation set is used for hyperparameter tuning and model evaluation during training, and the test set is used for final evaluation.</a:t>
            </a:r>
          </a:p>
          <a:p>
            <a:pPr>
              <a:buFont typeface="+mj-lt"/>
              <a:buAutoNum type="arabicPeriod"/>
            </a:pPr>
            <a:r>
              <a:rPr lang="en-US" sz="1500" b="0" i="0" dirty="0">
                <a:solidFill>
                  <a:srgbClr val="374151"/>
                </a:solidFill>
                <a:effectLst/>
                <a:latin typeface="Times New Roman" panose="02020603050405020304" pitchFamily="18" charset="0"/>
                <a:cs typeface="Times New Roman" panose="02020603050405020304" pitchFamily="18" charset="0"/>
              </a:rPr>
              <a:t>Model Architecture:</a:t>
            </a:r>
          </a:p>
          <a:p>
            <a:pPr marL="742950" lvl="1" indent="-285750" algn="l">
              <a:buFont typeface="+mj-lt"/>
              <a:buAutoNum type="arabicPeriod"/>
            </a:pPr>
            <a:r>
              <a:rPr lang="en-US" sz="1500" b="0" i="0" dirty="0">
                <a:solidFill>
                  <a:srgbClr val="374151"/>
                </a:solidFill>
                <a:effectLst/>
                <a:latin typeface="Times New Roman" panose="02020603050405020304" pitchFamily="18" charset="0"/>
                <a:cs typeface="Times New Roman" panose="02020603050405020304" pitchFamily="18" charset="0"/>
              </a:rPr>
              <a:t>Design the CNN model architecture.</a:t>
            </a:r>
          </a:p>
          <a:p>
            <a:pPr marL="742950" lvl="1" indent="-285750" algn="l">
              <a:buFont typeface="+mj-lt"/>
              <a:buAutoNum type="arabicPeriod"/>
            </a:pPr>
            <a:r>
              <a:rPr lang="en-US" sz="1500" b="0" i="0" dirty="0">
                <a:solidFill>
                  <a:srgbClr val="374151"/>
                </a:solidFill>
                <a:effectLst/>
                <a:latin typeface="Times New Roman" panose="02020603050405020304" pitchFamily="18" charset="0"/>
                <a:cs typeface="Times New Roman" panose="02020603050405020304" pitchFamily="18" charset="0"/>
              </a:rPr>
              <a:t>Select the number and types of layers, including convolutional layers, pooling layers, and fully connected layers.</a:t>
            </a:r>
          </a:p>
          <a:p>
            <a:pPr marL="742950" lvl="1" indent="-285750" algn="l">
              <a:buFont typeface="+mj-lt"/>
              <a:buAutoNum type="arabicPeriod"/>
            </a:pPr>
            <a:r>
              <a:rPr lang="en-US" sz="1500" b="0" i="0" dirty="0">
                <a:solidFill>
                  <a:srgbClr val="374151"/>
                </a:solidFill>
                <a:effectLst/>
                <a:latin typeface="Times New Roman" panose="02020603050405020304" pitchFamily="18" charset="0"/>
                <a:cs typeface="Times New Roman" panose="02020603050405020304" pitchFamily="18" charset="0"/>
              </a:rPr>
              <a:t>Choose appropriate activation functions and regularization techniques (e.g., dropout) to prevent overfitting.</a:t>
            </a:r>
          </a:p>
          <a:p>
            <a:pPr marL="742950" lvl="1" indent="-285750" algn="l">
              <a:buFont typeface="+mj-lt"/>
              <a:buAutoNum type="arabicPeriod"/>
            </a:pPr>
            <a:r>
              <a:rPr lang="en-US" sz="1500" b="0" i="0" dirty="0">
                <a:solidFill>
                  <a:srgbClr val="374151"/>
                </a:solidFill>
                <a:effectLst/>
                <a:latin typeface="Times New Roman" panose="02020603050405020304" pitchFamily="18" charset="0"/>
                <a:cs typeface="Times New Roman" panose="02020603050405020304" pitchFamily="18" charset="0"/>
              </a:rPr>
              <a:t>Define the model's parameters, such as filter sizes, strides, and number of filters in each layer.</a:t>
            </a:r>
          </a:p>
          <a:p>
            <a:pPr algn="l">
              <a:buFont typeface="+mj-lt"/>
              <a:buAutoNum type="arabicPeriod"/>
            </a:pPr>
            <a:r>
              <a:rPr lang="en-US" sz="1500" b="0" i="0" dirty="0">
                <a:solidFill>
                  <a:srgbClr val="374151"/>
                </a:solidFill>
                <a:effectLst/>
                <a:latin typeface="Times New Roman" panose="02020603050405020304" pitchFamily="18" charset="0"/>
                <a:cs typeface="Times New Roman" panose="02020603050405020304" pitchFamily="18" charset="0"/>
              </a:rPr>
              <a:t>Model Compilation:</a:t>
            </a:r>
          </a:p>
          <a:p>
            <a:pPr marL="742950" lvl="1" indent="-285750" algn="l">
              <a:buFont typeface="+mj-lt"/>
              <a:buAutoNum type="arabicPeriod"/>
            </a:pPr>
            <a:r>
              <a:rPr lang="en-US" sz="1500" b="0" i="0" dirty="0">
                <a:solidFill>
                  <a:srgbClr val="374151"/>
                </a:solidFill>
                <a:effectLst/>
                <a:latin typeface="Times New Roman" panose="02020603050405020304" pitchFamily="18" charset="0"/>
                <a:cs typeface="Times New Roman" panose="02020603050405020304" pitchFamily="18" charset="0"/>
              </a:rPr>
              <a:t>Compile the CNN model by specifying the loss function, optimization algorithm, and evaluation metrics.</a:t>
            </a:r>
          </a:p>
          <a:p>
            <a:pPr marL="742950" lvl="1" indent="-285750" algn="l">
              <a:buFont typeface="+mj-lt"/>
              <a:buAutoNum type="arabicPeriod"/>
            </a:pPr>
            <a:r>
              <a:rPr lang="en-US" sz="1500" b="0" i="0" dirty="0">
                <a:solidFill>
                  <a:srgbClr val="374151"/>
                </a:solidFill>
                <a:effectLst/>
                <a:latin typeface="Times New Roman" panose="02020603050405020304" pitchFamily="18" charset="0"/>
                <a:cs typeface="Times New Roman" panose="02020603050405020304" pitchFamily="18" charset="0"/>
              </a:rPr>
              <a:t>Common choices for the loss function include binary cross-entropy for binary classification (COVID-19 vs. non-COVID-19) or categorical cross-entropy for multi-class classification (COVID-19 vs. other lung diseases).</a:t>
            </a:r>
          </a:p>
          <a:p>
            <a:pPr marL="742950" lvl="1" indent="-285750" algn="l">
              <a:buFont typeface="+mj-lt"/>
              <a:buAutoNum type="arabicPeriod"/>
            </a:pPr>
            <a:r>
              <a:rPr lang="en-US" sz="1500" b="0" i="0" dirty="0">
                <a:solidFill>
                  <a:srgbClr val="374151"/>
                </a:solidFill>
                <a:effectLst/>
                <a:latin typeface="Times New Roman" panose="02020603050405020304" pitchFamily="18" charset="0"/>
                <a:cs typeface="Times New Roman" panose="02020603050405020304" pitchFamily="18" charset="0"/>
              </a:rPr>
              <a:t>Popular optimization algorithms include Adam, RMSprop, or Stochastic Gradient Descent (SGD).</a:t>
            </a:r>
          </a:p>
          <a:p>
            <a:pPr algn="l">
              <a:buFont typeface="+mj-lt"/>
              <a:buAutoNum type="arabicPeriod"/>
            </a:pPr>
            <a:r>
              <a:rPr lang="en-US" sz="1500" b="0" i="0" dirty="0">
                <a:solidFill>
                  <a:srgbClr val="374151"/>
                </a:solidFill>
                <a:effectLst/>
                <a:latin typeface="Times New Roman" panose="02020603050405020304" pitchFamily="18" charset="0"/>
                <a:cs typeface="Times New Roman" panose="02020603050405020304" pitchFamily="18" charset="0"/>
              </a:rPr>
              <a:t>Model Training:</a:t>
            </a:r>
          </a:p>
          <a:p>
            <a:pPr marL="742950" lvl="1" indent="-285750" algn="l">
              <a:buFont typeface="+mj-lt"/>
              <a:buAutoNum type="arabicPeriod"/>
            </a:pPr>
            <a:r>
              <a:rPr lang="en-US" sz="1500" b="0" i="0" dirty="0">
                <a:solidFill>
                  <a:srgbClr val="374151"/>
                </a:solidFill>
                <a:effectLst/>
                <a:latin typeface="Times New Roman" panose="02020603050405020304" pitchFamily="18" charset="0"/>
                <a:cs typeface="Times New Roman" panose="02020603050405020304" pitchFamily="18" charset="0"/>
              </a:rPr>
              <a:t>Train the CNN model using the training set.</a:t>
            </a:r>
          </a:p>
          <a:p>
            <a:pPr marL="742950" lvl="1" indent="-285750" algn="l">
              <a:buFont typeface="+mj-lt"/>
              <a:buAutoNum type="arabicPeriod"/>
            </a:pPr>
            <a:r>
              <a:rPr lang="en-US" sz="1500" b="0" i="0" dirty="0">
                <a:solidFill>
                  <a:srgbClr val="374151"/>
                </a:solidFill>
                <a:effectLst/>
                <a:latin typeface="Times New Roman" panose="02020603050405020304" pitchFamily="18" charset="0"/>
                <a:cs typeface="Times New Roman" panose="02020603050405020304" pitchFamily="18" charset="0"/>
              </a:rPr>
              <a:t>During training, input the preprocessed images into the model, calculate the loss based on predicted outputs, and update the model's weights using backpropagation and gradient descent.</a:t>
            </a:r>
          </a:p>
          <a:p>
            <a:pPr marL="742950" lvl="1" indent="-285750" algn="l">
              <a:buFont typeface="+mj-lt"/>
              <a:buAutoNum type="arabicPeriod"/>
            </a:pPr>
            <a:r>
              <a:rPr lang="en-US" sz="1500" b="0" i="0" dirty="0">
                <a:solidFill>
                  <a:srgbClr val="374151"/>
                </a:solidFill>
                <a:effectLst/>
                <a:latin typeface="Times New Roman" panose="02020603050405020304" pitchFamily="18" charset="0"/>
                <a:cs typeface="Times New Roman" panose="02020603050405020304" pitchFamily="18" charset="0"/>
              </a:rPr>
              <a:t>Iterate through multiple epochs, adjusting the model's parameters to minimize the loss and improve accuracy.</a:t>
            </a:r>
          </a:p>
          <a:p>
            <a:pPr marL="742950" lvl="1" indent="-285750" algn="l">
              <a:buFont typeface="+mj-lt"/>
              <a:buAutoNum type="arabicPeriod"/>
            </a:pPr>
            <a:r>
              <a:rPr lang="en-US" sz="1500" b="0" i="0" dirty="0">
                <a:solidFill>
                  <a:srgbClr val="374151"/>
                </a:solidFill>
                <a:effectLst/>
                <a:latin typeface="Times New Roman" panose="02020603050405020304" pitchFamily="18" charset="0"/>
                <a:cs typeface="Times New Roman" panose="02020603050405020304" pitchFamily="18" charset="0"/>
              </a:rPr>
              <a:t>Monitor the model's performance on the validation set to prevent overfitting and adjust hyperparameters accordingly.</a:t>
            </a:r>
          </a:p>
        </p:txBody>
      </p:sp>
    </p:spTree>
    <p:extLst>
      <p:ext uri="{BB962C8B-B14F-4D97-AF65-F5344CB8AC3E}">
        <p14:creationId xmlns:p14="http://schemas.microsoft.com/office/powerpoint/2010/main" val="195505908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xmlns="" id="{1B3A6341-1C97-8424-9E4C-9E738FD6192F}"/>
              </a:ext>
            </a:extLst>
          </p:cNvPr>
          <p:cNvSpPr txBox="1"/>
          <p:nvPr/>
        </p:nvSpPr>
        <p:spPr>
          <a:xfrm>
            <a:off x="0" y="0"/>
            <a:ext cx="12192000" cy="2631490"/>
          </a:xfrm>
          <a:prstGeom prst="rect">
            <a:avLst/>
          </a:prstGeom>
          <a:noFill/>
        </p:spPr>
        <p:txBody>
          <a:bodyPr wrap="square">
            <a:spAutoFit/>
          </a:bodyPr>
          <a:lstStyle/>
          <a:p>
            <a:pPr algn="l"/>
            <a:r>
              <a:rPr lang="en-US" sz="1500" b="0" i="0" dirty="0">
                <a:solidFill>
                  <a:srgbClr val="374151"/>
                </a:solidFill>
                <a:effectLst/>
                <a:latin typeface="Times New Roman" panose="02020603050405020304" pitchFamily="18" charset="0"/>
                <a:cs typeface="Times New Roman" panose="02020603050405020304" pitchFamily="18" charset="0"/>
              </a:rPr>
              <a:t>7.Model Evaluation:</a:t>
            </a:r>
          </a:p>
          <a:p>
            <a:pPr marL="742950" lvl="1" indent="-285750" algn="l">
              <a:buFont typeface="+mj-lt"/>
              <a:buAutoNum type="arabicPeriod"/>
            </a:pPr>
            <a:r>
              <a:rPr lang="en-US" sz="1500" b="0" i="0" dirty="0">
                <a:solidFill>
                  <a:srgbClr val="374151"/>
                </a:solidFill>
                <a:effectLst/>
                <a:latin typeface="Times New Roman" panose="02020603050405020304" pitchFamily="18" charset="0"/>
                <a:cs typeface="Times New Roman" panose="02020603050405020304" pitchFamily="18" charset="0"/>
              </a:rPr>
              <a:t>Evaluate the trained model on the test set to assess its performance.</a:t>
            </a:r>
          </a:p>
          <a:p>
            <a:pPr marL="742950" lvl="1" indent="-285750" algn="l">
              <a:buFont typeface="+mj-lt"/>
              <a:buAutoNum type="arabicPeriod"/>
            </a:pPr>
            <a:r>
              <a:rPr lang="en-US" sz="1500" b="0" i="0" dirty="0">
                <a:solidFill>
                  <a:srgbClr val="374151"/>
                </a:solidFill>
                <a:effectLst/>
                <a:latin typeface="Times New Roman" panose="02020603050405020304" pitchFamily="18" charset="0"/>
                <a:cs typeface="Times New Roman" panose="02020603050405020304" pitchFamily="18" charset="0"/>
              </a:rPr>
              <a:t>Calculate metrics such as accuracy, precision, recall, and F1 score to measure the model's effectiveness in detecting COVID-19.</a:t>
            </a:r>
          </a:p>
          <a:p>
            <a:pPr marL="742950" lvl="1" indent="-285750" algn="l">
              <a:buFont typeface="+mj-lt"/>
              <a:buAutoNum type="arabicPeriod"/>
            </a:pPr>
            <a:r>
              <a:rPr lang="en-US" sz="1500" b="0" i="0" dirty="0">
                <a:solidFill>
                  <a:srgbClr val="374151"/>
                </a:solidFill>
                <a:effectLst/>
                <a:latin typeface="Times New Roman" panose="02020603050405020304" pitchFamily="18" charset="0"/>
                <a:cs typeface="Times New Roman" panose="02020603050405020304" pitchFamily="18" charset="0"/>
              </a:rPr>
              <a:t>Analyze any false positives or false negatives to understand the model's limitations and potential areas for improvement.</a:t>
            </a:r>
          </a:p>
          <a:p>
            <a:pPr algn="l"/>
            <a:r>
              <a:rPr lang="en-US" sz="1500" b="0" i="0" dirty="0">
                <a:solidFill>
                  <a:srgbClr val="374151"/>
                </a:solidFill>
                <a:effectLst/>
                <a:latin typeface="Times New Roman" panose="02020603050405020304" pitchFamily="18" charset="0"/>
                <a:cs typeface="Times New Roman" panose="02020603050405020304" pitchFamily="18" charset="0"/>
              </a:rPr>
              <a:t>8.Model Deployment:</a:t>
            </a:r>
          </a:p>
          <a:p>
            <a:pPr marL="742950" lvl="1" indent="-285750" algn="l">
              <a:buFont typeface="+mj-lt"/>
              <a:buAutoNum type="arabicPeriod"/>
            </a:pPr>
            <a:r>
              <a:rPr lang="en-US" sz="1500" b="0" i="0" dirty="0">
                <a:solidFill>
                  <a:srgbClr val="374151"/>
                </a:solidFill>
                <a:effectLst/>
                <a:latin typeface="Times New Roman" panose="02020603050405020304" pitchFamily="18" charset="0"/>
                <a:cs typeface="Times New Roman" panose="02020603050405020304" pitchFamily="18" charset="0"/>
              </a:rPr>
              <a:t>Once the model has demonstrated good performance, it can be deployed to a production environment.</a:t>
            </a:r>
          </a:p>
          <a:p>
            <a:pPr marL="742950" lvl="1" indent="-285750" algn="l">
              <a:buFont typeface="+mj-lt"/>
              <a:buAutoNum type="arabicPeriod"/>
            </a:pPr>
            <a:r>
              <a:rPr lang="en-US" sz="1500" b="0" i="0" dirty="0">
                <a:solidFill>
                  <a:srgbClr val="374151"/>
                </a:solidFill>
                <a:effectLst/>
                <a:latin typeface="Times New Roman" panose="02020603050405020304" pitchFamily="18" charset="0"/>
                <a:cs typeface="Times New Roman" panose="02020603050405020304" pitchFamily="18" charset="0"/>
              </a:rPr>
              <a:t>Prepare the model for deployment by converting it into a format suitable for deployment frameworks or libraries.</a:t>
            </a:r>
          </a:p>
          <a:p>
            <a:pPr marL="742950" lvl="1" indent="-285750" algn="l">
              <a:buFont typeface="+mj-lt"/>
              <a:buAutoNum type="arabicPeriod"/>
            </a:pPr>
            <a:r>
              <a:rPr lang="en-US" sz="1500" b="0" i="0" dirty="0">
                <a:solidFill>
                  <a:srgbClr val="374151"/>
                </a:solidFill>
                <a:effectLst/>
                <a:latin typeface="Times New Roman" panose="02020603050405020304" pitchFamily="18" charset="0"/>
                <a:cs typeface="Times New Roman" panose="02020603050405020304" pitchFamily="18" charset="0"/>
              </a:rPr>
              <a:t>Integrate the model into an application or system that can accept new chest X-ray or CT scan images and make predictions on their COVID-19 status.</a:t>
            </a:r>
          </a:p>
          <a:p>
            <a:r>
              <a:rPr lang="en-US" sz="1500" dirty="0">
                <a:latin typeface="Times New Roman" panose="02020603050405020304" pitchFamily="18" charset="0"/>
                <a:cs typeface="Times New Roman" panose="02020603050405020304" pitchFamily="18" charset="0"/>
              </a:rPr>
              <a:t/>
            </a:r>
            <a:br>
              <a:rPr lang="en-US" sz="1500" dirty="0">
                <a:latin typeface="Times New Roman" panose="02020603050405020304" pitchFamily="18" charset="0"/>
                <a:cs typeface="Times New Roman" panose="02020603050405020304" pitchFamily="18" charset="0"/>
              </a:rPr>
            </a:br>
            <a:endParaRPr lang="en-US" sz="1500"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24062" y="2514600"/>
            <a:ext cx="8143875" cy="4019550"/>
          </a:xfrm>
          <a:prstGeom prst="rect">
            <a:avLst/>
          </a:prstGeom>
        </p:spPr>
      </p:pic>
    </p:spTree>
    <p:extLst>
      <p:ext uri="{BB962C8B-B14F-4D97-AF65-F5344CB8AC3E}">
        <p14:creationId xmlns:p14="http://schemas.microsoft.com/office/powerpoint/2010/main" val="248506436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0FA30CB-69F0-E30C-C688-67FED86F1612}"/>
              </a:ext>
            </a:extLst>
          </p:cNvPr>
          <p:cNvSpPr>
            <a:spLocks noGrp="1"/>
          </p:cNvSpPr>
          <p:nvPr>
            <p:ph type="title"/>
          </p:nvPr>
        </p:nvSpPr>
        <p:spPr>
          <a:xfrm>
            <a:off x="609600" y="762000"/>
            <a:ext cx="9613861" cy="1080938"/>
          </a:xfrm>
        </p:spPr>
        <p:txBody>
          <a:bodyPr/>
          <a:lstStyle/>
          <a:p>
            <a:r>
              <a:rPr lang="en-US" dirty="0"/>
              <a:t>Algorithms Used(Features):</a:t>
            </a:r>
          </a:p>
        </p:txBody>
      </p:sp>
      <p:sp>
        <p:nvSpPr>
          <p:cNvPr id="7" name="Rectangle 6">
            <a:extLst>
              <a:ext uri="{FF2B5EF4-FFF2-40B4-BE49-F238E27FC236}">
                <a16:creationId xmlns:a16="http://schemas.microsoft.com/office/drawing/2014/main" xmlns="" id="{B742C96C-61C5-B19A-85AC-CE096CF55D98}"/>
              </a:ext>
            </a:extLst>
          </p:cNvPr>
          <p:cNvSpPr/>
          <p:nvPr/>
        </p:nvSpPr>
        <p:spPr>
          <a:xfrm>
            <a:off x="609600" y="2879458"/>
            <a:ext cx="8770033" cy="5078313"/>
          </a:xfrm>
          <a:prstGeom prst="rect">
            <a:avLst/>
          </a:prstGeom>
          <a:noFill/>
        </p:spPr>
        <p:txBody>
          <a:bodyPr wrap="square" lIns="91440" tIns="45720" rIns="91440" bIns="45720">
            <a:spAutoFit/>
          </a:bodyPr>
          <a:lstStyle/>
          <a:p>
            <a:pPr>
              <a:buFont typeface="Arial" pitchFamily="34" charset="0"/>
              <a:buChar char="•"/>
            </a:pPr>
            <a:r>
              <a:rPr lang="en-IN" b="1" dirty="0">
                <a:solidFill>
                  <a:schemeClr val="bg1"/>
                </a:solidFill>
              </a:rPr>
              <a:t> Machine learning Algorithms.</a:t>
            </a:r>
          </a:p>
          <a:p>
            <a:pPr>
              <a:buFont typeface="Arial" pitchFamily="34" charset="0"/>
              <a:buChar char="•"/>
            </a:pPr>
            <a:endParaRPr lang="en-IN" b="1" dirty="0">
              <a:solidFill>
                <a:schemeClr val="bg1"/>
              </a:solidFill>
            </a:endParaRPr>
          </a:p>
          <a:p>
            <a:pPr>
              <a:buFont typeface="Arial" pitchFamily="34" charset="0"/>
              <a:buChar char="•"/>
            </a:pPr>
            <a:r>
              <a:rPr lang="en-IN" b="1" dirty="0">
                <a:solidFill>
                  <a:schemeClr val="bg1"/>
                </a:solidFill>
              </a:rPr>
              <a:t> Deep learning models. </a:t>
            </a:r>
            <a:endParaRPr lang="en-US" b="1" dirty="0">
              <a:solidFill>
                <a:schemeClr val="bg1"/>
              </a:solidFill>
            </a:endParaRPr>
          </a:p>
          <a:p>
            <a:endParaRPr lang="en-US" b="1" dirty="0">
              <a:solidFill>
                <a:schemeClr val="bg1"/>
              </a:solidFill>
            </a:endParaRPr>
          </a:p>
          <a:p>
            <a:pPr>
              <a:buFont typeface="Arial" pitchFamily="34" charset="0"/>
              <a:buChar char="•"/>
            </a:pPr>
            <a:r>
              <a:rPr lang="en-US" b="1" dirty="0">
                <a:solidFill>
                  <a:schemeClr val="bg1"/>
                </a:solidFill>
              </a:rPr>
              <a:t> K nearest </a:t>
            </a:r>
            <a:r>
              <a:rPr lang="en-US" b="1" dirty="0" smtClean="0">
                <a:solidFill>
                  <a:schemeClr val="bg1"/>
                </a:solidFill>
              </a:rPr>
              <a:t>Neighbors.</a:t>
            </a:r>
            <a:endParaRPr lang="en-US" b="1" dirty="0">
              <a:solidFill>
                <a:schemeClr val="bg1"/>
              </a:solidFill>
            </a:endParaRPr>
          </a:p>
          <a:p>
            <a:endParaRPr lang="en-US" b="1" dirty="0">
              <a:solidFill>
                <a:schemeClr val="bg1"/>
              </a:solidFill>
            </a:endParaRPr>
          </a:p>
          <a:p>
            <a:pPr>
              <a:buFont typeface="Arial" pitchFamily="34" charset="0"/>
              <a:buChar char="•"/>
            </a:pPr>
            <a:r>
              <a:rPr lang="en-US" b="1" dirty="0">
                <a:solidFill>
                  <a:schemeClr val="bg1"/>
                </a:solidFill>
              </a:rPr>
              <a:t> Convolutional Neural Network.</a:t>
            </a:r>
          </a:p>
          <a:p>
            <a:pPr>
              <a:buFont typeface="Arial" pitchFamily="34" charset="0"/>
              <a:buChar char="•"/>
            </a:pPr>
            <a:endParaRPr lang="en-US" b="1" dirty="0">
              <a:solidFill>
                <a:schemeClr val="bg1"/>
              </a:solidFill>
            </a:endParaRPr>
          </a:p>
          <a:p>
            <a:pPr>
              <a:buFont typeface="Arial" pitchFamily="34" charset="0"/>
              <a:buChar char="•"/>
            </a:pPr>
            <a:r>
              <a:rPr lang="en-US" b="1" dirty="0">
                <a:solidFill>
                  <a:schemeClr val="bg1"/>
                </a:solidFill>
              </a:rPr>
              <a:t> </a:t>
            </a:r>
            <a:r>
              <a:rPr lang="en-US" b="1" dirty="0" smtClean="0">
                <a:solidFill>
                  <a:schemeClr val="bg1"/>
                </a:solidFill>
              </a:rPr>
              <a:t>XgBoost </a:t>
            </a:r>
            <a:r>
              <a:rPr lang="en-US" b="1" dirty="0">
                <a:solidFill>
                  <a:schemeClr val="bg1"/>
                </a:solidFill>
              </a:rPr>
              <a:t>Algorithm.</a:t>
            </a:r>
          </a:p>
          <a:p>
            <a:endParaRPr lang="en-US" b="1" dirty="0">
              <a:solidFill>
                <a:schemeClr val="bg1"/>
              </a:solidFill>
            </a:endParaRPr>
          </a:p>
          <a:p>
            <a:pPr>
              <a:buFont typeface="Arial" pitchFamily="34" charset="0"/>
              <a:buChar char="•"/>
            </a:pPr>
            <a:r>
              <a:rPr lang="en-US" b="1" dirty="0">
                <a:solidFill>
                  <a:schemeClr val="bg1"/>
                </a:solidFill>
              </a:rPr>
              <a:t> Random Forest.</a:t>
            </a:r>
          </a:p>
          <a:p>
            <a:endParaRPr lang="en-US" b="1" dirty="0">
              <a:solidFill>
                <a:schemeClr val="bg1"/>
              </a:solidFill>
            </a:endParaRPr>
          </a:p>
          <a:p>
            <a:endParaRPr lang="en-US" b="1" dirty="0">
              <a:solidFill>
                <a:schemeClr val="bg1"/>
              </a:solidFill>
            </a:endParaRPr>
          </a:p>
          <a:p>
            <a:endParaRPr lang="en-US" b="1" dirty="0">
              <a:solidFill>
                <a:schemeClr val="bg1"/>
              </a:solidFill>
            </a:endParaRPr>
          </a:p>
          <a:p>
            <a:endParaRPr lang="en-US" b="1" dirty="0">
              <a:solidFill>
                <a:schemeClr val="bg1"/>
              </a:solidFill>
            </a:endParaRPr>
          </a:p>
          <a:p>
            <a:endParaRPr lang="en-US" b="1" dirty="0">
              <a:solidFill>
                <a:schemeClr val="bg1"/>
              </a:solidFill>
            </a:endParaRPr>
          </a:p>
          <a:p>
            <a:endParaRPr lang="en-US" b="1" dirty="0">
              <a:solidFill>
                <a:schemeClr val="bg1"/>
              </a:solidFill>
            </a:endParaRPr>
          </a:p>
          <a:p>
            <a:endParaRPr lang="en-US" b="1" dirty="0">
              <a:solidFill>
                <a:schemeClr val="bg1"/>
              </a:solidFill>
            </a:endParaRPr>
          </a:p>
        </p:txBody>
      </p:sp>
    </p:spTree>
    <p:extLst>
      <p:ext uri="{BB962C8B-B14F-4D97-AF65-F5344CB8AC3E}">
        <p14:creationId xmlns:p14="http://schemas.microsoft.com/office/powerpoint/2010/main" val="249076411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F7E2F3E-42B0-9769-AC7B-8C412C4C8819}"/>
              </a:ext>
            </a:extLst>
          </p:cNvPr>
          <p:cNvSpPr>
            <a:spLocks noGrp="1"/>
          </p:cNvSpPr>
          <p:nvPr>
            <p:ph type="title"/>
          </p:nvPr>
        </p:nvSpPr>
        <p:spPr/>
        <p:txBody>
          <a:bodyPr/>
          <a:lstStyle/>
          <a:p>
            <a:r>
              <a:rPr lang="en-US" dirty="0"/>
              <a:t>Software Requirements:</a:t>
            </a:r>
          </a:p>
        </p:txBody>
      </p:sp>
      <p:sp>
        <p:nvSpPr>
          <p:cNvPr id="3" name="Content Placeholder 2">
            <a:extLst>
              <a:ext uri="{FF2B5EF4-FFF2-40B4-BE49-F238E27FC236}">
                <a16:creationId xmlns:a16="http://schemas.microsoft.com/office/drawing/2014/main" xmlns="" id="{73E7B15E-E010-7524-3760-73AFA082C4EE}"/>
              </a:ext>
            </a:extLst>
          </p:cNvPr>
          <p:cNvSpPr>
            <a:spLocks noGrp="1"/>
          </p:cNvSpPr>
          <p:nvPr>
            <p:ph idx="1"/>
          </p:nvPr>
        </p:nvSpPr>
        <p:spPr/>
        <p:txBody>
          <a:bodyPr/>
          <a:lstStyle/>
          <a:p>
            <a:r>
              <a:rPr lang="en-US" dirty="0">
                <a:solidFill>
                  <a:schemeClr val="bg1"/>
                </a:solidFill>
              </a:rPr>
              <a:t>Coding Language : python</a:t>
            </a:r>
          </a:p>
          <a:p>
            <a:r>
              <a:rPr lang="en-US" dirty="0">
                <a:solidFill>
                  <a:schemeClr val="bg1"/>
                </a:solidFill>
              </a:rPr>
              <a:t>Technologies: Machine learning, Deep learning</a:t>
            </a:r>
          </a:p>
          <a:p>
            <a:r>
              <a:rPr lang="en-US" dirty="0">
                <a:solidFill>
                  <a:schemeClr val="bg1"/>
                </a:solidFill>
              </a:rPr>
              <a:t>Operating System : Windows 11</a:t>
            </a:r>
          </a:p>
          <a:p>
            <a:r>
              <a:rPr lang="en-US" dirty="0">
                <a:solidFill>
                  <a:schemeClr val="bg1"/>
                </a:solidFill>
              </a:rPr>
              <a:t>Frontend : HTML, CSS, JSP, REACT JS</a:t>
            </a:r>
          </a:p>
          <a:p>
            <a:r>
              <a:rPr lang="en-US" dirty="0">
                <a:solidFill>
                  <a:schemeClr val="bg1"/>
                </a:solidFill>
              </a:rPr>
              <a:t>Backend : python </a:t>
            </a:r>
          </a:p>
          <a:p>
            <a:r>
              <a:rPr lang="en-US" dirty="0">
                <a:solidFill>
                  <a:schemeClr val="bg1"/>
                </a:solidFill>
              </a:rPr>
              <a:t>Frameworks: Flask.</a:t>
            </a:r>
          </a:p>
          <a:p>
            <a:r>
              <a:rPr lang="en-US" dirty="0">
                <a:solidFill>
                  <a:schemeClr val="bg1"/>
                </a:solidFill>
              </a:rPr>
              <a:t>DATABASE : Mongo DB</a:t>
            </a:r>
          </a:p>
          <a:p>
            <a:endParaRPr lang="en-US" dirty="0"/>
          </a:p>
        </p:txBody>
      </p:sp>
    </p:spTree>
    <p:extLst>
      <p:ext uri="{BB962C8B-B14F-4D97-AF65-F5344CB8AC3E}">
        <p14:creationId xmlns:p14="http://schemas.microsoft.com/office/powerpoint/2010/main" val="13842281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0461AE0-9A78-D462-AF5E-CB51681DFC18}"/>
              </a:ext>
            </a:extLst>
          </p:cNvPr>
          <p:cNvSpPr>
            <a:spLocks noGrp="1"/>
          </p:cNvSpPr>
          <p:nvPr>
            <p:ph type="title"/>
          </p:nvPr>
        </p:nvSpPr>
        <p:spPr/>
        <p:txBody>
          <a:bodyPr/>
          <a:lstStyle/>
          <a:p>
            <a:r>
              <a:rPr lang="en-US" dirty="0"/>
              <a:t>Hardware Requirements:</a:t>
            </a:r>
          </a:p>
        </p:txBody>
      </p:sp>
      <p:sp>
        <p:nvSpPr>
          <p:cNvPr id="3" name="Content Placeholder 2">
            <a:extLst>
              <a:ext uri="{FF2B5EF4-FFF2-40B4-BE49-F238E27FC236}">
                <a16:creationId xmlns:a16="http://schemas.microsoft.com/office/drawing/2014/main" xmlns="" id="{003A9DEE-DFB3-CA66-8DBE-17D8930ADD7B}"/>
              </a:ext>
            </a:extLst>
          </p:cNvPr>
          <p:cNvSpPr>
            <a:spLocks noGrp="1"/>
          </p:cNvSpPr>
          <p:nvPr>
            <p:ph idx="1"/>
          </p:nvPr>
        </p:nvSpPr>
        <p:spPr/>
        <p:txBody>
          <a:bodyPr>
            <a:normAutofit/>
          </a:bodyPr>
          <a:lstStyle/>
          <a:p>
            <a:r>
              <a:rPr lang="en-US" dirty="0">
                <a:solidFill>
                  <a:schemeClr val="bg1"/>
                </a:solidFill>
              </a:rPr>
              <a:t>Processor : Core-i5</a:t>
            </a:r>
          </a:p>
          <a:p>
            <a:r>
              <a:rPr lang="en-US" dirty="0">
                <a:solidFill>
                  <a:schemeClr val="bg1"/>
                </a:solidFill>
              </a:rPr>
              <a:t>Speed : 2.3 GHz</a:t>
            </a:r>
          </a:p>
          <a:p>
            <a:r>
              <a:rPr lang="en-US" dirty="0">
                <a:solidFill>
                  <a:schemeClr val="bg1"/>
                </a:solidFill>
              </a:rPr>
              <a:t>GPU support.</a:t>
            </a:r>
          </a:p>
          <a:p>
            <a:r>
              <a:rPr lang="en-US" dirty="0">
                <a:solidFill>
                  <a:schemeClr val="bg1"/>
                </a:solidFill>
              </a:rPr>
              <a:t>Ram : 8 GB</a:t>
            </a:r>
          </a:p>
          <a:p>
            <a:r>
              <a:rPr lang="en-US" dirty="0">
                <a:solidFill>
                  <a:schemeClr val="bg1"/>
                </a:solidFill>
              </a:rPr>
              <a:t>Hard Disk : 128 GB</a:t>
            </a:r>
          </a:p>
          <a:p>
            <a:r>
              <a:rPr lang="en-US" dirty="0">
                <a:solidFill>
                  <a:schemeClr val="bg1"/>
                </a:solidFill>
              </a:rPr>
              <a:t>Keyboard : Standard Windows Keyboard</a:t>
            </a:r>
          </a:p>
          <a:p>
            <a:r>
              <a:rPr lang="en-US" dirty="0">
                <a:solidFill>
                  <a:schemeClr val="bg1"/>
                </a:solidFill>
              </a:rPr>
              <a:t>Mouse : Two or Three button mouse</a:t>
            </a:r>
          </a:p>
          <a:p>
            <a:r>
              <a:rPr lang="en-US" dirty="0">
                <a:solidFill>
                  <a:schemeClr val="bg1"/>
                </a:solidFill>
              </a:rPr>
              <a:t>Monitor : LCD/LED</a:t>
            </a:r>
          </a:p>
        </p:txBody>
      </p:sp>
    </p:spTree>
    <p:extLst>
      <p:ext uri="{BB962C8B-B14F-4D97-AF65-F5344CB8AC3E}">
        <p14:creationId xmlns:p14="http://schemas.microsoft.com/office/powerpoint/2010/main" val="218260754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98AE92D-84C4-5FA4-7484-0D6EDE200CF8}"/>
              </a:ext>
            </a:extLst>
          </p:cNvPr>
          <p:cNvSpPr>
            <a:spLocks noGrp="1"/>
          </p:cNvSpPr>
          <p:nvPr>
            <p:ph type="title"/>
          </p:nvPr>
        </p:nvSpPr>
        <p:spPr/>
        <p:txBody>
          <a:bodyPr/>
          <a:lstStyle/>
          <a:p>
            <a:r>
              <a:rPr lang="en-US" dirty="0"/>
              <a:t>Architecture Diagram:</a:t>
            </a:r>
          </a:p>
        </p:txBody>
      </p:sp>
      <p:pic>
        <p:nvPicPr>
          <p:cNvPr id="5" name="Picture 4" descr="1cf9d8ef-2f76-40ef-8384-59d15d2e9bd6.jfif"/>
          <p:cNvPicPr>
            <a:picLocks noChangeAspect="1"/>
          </p:cNvPicPr>
          <p:nvPr/>
        </p:nvPicPr>
        <p:blipFill>
          <a:blip r:embed="rId2"/>
          <a:stretch>
            <a:fillRect/>
          </a:stretch>
        </p:blipFill>
        <p:spPr>
          <a:xfrm>
            <a:off x="1295400" y="2209800"/>
            <a:ext cx="8915400" cy="4282088"/>
          </a:xfrm>
          <a:prstGeom prst="rect">
            <a:avLst/>
          </a:prstGeom>
        </p:spPr>
      </p:pic>
    </p:spTree>
    <p:extLst>
      <p:ext uri="{BB962C8B-B14F-4D97-AF65-F5344CB8AC3E}">
        <p14:creationId xmlns:p14="http://schemas.microsoft.com/office/powerpoint/2010/main" val="314185407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RESULTS: (HOMEPAGE)</a:t>
            </a:r>
            <a:endParaRPr lang="en-IN" dirty="0"/>
          </a:p>
        </p:txBody>
      </p:sp>
      <p:pic>
        <p:nvPicPr>
          <p:cNvPr id="5" name="Content Placeholder 4"/>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204913" y="2414008"/>
            <a:ext cx="4754562" cy="3681992"/>
          </a:xfrm>
        </p:spPr>
      </p:pic>
      <p:pic>
        <p:nvPicPr>
          <p:cNvPr id="6" name="Content Placeholder 5"/>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400800" y="2414008"/>
            <a:ext cx="4754562" cy="3681992"/>
          </a:xfrm>
        </p:spPr>
      </p:pic>
    </p:spTree>
    <p:extLst>
      <p:ext uri="{BB962C8B-B14F-4D97-AF65-F5344CB8AC3E}">
        <p14:creationId xmlns:p14="http://schemas.microsoft.com/office/powerpoint/2010/main" val="23195498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TEST PAGE:</a:t>
            </a:r>
            <a:endParaRPr lang="en-IN" dirty="0"/>
          </a:p>
        </p:txBody>
      </p:sp>
      <p:pic>
        <p:nvPicPr>
          <p:cNvPr id="5" name="Content Placeholder 4"/>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204913" y="2704280"/>
            <a:ext cx="4754562" cy="3467920"/>
          </a:xfrm>
        </p:spPr>
      </p:pic>
      <p:pic>
        <p:nvPicPr>
          <p:cNvPr id="6" name="Content Placeholder 5"/>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230938" y="2704280"/>
            <a:ext cx="4754562" cy="3467920"/>
          </a:xfrm>
        </p:spPr>
      </p:pic>
    </p:spTree>
    <p:extLst>
      <p:ext uri="{BB962C8B-B14F-4D97-AF65-F5344CB8AC3E}">
        <p14:creationId xmlns:p14="http://schemas.microsoft.com/office/powerpoint/2010/main" val="118738393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SAMPLE TEST:</a:t>
            </a:r>
            <a:endParaRPr lang="en-IN" dirty="0"/>
          </a:p>
        </p:txBody>
      </p:sp>
      <p:pic>
        <p:nvPicPr>
          <p:cNvPr id="5" name="Content Placeholder 4"/>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905000" y="3105406"/>
            <a:ext cx="3581400" cy="2838194"/>
          </a:xfrm>
        </p:spPr>
      </p:pic>
      <p:pic>
        <p:nvPicPr>
          <p:cNvPr id="6" name="Content Placeholder 5"/>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0" y="3105406"/>
            <a:ext cx="3581400" cy="2838194"/>
          </a:xfrm>
        </p:spPr>
      </p:pic>
    </p:spTree>
    <p:extLst>
      <p:ext uri="{BB962C8B-B14F-4D97-AF65-F5344CB8AC3E}">
        <p14:creationId xmlns:p14="http://schemas.microsoft.com/office/powerpoint/2010/main" val="229608830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TEST RESULT:</a:t>
            </a:r>
            <a:endParaRPr lang="en-IN"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90800" y="2057400"/>
            <a:ext cx="6491705" cy="4648371"/>
          </a:xfrm>
        </p:spPr>
      </p:pic>
    </p:spTree>
    <p:extLst>
      <p:ext uri="{BB962C8B-B14F-4D97-AF65-F5344CB8AC3E}">
        <p14:creationId xmlns:p14="http://schemas.microsoft.com/office/powerpoint/2010/main" val="410617778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357961F-F511-231A-AAAC-730520000B9C}"/>
              </a:ext>
            </a:extLst>
          </p:cNvPr>
          <p:cNvSpPr>
            <a:spLocks noGrp="1"/>
          </p:cNvSpPr>
          <p:nvPr>
            <p:ph type="title"/>
          </p:nvPr>
        </p:nvSpPr>
        <p:spPr/>
        <p:txBody>
          <a:bodyPr/>
          <a:lstStyle/>
          <a:p>
            <a:r>
              <a:rPr lang="en-US" dirty="0"/>
              <a:t>Challenges:</a:t>
            </a:r>
          </a:p>
        </p:txBody>
      </p:sp>
      <p:sp>
        <p:nvSpPr>
          <p:cNvPr id="3" name="Content Placeholder 2">
            <a:extLst>
              <a:ext uri="{FF2B5EF4-FFF2-40B4-BE49-F238E27FC236}">
                <a16:creationId xmlns:a16="http://schemas.microsoft.com/office/drawing/2014/main" xmlns="" id="{9E375813-64C6-E87E-A255-ABD95624F4AA}"/>
              </a:ext>
            </a:extLst>
          </p:cNvPr>
          <p:cNvSpPr>
            <a:spLocks noGrp="1"/>
          </p:cNvSpPr>
          <p:nvPr>
            <p:ph idx="1"/>
          </p:nvPr>
        </p:nvSpPr>
        <p:spPr/>
        <p:txBody>
          <a:bodyPr/>
          <a:lstStyle/>
          <a:p>
            <a:r>
              <a:rPr lang="en-IN" dirty="0">
                <a:solidFill>
                  <a:schemeClr val="bg1"/>
                </a:solidFill>
              </a:rPr>
              <a:t>Image preprocessing.</a:t>
            </a:r>
          </a:p>
          <a:p>
            <a:r>
              <a:rPr lang="en-IN" dirty="0">
                <a:solidFill>
                  <a:schemeClr val="bg1"/>
                </a:solidFill>
              </a:rPr>
              <a:t>Scalability problems.</a:t>
            </a:r>
          </a:p>
          <a:p>
            <a:r>
              <a:rPr lang="en-IN" dirty="0">
                <a:solidFill>
                  <a:schemeClr val="bg1"/>
                </a:solidFill>
              </a:rPr>
              <a:t>Data collection.</a:t>
            </a:r>
          </a:p>
          <a:p>
            <a:r>
              <a:rPr lang="en-IN" dirty="0">
                <a:solidFill>
                  <a:schemeClr val="bg1"/>
                </a:solidFill>
              </a:rPr>
              <a:t>Data Preprocessing .</a:t>
            </a:r>
          </a:p>
          <a:p>
            <a:r>
              <a:rPr lang="en-IN" dirty="0">
                <a:solidFill>
                  <a:schemeClr val="bg1"/>
                </a:solidFill>
              </a:rPr>
              <a:t>Improveing efficiency.</a:t>
            </a:r>
          </a:p>
          <a:p>
            <a:r>
              <a:rPr lang="en-IN" dirty="0">
                <a:solidFill>
                  <a:schemeClr val="bg1"/>
                </a:solidFill>
              </a:rPr>
              <a:t>Optimizing solution.</a:t>
            </a:r>
            <a:endParaRPr lang="en-US" dirty="0">
              <a:solidFill>
                <a:schemeClr val="bg1"/>
              </a:solidFill>
            </a:endParaRPr>
          </a:p>
          <a:p>
            <a:r>
              <a:rPr lang="en-US" dirty="0">
                <a:solidFill>
                  <a:schemeClr val="bg1"/>
                </a:solidFill>
              </a:rPr>
              <a:t>Lack of </a:t>
            </a:r>
            <a:r>
              <a:rPr lang="en-US" dirty="0" smtClean="0">
                <a:solidFill>
                  <a:schemeClr val="bg1"/>
                </a:solidFill>
              </a:rPr>
              <a:t>Domain </a:t>
            </a:r>
            <a:r>
              <a:rPr lang="en-US" dirty="0">
                <a:solidFill>
                  <a:schemeClr val="bg1"/>
                </a:solidFill>
              </a:rPr>
              <a:t>Knowledge.</a:t>
            </a:r>
            <a:endParaRPr lang="en-IN" dirty="0">
              <a:solidFill>
                <a:schemeClr val="bg1"/>
              </a:solidFill>
            </a:endParaRPr>
          </a:p>
        </p:txBody>
      </p:sp>
    </p:spTree>
    <p:extLst>
      <p:ext uri="{BB962C8B-B14F-4D97-AF65-F5344CB8AC3E}">
        <p14:creationId xmlns:p14="http://schemas.microsoft.com/office/powerpoint/2010/main" val="1580594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94191EE-CCB8-19A1-DE3F-7E3DA39512AA}"/>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xmlns="" id="{7DE03328-891F-33B7-CAB0-C379BA7626BA}"/>
              </a:ext>
            </a:extLst>
          </p:cNvPr>
          <p:cNvSpPr>
            <a:spLocks noGrp="1"/>
          </p:cNvSpPr>
          <p:nvPr>
            <p:ph idx="1"/>
          </p:nvPr>
        </p:nvSpPr>
        <p:spPr>
          <a:xfrm>
            <a:off x="685800" y="2057400"/>
            <a:ext cx="9613861" cy="3599316"/>
          </a:xfrm>
        </p:spPr>
        <p:txBody>
          <a:bodyPr>
            <a:noAutofit/>
          </a:bodyPr>
          <a:lstStyle/>
          <a:p>
            <a:pPr marL="0" indent="0" algn="just">
              <a:buNone/>
            </a:pPr>
            <a:r>
              <a:rPr lang="en-US" sz="2800" dirty="0">
                <a:solidFill>
                  <a:schemeClr val="bg1"/>
                </a:solidFill>
              </a:rPr>
              <a:t>The main objective of this project was to create a system that would predict more than one disease and do so with high accuracy. Because of this project the user doesn’t need to traverse different websites which saves time as well. Diseases if predicted early can increase your life expectancy as well as save you from financial troubles. For this purpose, we have used various machine learning algorithms like Random Forest, </a:t>
            </a:r>
            <a:r>
              <a:rPr lang="en-US" sz="2800" dirty="0" err="1">
                <a:solidFill>
                  <a:schemeClr val="bg1"/>
                </a:solidFill>
              </a:rPr>
              <a:t>XGBoost</a:t>
            </a:r>
            <a:r>
              <a:rPr lang="en-US" sz="2800" dirty="0">
                <a:solidFill>
                  <a:schemeClr val="bg1"/>
                </a:solidFill>
              </a:rPr>
              <a:t>, and K nearest neighbor (KNN) ,CNN Architecture to achieve maximum accuracy.</a:t>
            </a:r>
            <a:endParaRPr lang="en-IN" sz="2800" dirty="0">
              <a:solidFill>
                <a:schemeClr val="bg1"/>
              </a:solidFill>
            </a:endParaRPr>
          </a:p>
        </p:txBody>
      </p:sp>
    </p:spTree>
    <p:extLst>
      <p:ext uri="{BB962C8B-B14F-4D97-AF65-F5344CB8AC3E}">
        <p14:creationId xmlns:p14="http://schemas.microsoft.com/office/powerpoint/2010/main" val="262046686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6708692-3581-D2EF-6A9C-E468CB00EA47}"/>
              </a:ext>
            </a:extLst>
          </p:cNvPr>
          <p:cNvSpPr>
            <a:spLocks noGrp="1"/>
          </p:cNvSpPr>
          <p:nvPr>
            <p:ph type="title"/>
          </p:nvPr>
        </p:nvSpPr>
        <p:spPr/>
        <p:txBody>
          <a:bodyPr/>
          <a:lstStyle/>
          <a:p>
            <a:r>
              <a:rPr lang="en-US" b="1" dirty="0"/>
              <a:t>Further Improvements 📈</a:t>
            </a:r>
            <a:r>
              <a:rPr lang="en-US" dirty="0"/>
              <a:t>:</a:t>
            </a:r>
          </a:p>
        </p:txBody>
      </p:sp>
      <p:sp>
        <p:nvSpPr>
          <p:cNvPr id="3" name="Content Placeholder 2">
            <a:extLst>
              <a:ext uri="{FF2B5EF4-FFF2-40B4-BE49-F238E27FC236}">
                <a16:creationId xmlns:a16="http://schemas.microsoft.com/office/drawing/2014/main" xmlns="" id="{E450CB3B-63D6-5A2C-A7B5-C19E437D8B21}"/>
              </a:ext>
            </a:extLst>
          </p:cNvPr>
          <p:cNvSpPr>
            <a:spLocks noGrp="1"/>
          </p:cNvSpPr>
          <p:nvPr>
            <p:ph idx="1"/>
          </p:nvPr>
        </p:nvSpPr>
        <p:spPr/>
        <p:txBody>
          <a:bodyPr>
            <a:normAutofit/>
          </a:bodyPr>
          <a:lstStyle/>
          <a:p>
            <a:pPr>
              <a:buNone/>
            </a:pPr>
            <a:endParaRPr lang="en-US" b="1" dirty="0">
              <a:solidFill>
                <a:schemeClr val="bg1"/>
              </a:solidFill>
            </a:endParaRPr>
          </a:p>
          <a:p>
            <a:r>
              <a:rPr lang="en-US" dirty="0">
                <a:solidFill>
                  <a:schemeClr val="bg1"/>
                </a:solidFill>
              </a:rPr>
              <a:t>This was my first big project so there are lot of things to improve upon</a:t>
            </a:r>
          </a:p>
          <a:p>
            <a:r>
              <a:rPr lang="en-US" dirty="0">
                <a:solidFill>
                  <a:schemeClr val="bg1"/>
                </a:solidFill>
              </a:rPr>
              <a:t>CSS code is totally messed up  (some code in file and some inline)</a:t>
            </a:r>
          </a:p>
          <a:p>
            <a:r>
              <a:rPr lang="en-US" dirty="0">
                <a:solidFill>
                  <a:schemeClr val="bg1"/>
                </a:solidFill>
              </a:rPr>
              <a:t>Frontend can be made more nicer (PS: I suck at frontend development) </a:t>
            </a:r>
          </a:p>
          <a:p>
            <a:r>
              <a:rPr lang="en-US" dirty="0">
                <a:solidFill>
                  <a:schemeClr val="bg1"/>
                </a:solidFill>
              </a:rPr>
              <a:t>More data can be collected manually via web scrapping to make the system more accurate </a:t>
            </a:r>
          </a:p>
          <a:p>
            <a:r>
              <a:rPr lang="en-US" dirty="0">
                <a:solidFill>
                  <a:schemeClr val="bg1"/>
                </a:solidFill>
              </a:rPr>
              <a:t>Modularized code can be written instead of writing in </a:t>
            </a:r>
            <a:r>
              <a:rPr lang="en-US" dirty="0" err="1">
                <a:solidFill>
                  <a:schemeClr val="bg1"/>
                </a:solidFill>
              </a:rPr>
              <a:t>Jupyter</a:t>
            </a:r>
            <a:r>
              <a:rPr lang="en-US" dirty="0">
                <a:solidFill>
                  <a:schemeClr val="bg1"/>
                </a:solidFill>
              </a:rPr>
              <a:t> Notebooks (will follow this in upcoming projects)</a:t>
            </a:r>
          </a:p>
        </p:txBody>
      </p:sp>
    </p:spTree>
    <p:extLst>
      <p:ext uri="{BB962C8B-B14F-4D97-AF65-F5344CB8AC3E}">
        <p14:creationId xmlns:p14="http://schemas.microsoft.com/office/powerpoint/2010/main" val="51166193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Future Scope: </a:t>
            </a:r>
          </a:p>
        </p:txBody>
      </p:sp>
      <p:sp>
        <p:nvSpPr>
          <p:cNvPr id="3" name="Content Placeholder 2"/>
          <p:cNvSpPr>
            <a:spLocks noGrp="1"/>
          </p:cNvSpPr>
          <p:nvPr>
            <p:ph idx="1"/>
          </p:nvPr>
        </p:nvSpPr>
        <p:spPr/>
        <p:txBody>
          <a:bodyPr>
            <a:normAutofit/>
          </a:bodyPr>
          <a:lstStyle/>
          <a:p>
            <a:r>
              <a:rPr lang="en-US" sz="2000" dirty="0">
                <a:solidFill>
                  <a:schemeClr val="bg1"/>
                </a:solidFill>
              </a:rPr>
              <a:t> In the future we can add more diseases in the existing API.</a:t>
            </a:r>
          </a:p>
          <a:p>
            <a:r>
              <a:rPr lang="en-US" sz="2000" dirty="0">
                <a:solidFill>
                  <a:schemeClr val="bg1"/>
                </a:solidFill>
              </a:rPr>
              <a:t> We can try to improve the accuracy of prediction in order to decrease the mortality rate.</a:t>
            </a:r>
          </a:p>
          <a:p>
            <a:r>
              <a:rPr lang="en-US" sz="2000" dirty="0">
                <a:solidFill>
                  <a:schemeClr val="bg1"/>
                </a:solidFill>
              </a:rPr>
              <a:t>Try to make the system user-friendly and provide a </a:t>
            </a:r>
            <a:r>
              <a:rPr lang="en-US" sz="2000" dirty="0" err="1">
                <a:solidFill>
                  <a:schemeClr val="bg1"/>
                </a:solidFill>
              </a:rPr>
              <a:t>chatbot</a:t>
            </a:r>
            <a:r>
              <a:rPr lang="en-US" sz="2000" dirty="0">
                <a:solidFill>
                  <a:schemeClr val="bg1"/>
                </a:solidFill>
              </a:rPr>
              <a:t> for normal queries.</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3424" y="803538"/>
            <a:ext cx="4119576" cy="628377"/>
          </a:xfrm>
          <a:prstGeom prst="rect">
            <a:avLst/>
          </a:prstGeom>
        </p:spPr>
        <p:txBody>
          <a:bodyPr vert="horz" wrap="square" lIns="0" tIns="12700" rIns="0" bIns="0" rtlCol="0">
            <a:spAutoFit/>
          </a:bodyPr>
          <a:lstStyle/>
          <a:p>
            <a:pPr marL="12700">
              <a:lnSpc>
                <a:spcPct val="100000"/>
              </a:lnSpc>
              <a:spcBef>
                <a:spcPts val="100"/>
              </a:spcBef>
            </a:pPr>
            <a:r>
              <a:rPr u="heavy" spc="-5" dirty="0" err="1">
                <a:uFill>
                  <a:solidFill>
                    <a:srgbClr val="000000"/>
                  </a:solidFill>
                </a:uFill>
              </a:rPr>
              <a:t>Ref</a:t>
            </a:r>
            <a:r>
              <a:rPr lang="en-US" u="heavy" spc="-5" dirty="0" err="1">
                <a:uFill>
                  <a:solidFill>
                    <a:srgbClr val="000000"/>
                  </a:solidFill>
                </a:uFill>
              </a:rPr>
              <a:t>Erences</a:t>
            </a:r>
            <a:r>
              <a:rPr lang="en-US" u="heavy" spc="-5" dirty="0">
                <a:uFill>
                  <a:solidFill>
                    <a:srgbClr val="000000"/>
                  </a:solidFill>
                </a:uFill>
              </a:rPr>
              <a:t>:</a:t>
            </a:r>
            <a:endParaRPr u="heavy" spc="-5" dirty="0">
              <a:uFill>
                <a:solidFill>
                  <a:srgbClr val="000000"/>
                </a:solidFill>
              </a:uFill>
            </a:endParaRPr>
          </a:p>
        </p:txBody>
      </p:sp>
      <p:sp>
        <p:nvSpPr>
          <p:cNvPr id="4" name="TextBox 3"/>
          <p:cNvSpPr txBox="1"/>
          <p:nvPr/>
        </p:nvSpPr>
        <p:spPr>
          <a:xfrm>
            <a:off x="914400" y="2610973"/>
            <a:ext cx="9677400" cy="3693319"/>
          </a:xfrm>
          <a:prstGeom prst="rect">
            <a:avLst/>
          </a:prstGeom>
          <a:noFill/>
        </p:spPr>
        <p:txBody>
          <a:bodyPr wrap="square" rtlCol="0">
            <a:spAutoFit/>
          </a:bodyPr>
          <a:lstStyle/>
          <a:p>
            <a:r>
              <a:rPr lang="en-US" dirty="0">
                <a:solidFill>
                  <a:schemeClr val="bg1"/>
                </a:solidFill>
              </a:rPr>
              <a:t>[1] </a:t>
            </a:r>
            <a:r>
              <a:rPr lang="en-US" dirty="0" err="1">
                <a:solidFill>
                  <a:schemeClr val="bg1"/>
                </a:solidFill>
              </a:rPr>
              <a:t>Priyanka</a:t>
            </a:r>
            <a:r>
              <a:rPr lang="en-US" dirty="0">
                <a:solidFill>
                  <a:schemeClr val="bg1"/>
                </a:solidFill>
              </a:rPr>
              <a:t> Sonar, Prof. K. </a:t>
            </a:r>
            <a:r>
              <a:rPr lang="en-US" dirty="0" err="1">
                <a:solidFill>
                  <a:schemeClr val="bg1"/>
                </a:solidFill>
              </a:rPr>
              <a:t>JayaMalini</a:t>
            </a:r>
            <a:r>
              <a:rPr lang="en-US" dirty="0">
                <a:solidFill>
                  <a:schemeClr val="bg1"/>
                </a:solidFill>
              </a:rPr>
              <a:t>,” Cancer PREDICTION USING DIFFERENT MACHINE LEARNING APPROACHES”, 2019 IEEE ,3rd International Conference on Computing Methodologies and Communication (ICCMC)</a:t>
            </a:r>
          </a:p>
          <a:p>
            <a:endParaRPr lang="en-US" dirty="0">
              <a:solidFill>
                <a:schemeClr val="bg1"/>
              </a:solidFill>
            </a:endParaRPr>
          </a:p>
          <a:p>
            <a:r>
              <a:rPr lang="en-US" dirty="0">
                <a:solidFill>
                  <a:schemeClr val="bg1"/>
                </a:solidFill>
              </a:rPr>
              <a:t>[2] Archana Singh ,Rakesh Kumar, “Kidney Disease Prediction Using </a:t>
            </a:r>
            <a:r>
              <a:rPr lang="en-US" dirty="0" err="1">
                <a:solidFill>
                  <a:schemeClr val="bg1"/>
                </a:solidFill>
              </a:rPr>
              <a:t>MachinLearning</a:t>
            </a:r>
            <a:r>
              <a:rPr lang="en-US" dirty="0">
                <a:solidFill>
                  <a:schemeClr val="bg1"/>
                </a:solidFill>
              </a:rPr>
              <a:t> Algorithms”, 2020 IEEE, International Conference on Electrical and Electronics Engineering (ICE3).</a:t>
            </a:r>
          </a:p>
          <a:p>
            <a:endParaRPr lang="en-US" dirty="0">
              <a:solidFill>
                <a:schemeClr val="bg1"/>
              </a:solidFill>
            </a:endParaRPr>
          </a:p>
          <a:p>
            <a:r>
              <a:rPr lang="en-US" dirty="0">
                <a:solidFill>
                  <a:schemeClr val="bg1"/>
                </a:solidFill>
              </a:rPr>
              <a:t>[3] </a:t>
            </a:r>
            <a:r>
              <a:rPr lang="en-US" dirty="0" err="1">
                <a:solidFill>
                  <a:schemeClr val="bg1"/>
                </a:solidFill>
              </a:rPr>
              <a:t>A.Sivasangari</a:t>
            </a:r>
            <a:r>
              <a:rPr lang="en-US" dirty="0">
                <a:solidFill>
                  <a:schemeClr val="bg1"/>
                </a:solidFill>
              </a:rPr>
              <a:t>, </a:t>
            </a:r>
            <a:r>
              <a:rPr lang="en-US" dirty="0" err="1">
                <a:solidFill>
                  <a:schemeClr val="bg1"/>
                </a:solidFill>
              </a:rPr>
              <a:t>Baddigam</a:t>
            </a:r>
            <a:r>
              <a:rPr lang="en-US" dirty="0">
                <a:solidFill>
                  <a:schemeClr val="bg1"/>
                </a:solidFill>
              </a:rPr>
              <a:t> Jaya Krishna </a:t>
            </a:r>
            <a:r>
              <a:rPr lang="en-US" dirty="0" err="1">
                <a:solidFill>
                  <a:schemeClr val="bg1"/>
                </a:solidFill>
              </a:rPr>
              <a:t>Reddy,Annamareddy</a:t>
            </a:r>
            <a:r>
              <a:rPr lang="en-US" dirty="0">
                <a:solidFill>
                  <a:schemeClr val="bg1"/>
                </a:solidFill>
              </a:rPr>
              <a:t> </a:t>
            </a:r>
            <a:r>
              <a:rPr lang="en-US" dirty="0" err="1">
                <a:solidFill>
                  <a:schemeClr val="bg1"/>
                </a:solidFill>
              </a:rPr>
              <a:t>Kiran</a:t>
            </a:r>
            <a:r>
              <a:rPr lang="en-US" dirty="0">
                <a:solidFill>
                  <a:schemeClr val="bg1"/>
                </a:solidFill>
              </a:rPr>
              <a:t>, </a:t>
            </a:r>
            <a:r>
              <a:rPr lang="en-US" dirty="0" err="1">
                <a:solidFill>
                  <a:schemeClr val="bg1"/>
                </a:solidFill>
              </a:rPr>
              <a:t>P.Ajitha</a:t>
            </a:r>
            <a:r>
              <a:rPr lang="en-US" dirty="0">
                <a:solidFill>
                  <a:schemeClr val="bg1"/>
                </a:solidFill>
              </a:rPr>
              <a:t>,” Diagnosis of Liver Disease using Machine Learning Models” 2020 Fourth International Conference on I-SMAC (</a:t>
            </a:r>
            <a:r>
              <a:rPr lang="en-US" dirty="0" err="1">
                <a:solidFill>
                  <a:schemeClr val="bg1"/>
                </a:solidFill>
              </a:rPr>
              <a:t>IoT</a:t>
            </a:r>
            <a:r>
              <a:rPr lang="en-US" dirty="0">
                <a:solidFill>
                  <a:schemeClr val="bg1"/>
                </a:solidFill>
              </a:rPr>
              <a:t> in Social, Mobile, Analytics and Cloud) (I-SMAC)</a:t>
            </a:r>
          </a:p>
          <a:p>
            <a:endParaRPr lang="en-US" dirty="0">
              <a:solidFill>
                <a:schemeClr val="bg1"/>
              </a:solidFill>
            </a:endParaRPr>
          </a:p>
          <a:p>
            <a:endParaRPr lang="en-US" dirty="0">
              <a:solidFill>
                <a:schemeClr val="bg1"/>
              </a:solidFill>
            </a:endParaRPr>
          </a:p>
          <a:p>
            <a:endParaRPr lang="en-US"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27B8E186-3B81-3605-5CCC-7A678BD8ECD8}"/>
              </a:ext>
            </a:extLst>
          </p:cNvPr>
          <p:cNvSpPr txBox="1"/>
          <p:nvPr/>
        </p:nvSpPr>
        <p:spPr>
          <a:xfrm>
            <a:off x="457200" y="197346"/>
            <a:ext cx="11582400" cy="3970318"/>
          </a:xfrm>
          <a:prstGeom prst="rect">
            <a:avLst/>
          </a:prstGeom>
          <a:noFill/>
        </p:spPr>
        <p:txBody>
          <a:bodyPr wrap="square">
            <a:spAutoFit/>
          </a:bodyPr>
          <a:lstStyle/>
          <a:p>
            <a:r>
              <a:rPr lang="en-US" sz="1800" dirty="0">
                <a:solidFill>
                  <a:schemeClr val="bg1"/>
                </a:solidFill>
              </a:rPr>
              <a:t>[4]  A. M. Ismael and A. </a:t>
            </a:r>
            <a:r>
              <a:rPr lang="en-US" sz="1800" dirty="0" err="1">
                <a:solidFill>
                  <a:schemeClr val="bg1"/>
                </a:solidFill>
              </a:rPr>
              <a:t>Şengür</a:t>
            </a:r>
            <a:r>
              <a:rPr lang="en-US" sz="1800" dirty="0">
                <a:solidFill>
                  <a:schemeClr val="bg1"/>
                </a:solidFill>
              </a:rPr>
              <a:t>, “Deep learning approaches for COVID-19 detection based on chest X-ray images,” </a:t>
            </a:r>
            <a:r>
              <a:rPr lang="en-US" sz="1800" i="1" dirty="0">
                <a:solidFill>
                  <a:schemeClr val="bg1"/>
                </a:solidFill>
              </a:rPr>
              <a:t>Expert Systems with Applications</a:t>
            </a:r>
            <a:r>
              <a:rPr lang="en-US" sz="1800" dirty="0">
                <a:solidFill>
                  <a:schemeClr val="bg1"/>
                </a:solidFill>
              </a:rPr>
              <a:t>, vol. 164, Article ID 114054, 2021.</a:t>
            </a:r>
            <a:br>
              <a:rPr lang="en-US" sz="1800" dirty="0">
                <a:solidFill>
                  <a:schemeClr val="bg1"/>
                </a:solidFill>
              </a:rPr>
            </a:br>
            <a:r>
              <a:rPr lang="en-US" sz="1800" dirty="0">
                <a:solidFill>
                  <a:schemeClr val="bg1"/>
                </a:solidFill>
              </a:rPr>
              <a:t>[7]  E. E.-D. </a:t>
            </a:r>
            <a:r>
              <a:rPr lang="en-US" sz="1800" dirty="0" err="1">
                <a:solidFill>
                  <a:schemeClr val="bg1"/>
                </a:solidFill>
              </a:rPr>
              <a:t>Hemdan</a:t>
            </a:r>
            <a:r>
              <a:rPr lang="en-US" sz="1800" dirty="0">
                <a:solidFill>
                  <a:schemeClr val="bg1"/>
                </a:solidFill>
              </a:rPr>
              <a:t>, M. A. </a:t>
            </a:r>
            <a:r>
              <a:rPr lang="en-US" sz="1800" dirty="0" err="1">
                <a:solidFill>
                  <a:schemeClr val="bg1"/>
                </a:solidFill>
              </a:rPr>
              <a:t>Shouman</a:t>
            </a:r>
            <a:r>
              <a:rPr lang="en-US" sz="1800" dirty="0">
                <a:solidFill>
                  <a:schemeClr val="bg1"/>
                </a:solidFill>
              </a:rPr>
              <a:t>, and M. E. J. A. P. A. </a:t>
            </a:r>
            <a:r>
              <a:rPr lang="en-US" sz="1800" dirty="0" err="1">
                <a:solidFill>
                  <a:schemeClr val="bg1"/>
                </a:solidFill>
              </a:rPr>
              <a:t>Karar</a:t>
            </a:r>
            <a:r>
              <a:rPr lang="en-US" sz="1800" dirty="0">
                <a:solidFill>
                  <a:schemeClr val="bg1"/>
                </a:solidFill>
              </a:rPr>
              <a:t>, </a:t>
            </a:r>
            <a:r>
              <a:rPr lang="en-US" sz="1800" i="1" dirty="0" err="1">
                <a:solidFill>
                  <a:schemeClr val="bg1"/>
                </a:solidFill>
              </a:rPr>
              <a:t>Covidx</a:t>
            </a:r>
            <a:r>
              <a:rPr lang="en-US" sz="1800" i="1" dirty="0">
                <a:solidFill>
                  <a:schemeClr val="bg1"/>
                </a:solidFill>
              </a:rPr>
              <a:t>-Net: A Framework of Deep Learning Classifiers to Diagnose Covid-19 in X-Ray Images</a:t>
            </a:r>
            <a:r>
              <a:rPr lang="en-US" sz="1800" dirty="0">
                <a:solidFill>
                  <a:schemeClr val="bg1"/>
                </a:solidFill>
              </a:rPr>
              <a:t>, </a:t>
            </a:r>
            <a:r>
              <a:rPr lang="en-US" sz="1800" dirty="0" err="1">
                <a:solidFill>
                  <a:schemeClr val="bg1"/>
                </a:solidFill>
              </a:rPr>
              <a:t>MedRxiv</a:t>
            </a:r>
            <a:r>
              <a:rPr lang="en-US" sz="1800" dirty="0">
                <a:solidFill>
                  <a:schemeClr val="bg1"/>
                </a:solidFill>
              </a:rPr>
              <a:t>, Cold Spring, NY, USA, 2020.</a:t>
            </a:r>
            <a:br>
              <a:rPr lang="en-US" sz="1800" dirty="0">
                <a:solidFill>
                  <a:schemeClr val="bg1"/>
                </a:solidFill>
              </a:rPr>
            </a:br>
            <a:r>
              <a:rPr lang="en-US" sz="1800" dirty="0">
                <a:solidFill>
                  <a:schemeClr val="bg1"/>
                </a:solidFill>
              </a:rPr>
              <a:t> </a:t>
            </a:r>
            <a:br>
              <a:rPr lang="en-US" sz="1800" dirty="0">
                <a:solidFill>
                  <a:schemeClr val="bg1"/>
                </a:solidFill>
              </a:rPr>
            </a:br>
            <a:r>
              <a:rPr lang="en-US" sz="1800" dirty="0">
                <a:solidFill>
                  <a:schemeClr val="bg1"/>
                </a:solidFill>
              </a:rPr>
              <a:t>[5] K. </a:t>
            </a:r>
            <a:r>
              <a:rPr lang="en-US" sz="1800" dirty="0" err="1">
                <a:solidFill>
                  <a:schemeClr val="bg1"/>
                </a:solidFill>
              </a:rPr>
              <a:t>Sahinbas</a:t>
            </a:r>
            <a:r>
              <a:rPr lang="en-US" sz="1800" dirty="0">
                <a:solidFill>
                  <a:schemeClr val="bg1"/>
                </a:solidFill>
              </a:rPr>
              <a:t> and F. O. </a:t>
            </a:r>
            <a:r>
              <a:rPr lang="en-US" sz="1800" dirty="0" err="1">
                <a:solidFill>
                  <a:schemeClr val="bg1"/>
                </a:solidFill>
              </a:rPr>
              <a:t>Catak</a:t>
            </a:r>
            <a:r>
              <a:rPr lang="en-US" sz="1800" dirty="0">
                <a:solidFill>
                  <a:schemeClr val="bg1"/>
                </a:solidFill>
              </a:rPr>
              <a:t>, “Transfer learning-based convolutional neural network for COVID-19 detection with X-ray images,” in </a:t>
            </a:r>
            <a:r>
              <a:rPr lang="en-US" sz="1800" i="1" dirty="0">
                <a:solidFill>
                  <a:schemeClr val="bg1"/>
                </a:solidFill>
              </a:rPr>
              <a:t>Data Science for COVID-19</a:t>
            </a:r>
            <a:r>
              <a:rPr lang="en-US" sz="1800" dirty="0">
                <a:solidFill>
                  <a:schemeClr val="bg1"/>
                </a:solidFill>
              </a:rPr>
              <a:t>, Elsevier, Amsterdam, Netherland, 2021.</a:t>
            </a:r>
            <a:br>
              <a:rPr lang="en-US" sz="1800" dirty="0">
                <a:solidFill>
                  <a:schemeClr val="bg1"/>
                </a:solidFill>
              </a:rPr>
            </a:br>
            <a:r>
              <a:rPr lang="en-US" sz="1800" dirty="0">
                <a:solidFill>
                  <a:schemeClr val="bg1"/>
                </a:solidFill>
              </a:rPr>
              <a:t> </a:t>
            </a:r>
            <a:br>
              <a:rPr lang="en-US" sz="1800" dirty="0">
                <a:solidFill>
                  <a:schemeClr val="bg1"/>
                </a:solidFill>
              </a:rPr>
            </a:br>
            <a:r>
              <a:rPr lang="en-US" sz="1800" dirty="0">
                <a:solidFill>
                  <a:schemeClr val="bg1"/>
                </a:solidFill>
              </a:rPr>
              <a:t>[6] A. K. Das, “Automatic COVID-19 detection from X-ray images using ensemble learning with convolutional neural network,” </a:t>
            </a:r>
            <a:r>
              <a:rPr lang="en-US" sz="1800" i="1" dirty="0">
                <a:solidFill>
                  <a:schemeClr val="bg1"/>
                </a:solidFill>
              </a:rPr>
              <a:t>Pattern Analysis and Applications</a:t>
            </a:r>
            <a:r>
              <a:rPr lang="en-US" sz="1800" dirty="0">
                <a:solidFill>
                  <a:schemeClr val="bg1"/>
                </a:solidFill>
              </a:rPr>
              <a:t>, vol. 24, pp. 1–14, 2021.</a:t>
            </a:r>
            <a:br>
              <a:rPr lang="en-US" sz="1800" dirty="0">
                <a:solidFill>
                  <a:schemeClr val="bg1"/>
                </a:solidFill>
              </a:rPr>
            </a:br>
            <a:r>
              <a:rPr lang="en-US" sz="1800" dirty="0">
                <a:solidFill>
                  <a:schemeClr val="bg1"/>
                </a:solidFill>
              </a:rPr>
              <a:t> </a:t>
            </a:r>
            <a:br>
              <a:rPr lang="en-US" sz="1800" dirty="0">
                <a:solidFill>
                  <a:schemeClr val="bg1"/>
                </a:solidFill>
              </a:rPr>
            </a:br>
            <a:r>
              <a:rPr lang="en-US" sz="1800" dirty="0">
                <a:solidFill>
                  <a:schemeClr val="bg1"/>
                </a:solidFill>
              </a:rPr>
              <a:t>[7] A. K. Jaiswal, P. Tiwari, V. K. Rathi, J. Qian, H. M. Pandey, and V. H. C. J. M. Albuquerque, </a:t>
            </a:r>
            <a:r>
              <a:rPr lang="en-US" sz="1800" i="1" dirty="0" err="1">
                <a:solidFill>
                  <a:schemeClr val="bg1"/>
                </a:solidFill>
              </a:rPr>
              <a:t>Covidpen</a:t>
            </a:r>
            <a:r>
              <a:rPr lang="en-US" sz="1800" i="1" dirty="0">
                <a:solidFill>
                  <a:schemeClr val="bg1"/>
                </a:solidFill>
              </a:rPr>
              <a:t>: A Novel Covid-19 Detection Model Using Chest X-Rays and Ct Scans</a:t>
            </a:r>
            <a:r>
              <a:rPr lang="en-US" sz="1800" dirty="0">
                <a:solidFill>
                  <a:schemeClr val="bg1"/>
                </a:solidFill>
              </a:rPr>
              <a:t>, </a:t>
            </a:r>
            <a:r>
              <a:rPr lang="en-US" sz="1800" dirty="0" err="1">
                <a:solidFill>
                  <a:schemeClr val="bg1"/>
                </a:solidFill>
              </a:rPr>
              <a:t>MedRxiv</a:t>
            </a:r>
            <a:r>
              <a:rPr lang="en-US" sz="1800" dirty="0">
                <a:solidFill>
                  <a:schemeClr val="bg1"/>
                </a:solidFill>
              </a:rPr>
              <a:t>, Cold Spring, NY, USA, 2020.</a:t>
            </a:r>
            <a:br>
              <a:rPr lang="en-US" sz="1800" dirty="0">
                <a:solidFill>
                  <a:schemeClr val="bg1"/>
                </a:solidFill>
              </a:rPr>
            </a:br>
            <a:endParaRPr lang="en-US" dirty="0"/>
          </a:p>
        </p:txBody>
      </p:sp>
    </p:spTree>
    <p:extLst>
      <p:ext uri="{BB962C8B-B14F-4D97-AF65-F5344CB8AC3E}">
        <p14:creationId xmlns:p14="http://schemas.microsoft.com/office/powerpoint/2010/main" val="225542843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766C360D-57AB-19C2-29BF-7869E7308D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extLst>
      <p:ext uri="{BB962C8B-B14F-4D97-AF65-F5344CB8AC3E}">
        <p14:creationId xmlns:p14="http://schemas.microsoft.com/office/powerpoint/2010/main" val="2848266296"/>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anded">
  <a:themeElements>
    <a:clrScheme name="Banded">
      <a:dk1>
        <a:srgbClr val="2C2C2C"/>
      </a:dk1>
      <a:lt1>
        <a:srgbClr val="FFFFFF"/>
      </a:lt1>
      <a:dk2>
        <a:srgbClr val="099BDD"/>
      </a:dk2>
      <a:lt2>
        <a:srgbClr val="F2F2F2"/>
      </a:lt2>
      <a:accent1>
        <a:srgbClr val="FFC000"/>
      </a:accent1>
      <a:accent2>
        <a:srgbClr val="A5D028"/>
      </a:accent2>
      <a:accent3>
        <a:srgbClr val="08CC78"/>
      </a:accent3>
      <a:accent4>
        <a:srgbClr val="F24099"/>
      </a:accent4>
      <a:accent5>
        <a:srgbClr val="828288"/>
      </a:accent5>
      <a:accent6>
        <a:srgbClr val="F56617"/>
      </a:accent6>
      <a:hlink>
        <a:srgbClr val="005DBA"/>
      </a:hlink>
      <a:folHlink>
        <a:srgbClr val="6C606A"/>
      </a:folHlink>
    </a:clrScheme>
    <a:fontScheme name="Banded">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nded">
      <a:fillStyleLst>
        <a:solidFill>
          <a:schemeClr val="phClr"/>
        </a:solidFill>
        <a:gradFill rotWithShape="1">
          <a:gsLst>
            <a:gs pos="0">
              <a:schemeClr val="phClr">
                <a:tint val="65000"/>
                <a:satMod val="120000"/>
                <a:lumMod val="107000"/>
              </a:schemeClr>
            </a:gs>
            <a:gs pos="50000">
              <a:schemeClr val="phClr">
                <a:tint val="70000"/>
                <a:satMod val="124000"/>
                <a:lumMod val="103000"/>
              </a:schemeClr>
            </a:gs>
            <a:gs pos="100000">
              <a:schemeClr val="phClr">
                <a:tint val="85000"/>
                <a:satMod val="120000"/>
                <a:lumMod val="100000"/>
              </a:schemeClr>
            </a:gs>
          </a:gsLst>
          <a:lin ang="5400000" scaled="0"/>
        </a:gradFill>
        <a:gradFill rotWithShape="1">
          <a:gsLst>
            <a:gs pos="0">
              <a:schemeClr val="phClr">
                <a:tint val="85000"/>
                <a:shade val="98000"/>
                <a:satMod val="110000"/>
                <a:lumMod val="103000"/>
              </a:schemeClr>
            </a:gs>
            <a:gs pos="50000">
              <a:schemeClr val="phClr">
                <a:shade val="85000"/>
                <a:satMod val="105000"/>
                <a:lumMod val="100000"/>
              </a:schemeClr>
            </a:gs>
            <a:gs pos="100000">
              <a:schemeClr val="phClr">
                <a:shade val="60000"/>
                <a:satMod val="12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15875" dir="5400000" algn="ctr" rotWithShape="0">
              <a:srgbClr val="000000">
                <a:alpha val="68000"/>
              </a:srgbClr>
            </a:outerShdw>
          </a:effectLst>
        </a:effectStyle>
        <a:effectStyle>
          <a:effectLst>
            <a:outerShdw blurRad="88900" dist="27940" dir="5400000" algn="ctr" rotWithShape="0">
              <a:srgbClr val="000000">
                <a:alpha val="63000"/>
              </a:srgbClr>
            </a:outerShdw>
          </a:effectLst>
        </a:effectStyle>
      </a:effectStyleLst>
      <a:bgFillStyleLst>
        <a:solidFill>
          <a:schemeClr val="phClr"/>
        </a:solidFill>
        <a:blipFill rotWithShape="1">
          <a:blip xmlns:r="http://schemas.openxmlformats.org/officeDocument/2006/relationships" r:embed="rId1">
            <a:duotone>
              <a:schemeClr val="phClr"/>
              <a:schemeClr val="phClr">
                <a:shade val="91000"/>
                <a:satMod val="105000"/>
              </a:schemeClr>
            </a:duotone>
          </a:blip>
          <a:tile tx="0" ty="0" sx="100000" sy="100000" flip="none" algn="tl"/>
        </a:blipFill>
        <a:gradFill rotWithShape="1">
          <a:gsLst>
            <a:gs pos="0">
              <a:schemeClr val="phClr">
                <a:tint val="100000"/>
                <a:shade val="0"/>
                <a:satMod val="100000"/>
              </a:schemeClr>
            </a:gs>
            <a:gs pos="100000">
              <a:schemeClr val="phClr">
                <a:shade val="10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Banded" id="{98DFF888-2449-4D28-977C-6306C017633E}" vid="{9792607F-9579-4224-82FF-9C88C3E1E53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TM03090430[[fn=Banded]]</Template>
  <TotalTime>2262</TotalTime>
  <Words>1312</Words>
  <Application>Microsoft Office PowerPoint</Application>
  <PresentationFormat>Widescreen</PresentationFormat>
  <Paragraphs>142</Paragraphs>
  <Slides>26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Arial</vt:lpstr>
      <vt:lpstr>Arial MT</vt:lpstr>
      <vt:lpstr>Calibri</vt:lpstr>
      <vt:lpstr>Corbel</vt:lpstr>
      <vt:lpstr>Times New Roman</vt:lpstr>
      <vt:lpstr>Wingdings</vt:lpstr>
      <vt:lpstr>Banded</vt:lpstr>
      <vt:lpstr>Dr. D. Y. Patil Institute of Technology</vt:lpstr>
      <vt:lpstr>CONTENTS:</vt:lpstr>
      <vt:lpstr>Introduction:</vt:lpstr>
      <vt:lpstr>Problem Statement:</vt:lpstr>
      <vt:lpstr>Objective: :</vt:lpstr>
      <vt:lpstr>LITERATURE SURVEY:</vt:lpstr>
      <vt:lpstr>PowerPoint Presentation</vt:lpstr>
      <vt:lpstr>METHODOLOGY:</vt:lpstr>
      <vt:lpstr>PowerPoint Presentation</vt:lpstr>
      <vt:lpstr>PowerPoint Presentation</vt:lpstr>
      <vt:lpstr>PowerPoint Presentation</vt:lpstr>
      <vt:lpstr>Algorithms Used(Features):</vt:lpstr>
      <vt:lpstr>Software Requirements:</vt:lpstr>
      <vt:lpstr>Hardware Requirements:</vt:lpstr>
      <vt:lpstr>Architecture Diagram:</vt:lpstr>
      <vt:lpstr>RESULTS: (HOMEPAGE)</vt:lpstr>
      <vt:lpstr>TEST PAGE:</vt:lpstr>
      <vt:lpstr>SAMPLE TEST:</vt:lpstr>
      <vt:lpstr>TEST RESULT:</vt:lpstr>
      <vt:lpstr>Challenges:</vt:lpstr>
      <vt:lpstr>Conclusion:</vt:lpstr>
      <vt:lpstr>Further Improvements 📈:</vt:lpstr>
      <vt:lpstr>Future Scope: </vt:lpstr>
      <vt:lpstr>RefErences:</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 Project Self Learning algorithm</dc:title>
  <dc:creator>sujay devne</dc:creator>
  <cp:lastModifiedBy>Microsoft account</cp:lastModifiedBy>
  <cp:revision>41</cp:revision>
  <dcterms:created xsi:type="dcterms:W3CDTF">2022-10-14T09:24:14Z</dcterms:created>
  <dcterms:modified xsi:type="dcterms:W3CDTF">2023-06-06T08:01:15Z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2022-09-21T00:00:00Z</vt:filetime>
  </property>
  <property fmtid="{D5CDD505-2E9C-101B-9397-08002B2CF9AE}" pid="3" name="Creator">
    <vt:lpwstr>Microsoft® PowerPoint® 2021</vt:lpwstr>
  </property>
  <property fmtid="{D5CDD505-2E9C-101B-9397-08002B2CF9AE}" pid="4" name="LastSaved">
    <vt:filetime>2022-10-14T00:00:00Z</vt:filetime>
  </property>
</Properties>
</file>