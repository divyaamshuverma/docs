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4687" r:id="rId1"/>
  </p:sldMasterIdLst>
  <p:notesMasterIdLst>
    <p:notesMasterId r:id="rId20"/>
  </p:notesMasterIdLst>
  <p:sldIdLst>
    <p:sldId id="256" r:id="rId2"/>
    <p:sldId id="278" r:id="rId3"/>
    <p:sldId id="258" r:id="rId4"/>
    <p:sldId id="257" r:id="rId5"/>
    <p:sldId id="260" r:id="rId6"/>
    <p:sldId id="285" r:id="rId7"/>
    <p:sldId id="284" r:id="rId8"/>
    <p:sldId id="274" r:id="rId9"/>
    <p:sldId id="279" r:id="rId10"/>
    <p:sldId id="280" r:id="rId11"/>
    <p:sldId id="276" r:id="rId12"/>
    <p:sldId id="281" r:id="rId13"/>
    <p:sldId id="277" r:id="rId14"/>
    <p:sldId id="282" r:id="rId15"/>
    <p:sldId id="283" r:id="rId16"/>
    <p:sldId id="266" r:id="rId17"/>
    <p:sldId id="286" r:id="rId18"/>
    <p:sldId id="287" r:id="rId19"/>
  </p:sldIdLst>
  <p:sldSz cx="12192000" cy="6858000"/>
  <p:notesSz cx="12192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53" autoAdjust="0"/>
    <p:restoredTop sz="94643"/>
  </p:normalViewPr>
  <p:slideViewPr>
    <p:cSldViewPr>
      <p:cViewPr varScale="1">
        <p:scale>
          <a:sx n="83" d="100"/>
          <a:sy n="83" d="100"/>
        </p:scale>
        <p:origin x="624"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ECF7C63E-8AF7-42A8-9815-761D8E264F4A}" type="datetimeFigureOut">
              <a:rPr lang="en-IN" smtClean="0"/>
              <a:pPr/>
              <a:t>24-11-2022</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8B929154-9358-4A02-BA3E-CCEF716C84DF}" type="slidenum">
              <a:rPr lang="en-IN" smtClean="0"/>
              <a:pPr/>
              <a:t>‹#›</a:t>
            </a:fld>
            <a:endParaRPr lang="en-IN"/>
          </a:p>
        </p:txBody>
      </p:sp>
    </p:spTree>
    <p:extLst>
      <p:ext uri="{BB962C8B-B14F-4D97-AF65-F5344CB8AC3E}">
        <p14:creationId xmlns:p14="http://schemas.microsoft.com/office/powerpoint/2010/main" val="4198994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65759" y="2166364"/>
            <a:ext cx="11471565" cy="1739347"/>
          </a:xfrm>
        </p:spPr>
        <p:txBody>
          <a:bodyPr tIns="45720" bIns="45720" anchor="ctr">
            <a:normAutofit/>
          </a:bodyPr>
          <a:lstStyle>
            <a:lvl1pPr algn="ctr">
              <a:lnSpc>
                <a:spcPct val="80000"/>
              </a:lnSpc>
              <a:defRPr sz="6000" spc="150" baseline="0"/>
            </a:lvl1pPr>
          </a:lstStyle>
          <a:p>
            <a:r>
              <a:rPr lang="en-US"/>
              <a:t>Click to edit Master title style</a:t>
            </a:r>
            <a:endParaRPr lang="en-US" dirty="0"/>
          </a:p>
        </p:txBody>
      </p:sp>
      <p:sp>
        <p:nvSpPr>
          <p:cNvPr id="3" name="Subtitle 2"/>
          <p:cNvSpPr>
            <a:spLocks noGrp="1"/>
          </p:cNvSpPr>
          <p:nvPr>
            <p:ph type="subTitle" idx="1"/>
          </p:nvPr>
        </p:nvSpPr>
        <p:spPr>
          <a:xfrm>
            <a:off x="1524000" y="3996250"/>
            <a:ext cx="9144000" cy="1309255"/>
          </a:xfrm>
        </p:spPr>
        <p:txBody>
          <a:bodyPr>
            <a:normAutofit/>
          </a:bodyPr>
          <a:lstStyle>
            <a:lvl1pPr marL="0" indent="0" algn="ctr">
              <a:buNone/>
              <a:defRPr sz="2000"/>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11/24/2022</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pPr/>
              <a:t>‹#›</a:t>
            </a:fld>
            <a:endParaRPr lang="en-IN"/>
          </a:p>
        </p:txBody>
      </p:sp>
    </p:spTree>
    <p:extLst>
      <p:ext uri="{BB962C8B-B14F-4D97-AF65-F5344CB8AC3E}">
        <p14:creationId xmlns:p14="http://schemas.microsoft.com/office/powerpoint/2010/main" val="1899890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11/24/2022</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pPr/>
              <a:t>‹#›</a:t>
            </a:fld>
            <a:endParaRPr lang="en-IN"/>
          </a:p>
        </p:txBody>
      </p:sp>
    </p:spTree>
    <p:extLst>
      <p:ext uri="{BB962C8B-B14F-4D97-AF65-F5344CB8AC3E}">
        <p14:creationId xmlns:p14="http://schemas.microsoft.com/office/powerpoint/2010/main" val="2224555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191" y="2208879"/>
            <a:ext cx="10515600" cy="1676400"/>
          </a:xfrm>
        </p:spPr>
        <p:txBody>
          <a:bodyPr anchor="ctr">
            <a:noAutofit/>
          </a:bodyPr>
          <a:lstStyle>
            <a:lvl1pPr algn="ctr">
              <a:lnSpc>
                <a:spcPct val="80000"/>
              </a:lnSpc>
              <a:defRPr sz="6000" b="0" spc="150" baseline="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833191" y="4010334"/>
            <a:ext cx="10515600" cy="1174639"/>
          </a:xfrm>
        </p:spPr>
        <p:txBody>
          <a:bodyPr anchor="t">
            <a:normAutofit/>
          </a:bodyPr>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tx2"/>
                </a:solidFill>
              </a:defRPr>
            </a:lvl1pPr>
          </a:lstStyle>
          <a:p>
            <a:fld id="{1D8BD707-D9CF-40AE-B4C6-C98DA3205C09}" type="datetimeFigureOut">
              <a:rPr lang="en-US" smtClean="0"/>
              <a:pPr/>
              <a:t>11/24/2022</a:t>
            </a:fld>
            <a:endParaRPr lang="en-US"/>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B6F15528-21DE-4FAA-801E-634DDDAF4B2B}" type="slidenum">
              <a:rPr lang="en-IN" smtClean="0"/>
              <a:pPr/>
              <a:t>‹#›</a:t>
            </a:fld>
            <a:endParaRPr lang="en-IN"/>
          </a:p>
        </p:txBody>
      </p:sp>
    </p:spTree>
    <p:extLst>
      <p:ext uri="{BB962C8B-B14F-4D97-AF65-F5344CB8AC3E}">
        <p14:creationId xmlns:p14="http://schemas.microsoft.com/office/powerpoint/2010/main" val="4069530199"/>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05344"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30391"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11/24/2022</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pPr/>
              <a:t>‹#›</a:t>
            </a:fld>
            <a:endParaRPr lang="en-IN"/>
          </a:p>
        </p:txBody>
      </p:sp>
    </p:spTree>
    <p:extLst>
      <p:ext uri="{BB962C8B-B14F-4D97-AF65-F5344CB8AC3E}">
        <p14:creationId xmlns:p14="http://schemas.microsoft.com/office/powerpoint/2010/main" val="2151294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07008"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07008" y="2656566"/>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31230"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31230" y="2656564"/>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11/24/2022</a:t>
            </a:fld>
            <a:endParaRPr lang="en-US"/>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6F15528-21DE-4FAA-801E-634DDDAF4B2B}" type="slidenum">
              <a:rPr lang="en-IN" smtClean="0"/>
              <a:pPr/>
              <a:t>‹#›</a:t>
            </a:fld>
            <a:endParaRPr lang="en-IN"/>
          </a:p>
        </p:txBody>
      </p:sp>
    </p:spTree>
    <p:extLst>
      <p:ext uri="{BB962C8B-B14F-4D97-AF65-F5344CB8AC3E}">
        <p14:creationId xmlns:p14="http://schemas.microsoft.com/office/powerpoint/2010/main" val="23122835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11/24/2022</a:t>
            </a:fld>
            <a:endParaRPr lang="en-US"/>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6F15528-21DE-4FAA-801E-634DDDAF4B2B}" type="slidenum">
              <a:rPr lang="en-IN" smtClean="0"/>
              <a:pPr/>
              <a:t>‹#›</a:t>
            </a:fld>
            <a:endParaRPr lang="en-IN"/>
          </a:p>
        </p:txBody>
      </p:sp>
    </p:spTree>
    <p:extLst>
      <p:ext uri="{BB962C8B-B14F-4D97-AF65-F5344CB8AC3E}">
        <p14:creationId xmlns:p14="http://schemas.microsoft.com/office/powerpoint/2010/main" val="12167121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11/24/2022</a:t>
            </a:fld>
            <a:endParaRPr lang="en-US"/>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6F15528-21DE-4FAA-801E-634DDDAF4B2B}" type="slidenum">
              <a:rPr lang="en-IN" smtClean="0"/>
              <a:pPr/>
              <a:t>‹#›</a:t>
            </a:fld>
            <a:endParaRPr lang="en-IN"/>
          </a:p>
        </p:txBody>
      </p:sp>
    </p:spTree>
    <p:extLst>
      <p:ext uri="{BB962C8B-B14F-4D97-AF65-F5344CB8AC3E}">
        <p14:creationId xmlns:p14="http://schemas.microsoft.com/office/powerpoint/2010/main" val="35209145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207008" y="2120054"/>
            <a:ext cx="6126480" cy="4114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789023" y="2147486"/>
            <a:ext cx="3200400" cy="3432319"/>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11/24/2022</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pPr/>
              <a:t>‹#›</a:t>
            </a:fld>
            <a:endParaRPr lang="en-IN"/>
          </a:p>
        </p:txBody>
      </p:sp>
    </p:spTree>
    <p:extLst>
      <p:ext uri="{BB962C8B-B14F-4D97-AF65-F5344CB8AC3E}">
        <p14:creationId xmlns:p14="http://schemas.microsoft.com/office/powerpoint/2010/main" val="24689414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Picture Placeholder 2"/>
          <p:cNvSpPr>
            <a:spLocks noGrp="1" noChangeAspect="1"/>
          </p:cNvSpPr>
          <p:nvPr>
            <p:ph type="pic" idx="1"/>
          </p:nvPr>
        </p:nvSpPr>
        <p:spPr>
          <a:xfrm>
            <a:off x="1280160" y="2211494"/>
            <a:ext cx="6126480" cy="3931920"/>
          </a:xfrm>
          <a:solidFill>
            <a:schemeClr val="tx2">
              <a:lumMod val="60000"/>
              <a:lumOff val="40000"/>
            </a:schemeClr>
          </a:solidFill>
        </p:spPr>
        <p:txBody>
          <a:bodyPr tIns="365760" anchor="t"/>
          <a:lstStyle>
            <a:lvl1pPr marL="0" indent="0" algn="ctr">
              <a:buNone/>
              <a:defRPr sz="32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790688" y="2150621"/>
            <a:ext cx="3200400" cy="3429000"/>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11/24/2022</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pPr/>
              <a:t>‹#›</a:t>
            </a:fld>
            <a:endParaRPr lang="en-IN"/>
          </a:p>
        </p:txBody>
      </p:sp>
    </p:spTree>
    <p:extLst>
      <p:ext uri="{BB962C8B-B14F-4D97-AF65-F5344CB8AC3E}">
        <p14:creationId xmlns:p14="http://schemas.microsoft.com/office/powerpoint/2010/main" val="16796856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11/24/2022</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pPr/>
              <a:t>‹#›</a:t>
            </a:fld>
            <a:endParaRPr lang="en-IN"/>
          </a:p>
        </p:txBody>
      </p:sp>
    </p:spTree>
    <p:extLst>
      <p:ext uri="{BB962C8B-B14F-4D97-AF65-F5344CB8AC3E}">
        <p14:creationId xmlns:p14="http://schemas.microsoft.com/office/powerpoint/2010/main" val="18260445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9019312" y="0"/>
            <a:ext cx="274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9160624" y="274638"/>
            <a:ext cx="240238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274638"/>
            <a:ext cx="7973291"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422854"/>
            <a:ext cx="2743196" cy="365125"/>
          </a:xfrm>
        </p:spPr>
        <p:txBody>
          <a:bodyPr/>
          <a:lstStyle/>
          <a:p>
            <a:fld id="{1D8BD707-D9CF-40AE-B4C6-C98DA3205C09}" type="datetimeFigureOut">
              <a:rPr lang="en-US" smtClean="0"/>
              <a:pPr/>
              <a:t>11/24/2022</a:t>
            </a:fld>
            <a:endParaRPr lang="en-US"/>
          </a:p>
        </p:txBody>
      </p:sp>
      <p:sp>
        <p:nvSpPr>
          <p:cNvPr id="5" name="Footer Placeholder 4"/>
          <p:cNvSpPr>
            <a:spLocks noGrp="1"/>
          </p:cNvSpPr>
          <p:nvPr>
            <p:ph type="ftr" sz="quarter" idx="11"/>
          </p:nvPr>
        </p:nvSpPr>
        <p:spPr>
          <a:xfrm>
            <a:off x="3776135" y="6422854"/>
            <a:ext cx="4279669" cy="365125"/>
          </a:xfrm>
        </p:spPr>
        <p:txBody>
          <a:bodyPr/>
          <a:lstStyle/>
          <a:p>
            <a:endParaRPr lang="en-IN"/>
          </a:p>
        </p:txBody>
      </p:sp>
      <p:sp>
        <p:nvSpPr>
          <p:cNvPr id="6" name="Slide Number Placeholder 5"/>
          <p:cNvSpPr>
            <a:spLocks noGrp="1"/>
          </p:cNvSpPr>
          <p:nvPr>
            <p:ph type="sldNum" sz="quarter" idx="12"/>
          </p:nvPr>
        </p:nvSpPr>
        <p:spPr>
          <a:xfrm>
            <a:off x="8073048" y="6422854"/>
            <a:ext cx="879759" cy="365125"/>
          </a:xfrm>
        </p:spPr>
        <p:txBody>
          <a:bodyPr/>
          <a:lstStyle/>
          <a:p>
            <a:fld id="{B6F15528-21DE-4FAA-801E-634DDDAF4B2B}" type="slidenum">
              <a:rPr lang="en-IN" smtClean="0"/>
              <a:pPr/>
              <a:t>‹#›</a:t>
            </a:fld>
            <a:endParaRPr lang="en-IN"/>
          </a:p>
        </p:txBody>
      </p:sp>
    </p:spTree>
    <p:extLst>
      <p:ext uri="{BB962C8B-B14F-4D97-AF65-F5344CB8AC3E}">
        <p14:creationId xmlns:p14="http://schemas.microsoft.com/office/powerpoint/2010/main" val="40908955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483" y="176109"/>
            <a:ext cx="12188952" cy="16459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02919" y="284176"/>
            <a:ext cx="9784080" cy="15087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02919" y="2011680"/>
            <a:ext cx="9784080" cy="42062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02266" y="6422854"/>
            <a:ext cx="3000894" cy="365125"/>
          </a:xfrm>
          <a:prstGeom prst="rect">
            <a:avLst/>
          </a:prstGeom>
        </p:spPr>
        <p:txBody>
          <a:bodyPr vert="horz" lIns="91440" tIns="45720" rIns="45720" bIns="45720" rtlCol="0" anchor="ctr"/>
          <a:lstStyle>
            <a:lvl1pPr algn="l">
              <a:defRPr sz="1050">
                <a:solidFill>
                  <a:schemeClr val="tx1"/>
                </a:solidFill>
              </a:defRPr>
            </a:lvl1pPr>
          </a:lstStyle>
          <a:p>
            <a:fld id="{1D8BD707-D9CF-40AE-B4C6-C98DA3205C09}" type="datetimeFigureOut">
              <a:rPr lang="en-US" smtClean="0"/>
              <a:pPr/>
              <a:t>11/24/2022</a:t>
            </a:fld>
            <a:endParaRPr lang="en-US"/>
          </a:p>
        </p:txBody>
      </p:sp>
      <p:sp>
        <p:nvSpPr>
          <p:cNvPr id="5" name="Footer Placeholder 4"/>
          <p:cNvSpPr>
            <a:spLocks noGrp="1"/>
          </p:cNvSpPr>
          <p:nvPr>
            <p:ph type="ftr" sz="quarter" idx="3"/>
          </p:nvPr>
        </p:nvSpPr>
        <p:spPr>
          <a:xfrm>
            <a:off x="5596471" y="6422854"/>
            <a:ext cx="5044440" cy="365125"/>
          </a:xfrm>
          <a:prstGeom prst="rect">
            <a:avLst/>
          </a:prstGeom>
        </p:spPr>
        <p:txBody>
          <a:bodyPr vert="horz" lIns="91440" tIns="45720" rIns="91440" bIns="45720" rtlCol="0" anchor="ctr"/>
          <a:lstStyle>
            <a:lvl1pPr algn="r">
              <a:defRPr sz="1050">
                <a:solidFill>
                  <a:schemeClr val="tx1"/>
                </a:solidFill>
              </a:defRPr>
            </a:lvl1pPr>
          </a:lstStyle>
          <a:p>
            <a:endParaRPr lang="en-IN"/>
          </a:p>
        </p:txBody>
      </p:sp>
      <p:sp>
        <p:nvSpPr>
          <p:cNvPr id="6" name="Slide Number Placeholder 5"/>
          <p:cNvSpPr>
            <a:spLocks noGrp="1"/>
          </p:cNvSpPr>
          <p:nvPr>
            <p:ph type="sldNum" sz="quarter" idx="4"/>
          </p:nvPr>
        </p:nvSpPr>
        <p:spPr>
          <a:xfrm>
            <a:off x="10658927" y="6422854"/>
            <a:ext cx="946264" cy="365125"/>
          </a:xfrm>
          <a:prstGeom prst="rect">
            <a:avLst/>
          </a:prstGeom>
        </p:spPr>
        <p:txBody>
          <a:bodyPr vert="horz" lIns="45720" tIns="45720" rIns="91440" bIns="45720" rtlCol="0" anchor="ctr"/>
          <a:lstStyle>
            <a:lvl1pPr algn="l">
              <a:defRPr sz="1200" b="0">
                <a:solidFill>
                  <a:schemeClr val="tx1"/>
                </a:solidFill>
              </a:defRPr>
            </a:lvl1pPr>
          </a:lstStyle>
          <a:p>
            <a:fld id="{B6F15528-21DE-4FAA-801E-634DDDAF4B2B}" type="slidenum">
              <a:rPr lang="en-IN" smtClean="0"/>
              <a:pPr/>
              <a:t>‹#›</a:t>
            </a:fld>
            <a:endParaRPr lang="en-IN"/>
          </a:p>
        </p:txBody>
      </p:sp>
    </p:spTree>
    <p:extLst>
      <p:ext uri="{BB962C8B-B14F-4D97-AF65-F5344CB8AC3E}">
        <p14:creationId xmlns:p14="http://schemas.microsoft.com/office/powerpoint/2010/main" val="571262466"/>
      </p:ext>
    </p:extLst>
  </p:cSld>
  <p:clrMap bg1="dk1" tx1="lt1" bg2="dk2" tx2="lt2" accent1="accent1" accent2="accent2" accent3="accent3" accent4="accent4" accent5="accent5" accent6="accent6" hlink="hlink" folHlink="folHlink"/>
  <p:sldLayoutIdLst>
    <p:sldLayoutId id="2147484688" r:id="rId1"/>
    <p:sldLayoutId id="2147484689" r:id="rId2"/>
    <p:sldLayoutId id="2147484690" r:id="rId3"/>
    <p:sldLayoutId id="2147484691" r:id="rId4"/>
    <p:sldLayoutId id="2147484692" r:id="rId5"/>
    <p:sldLayoutId id="2147484693" r:id="rId6"/>
    <p:sldLayoutId id="2147484694" r:id="rId7"/>
    <p:sldLayoutId id="2147484695" r:id="rId8"/>
    <p:sldLayoutId id="2147484696" r:id="rId9"/>
    <p:sldLayoutId id="2147484697" r:id="rId10"/>
    <p:sldLayoutId id="2147484698" r:id="rId11"/>
  </p:sldLayoutIdLst>
  <p:txStyles>
    <p:title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p:titleStyle>
    <p:body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7470393" y="4943982"/>
            <a:ext cx="2477135" cy="1397819"/>
          </a:xfrm>
          <a:prstGeom prst="rect">
            <a:avLst/>
          </a:prstGeom>
        </p:spPr>
        <p:txBody>
          <a:bodyPr vert="horz" wrap="square" lIns="0" tIns="12700" rIns="0" bIns="0" rtlCol="0">
            <a:spAutoFit/>
          </a:bodyPr>
          <a:lstStyle/>
          <a:p>
            <a:pPr marL="12065">
              <a:lnSpc>
                <a:spcPct val="100000"/>
              </a:lnSpc>
              <a:tabLst>
                <a:tab pos="267335" algn="l"/>
              </a:tabLst>
            </a:pPr>
            <a:r>
              <a:rPr lang="en-US" sz="1800" b="1" dirty="0">
                <a:solidFill>
                  <a:schemeClr val="bg1"/>
                </a:solidFill>
                <a:latin typeface="Arial MT"/>
                <a:cs typeface="Arial MT"/>
              </a:rPr>
              <a:t>Group Members:</a:t>
            </a:r>
          </a:p>
          <a:p>
            <a:pPr marL="12065">
              <a:lnSpc>
                <a:spcPct val="100000"/>
              </a:lnSpc>
              <a:tabLst>
                <a:tab pos="267335" algn="l"/>
              </a:tabLst>
            </a:pPr>
            <a:r>
              <a:rPr lang="en-US" sz="1800" b="1" dirty="0">
                <a:solidFill>
                  <a:schemeClr val="bg1"/>
                </a:solidFill>
                <a:latin typeface="Arial MT"/>
                <a:cs typeface="Arial MT"/>
              </a:rPr>
              <a:t>1  </a:t>
            </a:r>
            <a:r>
              <a:rPr lang="en-US" sz="1800" b="1" dirty="0" err="1">
                <a:solidFill>
                  <a:schemeClr val="bg1"/>
                </a:solidFill>
                <a:latin typeface="Arial MT"/>
                <a:cs typeface="Arial MT"/>
              </a:rPr>
              <a:t>Amar</a:t>
            </a:r>
            <a:r>
              <a:rPr lang="en-US" sz="1800" b="1" dirty="0">
                <a:solidFill>
                  <a:schemeClr val="bg1"/>
                </a:solidFill>
                <a:latin typeface="Arial MT"/>
                <a:cs typeface="Arial MT"/>
              </a:rPr>
              <a:t> </a:t>
            </a:r>
            <a:r>
              <a:rPr lang="en-US" sz="1800" b="1" dirty="0" err="1">
                <a:solidFill>
                  <a:schemeClr val="bg1"/>
                </a:solidFill>
                <a:latin typeface="Arial MT"/>
                <a:cs typeface="Arial MT"/>
              </a:rPr>
              <a:t>bhade</a:t>
            </a:r>
            <a:endParaRPr sz="1800" b="1" dirty="0">
              <a:solidFill>
                <a:schemeClr val="bg1"/>
              </a:solidFill>
              <a:latin typeface="Arial MT"/>
              <a:cs typeface="Arial MT"/>
            </a:endParaRPr>
          </a:p>
          <a:p>
            <a:pPr marL="12065">
              <a:lnSpc>
                <a:spcPct val="100000"/>
              </a:lnSpc>
              <a:tabLst>
                <a:tab pos="267335" algn="l"/>
              </a:tabLst>
            </a:pPr>
            <a:r>
              <a:rPr lang="en-US" b="1" spc="-5" dirty="0">
                <a:solidFill>
                  <a:schemeClr val="bg1"/>
                </a:solidFill>
                <a:latin typeface="Arial MT"/>
                <a:cs typeface="Arial MT"/>
              </a:rPr>
              <a:t>2. </a:t>
            </a:r>
            <a:r>
              <a:rPr lang="en-US" b="1" spc="-5" dirty="0" err="1">
                <a:solidFill>
                  <a:schemeClr val="bg1"/>
                </a:solidFill>
                <a:latin typeface="Arial MT"/>
                <a:cs typeface="Arial MT"/>
              </a:rPr>
              <a:t>Pankaj</a:t>
            </a:r>
            <a:r>
              <a:rPr lang="en-US" b="1" spc="-5" dirty="0">
                <a:solidFill>
                  <a:schemeClr val="bg1"/>
                </a:solidFill>
                <a:latin typeface="Arial MT"/>
                <a:cs typeface="Arial MT"/>
              </a:rPr>
              <a:t> </a:t>
            </a:r>
            <a:r>
              <a:rPr lang="en-US" b="1" spc="-5" dirty="0" err="1">
                <a:solidFill>
                  <a:schemeClr val="bg1"/>
                </a:solidFill>
                <a:latin typeface="Arial MT"/>
                <a:cs typeface="Arial MT"/>
              </a:rPr>
              <a:t>phulera</a:t>
            </a:r>
            <a:endParaRPr lang="en-US" b="1" spc="-5" dirty="0">
              <a:solidFill>
                <a:schemeClr val="bg1"/>
              </a:solidFill>
              <a:latin typeface="Arial MT"/>
              <a:cs typeface="Arial MT"/>
            </a:endParaRPr>
          </a:p>
          <a:p>
            <a:pPr marL="12065">
              <a:lnSpc>
                <a:spcPct val="100000"/>
              </a:lnSpc>
              <a:tabLst>
                <a:tab pos="267335" algn="l"/>
              </a:tabLst>
            </a:pPr>
            <a:r>
              <a:rPr lang="en-US" sz="1800" b="1" spc="-5" dirty="0">
                <a:solidFill>
                  <a:schemeClr val="bg1"/>
                </a:solidFill>
                <a:latin typeface="Arial MT"/>
                <a:cs typeface="Arial MT"/>
              </a:rPr>
              <a:t>3  </a:t>
            </a:r>
            <a:r>
              <a:rPr lang="en-US" sz="1800" b="1" spc="-5" dirty="0" err="1">
                <a:solidFill>
                  <a:schemeClr val="bg1"/>
                </a:solidFill>
                <a:latin typeface="Arial MT"/>
                <a:cs typeface="Arial MT"/>
              </a:rPr>
              <a:t>Divyaanshu</a:t>
            </a:r>
            <a:r>
              <a:rPr lang="en-US" sz="1800" b="1" spc="-5" dirty="0">
                <a:solidFill>
                  <a:schemeClr val="bg1"/>
                </a:solidFill>
                <a:latin typeface="Arial MT"/>
                <a:cs typeface="Arial MT"/>
              </a:rPr>
              <a:t> </a:t>
            </a:r>
            <a:r>
              <a:rPr lang="en-US" sz="1800" b="1" spc="-5" dirty="0" err="1">
                <a:solidFill>
                  <a:schemeClr val="bg1"/>
                </a:solidFill>
                <a:latin typeface="Arial MT"/>
                <a:cs typeface="Arial MT"/>
              </a:rPr>
              <a:t>verma</a:t>
            </a:r>
            <a:endParaRPr lang="en-US" sz="1800" b="1" spc="-5" dirty="0">
              <a:solidFill>
                <a:schemeClr val="bg1"/>
              </a:solidFill>
              <a:latin typeface="Arial MT"/>
              <a:cs typeface="Arial MT"/>
            </a:endParaRPr>
          </a:p>
          <a:p>
            <a:pPr marL="12065">
              <a:lnSpc>
                <a:spcPct val="100000"/>
              </a:lnSpc>
              <a:tabLst>
                <a:tab pos="267335" algn="l"/>
              </a:tabLst>
            </a:pPr>
            <a:r>
              <a:rPr lang="en-US" b="1" spc="-5" dirty="0">
                <a:solidFill>
                  <a:schemeClr val="bg1"/>
                </a:solidFill>
                <a:latin typeface="Arial MT"/>
                <a:cs typeface="Arial MT"/>
              </a:rPr>
              <a:t>4  Vijay </a:t>
            </a:r>
            <a:r>
              <a:rPr lang="en-US" b="1" spc="-5" dirty="0" err="1">
                <a:solidFill>
                  <a:schemeClr val="bg1"/>
                </a:solidFill>
                <a:latin typeface="Arial MT"/>
                <a:cs typeface="Arial MT"/>
              </a:rPr>
              <a:t>Aglawe</a:t>
            </a:r>
            <a:endParaRPr sz="1800" b="1" dirty="0">
              <a:solidFill>
                <a:schemeClr val="bg1"/>
              </a:solidFill>
              <a:latin typeface="Arial MT"/>
              <a:cs typeface="Arial MT"/>
            </a:endParaRPr>
          </a:p>
        </p:txBody>
      </p:sp>
      <p:sp>
        <p:nvSpPr>
          <p:cNvPr id="4" name="object 4"/>
          <p:cNvSpPr txBox="1"/>
          <p:nvPr/>
        </p:nvSpPr>
        <p:spPr>
          <a:xfrm>
            <a:off x="2961830" y="5355871"/>
            <a:ext cx="2738755" cy="574040"/>
          </a:xfrm>
          <a:prstGeom prst="rect">
            <a:avLst/>
          </a:prstGeom>
        </p:spPr>
        <p:txBody>
          <a:bodyPr vert="horz" wrap="square" lIns="0" tIns="12700" rIns="0" bIns="0" rtlCol="0">
            <a:spAutoFit/>
          </a:bodyPr>
          <a:lstStyle/>
          <a:p>
            <a:pPr marL="12700">
              <a:lnSpc>
                <a:spcPct val="100000"/>
              </a:lnSpc>
              <a:spcBef>
                <a:spcPts val="100"/>
              </a:spcBef>
            </a:pPr>
            <a:r>
              <a:rPr sz="1800" b="1" dirty="0">
                <a:solidFill>
                  <a:schemeClr val="bg1"/>
                </a:solidFill>
                <a:latin typeface="Arial"/>
                <a:cs typeface="Arial"/>
              </a:rPr>
              <a:t>Guide</a:t>
            </a:r>
            <a:r>
              <a:rPr sz="1800" b="1" spc="-60" dirty="0">
                <a:solidFill>
                  <a:schemeClr val="bg1"/>
                </a:solidFill>
                <a:latin typeface="Arial"/>
                <a:cs typeface="Arial"/>
              </a:rPr>
              <a:t> </a:t>
            </a:r>
            <a:r>
              <a:rPr sz="1800" dirty="0">
                <a:solidFill>
                  <a:schemeClr val="bg1"/>
                </a:solidFill>
                <a:latin typeface="Arial MT"/>
                <a:cs typeface="Arial MT"/>
              </a:rPr>
              <a:t>:</a:t>
            </a:r>
          </a:p>
          <a:p>
            <a:pPr marL="12700">
              <a:lnSpc>
                <a:spcPct val="100000"/>
              </a:lnSpc>
            </a:pPr>
            <a:r>
              <a:rPr sz="1800" dirty="0">
                <a:solidFill>
                  <a:schemeClr val="bg1"/>
                </a:solidFill>
                <a:latin typeface="Arial MT"/>
                <a:cs typeface="Arial MT"/>
              </a:rPr>
              <a:t>Prof</a:t>
            </a:r>
            <a:r>
              <a:rPr sz="1800">
                <a:solidFill>
                  <a:schemeClr val="bg1"/>
                </a:solidFill>
                <a:latin typeface="Arial MT"/>
                <a:cs typeface="Arial MT"/>
              </a:rPr>
              <a:t>.</a:t>
            </a:r>
            <a:r>
              <a:rPr sz="1800" spc="-50">
                <a:solidFill>
                  <a:schemeClr val="bg1"/>
                </a:solidFill>
                <a:latin typeface="Arial MT"/>
                <a:cs typeface="Arial MT"/>
              </a:rPr>
              <a:t> </a:t>
            </a:r>
            <a:r>
              <a:rPr lang="en-US" spc="-50" dirty="0" err="1">
                <a:solidFill>
                  <a:schemeClr val="bg1"/>
                </a:solidFill>
                <a:latin typeface="Arial MT"/>
                <a:cs typeface="Arial MT"/>
              </a:rPr>
              <a:t>Rupesh</a:t>
            </a:r>
            <a:r>
              <a:rPr lang="en-US" spc="-50" dirty="0">
                <a:solidFill>
                  <a:schemeClr val="bg1"/>
                </a:solidFill>
                <a:latin typeface="Arial MT"/>
                <a:cs typeface="Arial MT"/>
              </a:rPr>
              <a:t> </a:t>
            </a:r>
            <a:r>
              <a:rPr lang="en-US" spc="-50" dirty="0" err="1">
                <a:solidFill>
                  <a:schemeClr val="bg1"/>
                </a:solidFill>
                <a:latin typeface="Arial MT"/>
                <a:cs typeface="Arial MT"/>
              </a:rPr>
              <a:t>Mahajan</a:t>
            </a:r>
            <a:endParaRPr sz="1800" dirty="0">
              <a:solidFill>
                <a:schemeClr val="bg1"/>
              </a:solidFill>
              <a:latin typeface="Arial MT"/>
              <a:cs typeface="Arial MT"/>
            </a:endParaRPr>
          </a:p>
        </p:txBody>
      </p:sp>
      <p:grpSp>
        <p:nvGrpSpPr>
          <p:cNvPr id="5" name="object 5"/>
          <p:cNvGrpSpPr/>
          <p:nvPr/>
        </p:nvGrpSpPr>
        <p:grpSpPr>
          <a:xfrm>
            <a:off x="3406175" y="612985"/>
            <a:ext cx="3713353" cy="2176688"/>
            <a:chOff x="4145152" y="621791"/>
            <a:chExt cx="3713353" cy="2176688"/>
          </a:xfrm>
        </p:grpSpPr>
        <p:pic>
          <p:nvPicPr>
            <p:cNvPr id="6" name="object 6"/>
            <p:cNvPicPr/>
            <p:nvPr/>
          </p:nvPicPr>
          <p:blipFill>
            <a:blip r:embed="rId2" cstate="print"/>
            <a:stretch>
              <a:fillRect/>
            </a:stretch>
          </p:blipFill>
          <p:spPr>
            <a:xfrm>
              <a:off x="4331208" y="621791"/>
              <a:ext cx="3527297" cy="1398269"/>
            </a:xfrm>
            <a:prstGeom prst="rect">
              <a:avLst/>
            </a:prstGeom>
          </p:spPr>
        </p:pic>
        <p:sp>
          <p:nvSpPr>
            <p:cNvPr id="7" name="object 7"/>
            <p:cNvSpPr/>
            <p:nvPr/>
          </p:nvSpPr>
          <p:spPr>
            <a:xfrm>
              <a:off x="4145152" y="2456849"/>
              <a:ext cx="3110865" cy="341630"/>
            </a:xfrm>
            <a:custGeom>
              <a:avLst/>
              <a:gdLst/>
              <a:ahLst/>
              <a:cxnLst/>
              <a:rect l="l" t="t" r="r" b="b"/>
              <a:pathLst>
                <a:path w="3110865" h="341630">
                  <a:moveTo>
                    <a:pt x="3110484" y="0"/>
                  </a:moveTo>
                  <a:lnTo>
                    <a:pt x="169164" y="0"/>
                  </a:lnTo>
                  <a:lnTo>
                    <a:pt x="0" y="0"/>
                  </a:lnTo>
                  <a:lnTo>
                    <a:pt x="0" y="341376"/>
                  </a:lnTo>
                  <a:lnTo>
                    <a:pt x="169164" y="341376"/>
                  </a:lnTo>
                  <a:lnTo>
                    <a:pt x="3110484" y="341376"/>
                  </a:lnTo>
                  <a:lnTo>
                    <a:pt x="3110484" y="0"/>
                  </a:lnTo>
                  <a:close/>
                </a:path>
              </a:pathLst>
            </a:custGeom>
            <a:solidFill>
              <a:srgbClr val="C0C0C0"/>
            </a:solidFill>
          </p:spPr>
          <p:txBody>
            <a:bodyPr wrap="square" lIns="0" tIns="0" rIns="0" bIns="0" rtlCol="0"/>
            <a:lstStyle/>
            <a:p>
              <a:endParaRPr/>
            </a:p>
          </p:txBody>
        </p:sp>
      </p:grpSp>
      <p:sp>
        <p:nvSpPr>
          <p:cNvPr id="8" name="object 8"/>
          <p:cNvSpPr txBox="1">
            <a:spLocks noGrp="1"/>
          </p:cNvSpPr>
          <p:nvPr>
            <p:ph type="title"/>
          </p:nvPr>
        </p:nvSpPr>
        <p:spPr>
          <a:xfrm>
            <a:off x="2592359" y="2041906"/>
            <a:ext cx="5527040" cy="365760"/>
          </a:xfrm>
          <a:prstGeom prst="rect">
            <a:avLst/>
          </a:prstGeom>
          <a:solidFill>
            <a:srgbClr val="C0C0C0"/>
          </a:solidFill>
        </p:spPr>
        <p:txBody>
          <a:bodyPr vert="horz" wrap="square" lIns="0" tIns="0" rIns="0" bIns="0" rtlCol="0">
            <a:spAutoFit/>
          </a:bodyPr>
          <a:lstStyle/>
          <a:p>
            <a:pPr marL="169545">
              <a:lnSpc>
                <a:spcPts val="2620"/>
              </a:lnSpc>
              <a:tabLst>
                <a:tab pos="2192655" algn="l"/>
              </a:tabLst>
            </a:pPr>
            <a:r>
              <a:rPr sz="2400" spc="-50" dirty="0">
                <a:solidFill>
                  <a:srgbClr val="852A2A"/>
                </a:solidFill>
              </a:rPr>
              <a:t>Dr.</a:t>
            </a:r>
            <a:r>
              <a:rPr sz="2400" spc="5" dirty="0">
                <a:solidFill>
                  <a:srgbClr val="852A2A"/>
                </a:solidFill>
              </a:rPr>
              <a:t> </a:t>
            </a:r>
            <a:r>
              <a:rPr sz="2400" spc="-5" dirty="0">
                <a:solidFill>
                  <a:srgbClr val="852A2A"/>
                </a:solidFill>
              </a:rPr>
              <a:t>D.</a:t>
            </a:r>
            <a:r>
              <a:rPr sz="2400" spc="-45" dirty="0">
                <a:solidFill>
                  <a:srgbClr val="852A2A"/>
                </a:solidFill>
              </a:rPr>
              <a:t> </a:t>
            </a:r>
            <a:r>
              <a:rPr sz="2400" spc="-140" dirty="0">
                <a:solidFill>
                  <a:srgbClr val="852A2A"/>
                </a:solidFill>
              </a:rPr>
              <a:t>Y.</a:t>
            </a:r>
            <a:r>
              <a:rPr sz="2400" spc="10" dirty="0">
                <a:solidFill>
                  <a:srgbClr val="852A2A"/>
                </a:solidFill>
              </a:rPr>
              <a:t> </a:t>
            </a:r>
            <a:r>
              <a:rPr sz="2400" spc="-5" dirty="0">
                <a:solidFill>
                  <a:srgbClr val="852A2A"/>
                </a:solidFill>
              </a:rPr>
              <a:t>Patil	</a:t>
            </a:r>
            <a:r>
              <a:rPr sz="2400" dirty="0">
                <a:solidFill>
                  <a:srgbClr val="852A2A"/>
                </a:solidFill>
              </a:rPr>
              <a:t>Institute</a:t>
            </a:r>
            <a:r>
              <a:rPr sz="2400" spc="-85" dirty="0">
                <a:solidFill>
                  <a:srgbClr val="852A2A"/>
                </a:solidFill>
              </a:rPr>
              <a:t> </a:t>
            </a:r>
            <a:r>
              <a:rPr sz="2400" dirty="0">
                <a:solidFill>
                  <a:srgbClr val="852A2A"/>
                </a:solidFill>
              </a:rPr>
              <a:t>of</a:t>
            </a:r>
            <a:r>
              <a:rPr sz="2400" spc="-50" dirty="0">
                <a:solidFill>
                  <a:srgbClr val="852A2A"/>
                </a:solidFill>
              </a:rPr>
              <a:t> </a:t>
            </a:r>
            <a:r>
              <a:rPr sz="2400" spc="-20" dirty="0">
                <a:solidFill>
                  <a:srgbClr val="852A2A"/>
                </a:solidFill>
              </a:rPr>
              <a:t>Technology</a:t>
            </a:r>
            <a:endParaRPr sz="2400" dirty="0"/>
          </a:p>
        </p:txBody>
      </p:sp>
      <p:sp>
        <p:nvSpPr>
          <p:cNvPr id="10" name="object 10"/>
          <p:cNvSpPr txBox="1">
            <a:spLocks noGrp="1"/>
          </p:cNvSpPr>
          <p:nvPr>
            <p:ph idx="1"/>
          </p:nvPr>
        </p:nvSpPr>
        <p:spPr>
          <a:xfrm>
            <a:off x="1981200" y="2923590"/>
            <a:ext cx="9138285" cy="2775119"/>
          </a:xfrm>
          <a:prstGeom prst="rect">
            <a:avLst/>
          </a:prstGeom>
        </p:spPr>
        <p:txBody>
          <a:bodyPr vert="horz" wrap="square" lIns="0" tIns="142240" rIns="0" bIns="0" rtlCol="0">
            <a:spAutoFit/>
          </a:bodyPr>
          <a:lstStyle/>
          <a:p>
            <a:pPr marL="341630" indent="0">
              <a:lnSpc>
                <a:spcPct val="100000"/>
              </a:lnSpc>
              <a:spcBef>
                <a:spcPts val="1120"/>
              </a:spcBef>
              <a:buNone/>
            </a:pPr>
            <a:r>
              <a:rPr dirty="0">
                <a:solidFill>
                  <a:schemeClr val="bg1"/>
                </a:solidFill>
              </a:rPr>
              <a:t>BE</a:t>
            </a:r>
            <a:r>
              <a:rPr spc="-10" dirty="0">
                <a:solidFill>
                  <a:schemeClr val="bg1"/>
                </a:solidFill>
              </a:rPr>
              <a:t> </a:t>
            </a:r>
            <a:r>
              <a:rPr spc="-5" dirty="0">
                <a:solidFill>
                  <a:schemeClr val="bg1"/>
                </a:solidFill>
              </a:rPr>
              <a:t>computer</a:t>
            </a:r>
            <a:r>
              <a:rPr dirty="0">
                <a:solidFill>
                  <a:schemeClr val="bg1"/>
                </a:solidFill>
              </a:rPr>
              <a:t> </a:t>
            </a:r>
            <a:r>
              <a:rPr spc="-5" dirty="0">
                <a:solidFill>
                  <a:schemeClr val="bg1"/>
                </a:solidFill>
              </a:rPr>
              <a:t>engineering</a:t>
            </a:r>
            <a:r>
              <a:rPr spc="15" dirty="0">
                <a:solidFill>
                  <a:schemeClr val="bg1"/>
                </a:solidFill>
              </a:rPr>
              <a:t> </a:t>
            </a:r>
            <a:r>
              <a:rPr spc="-5" dirty="0">
                <a:solidFill>
                  <a:schemeClr val="bg1"/>
                </a:solidFill>
              </a:rPr>
              <a:t>project</a:t>
            </a:r>
            <a:r>
              <a:rPr dirty="0">
                <a:solidFill>
                  <a:schemeClr val="bg1"/>
                </a:solidFill>
              </a:rPr>
              <a:t> </a:t>
            </a:r>
            <a:r>
              <a:rPr spc="-5" dirty="0">
                <a:solidFill>
                  <a:schemeClr val="bg1"/>
                </a:solidFill>
              </a:rPr>
              <a:t>on</a:t>
            </a:r>
            <a:r>
              <a:rPr lang="en-US" spc="-5" dirty="0">
                <a:solidFill>
                  <a:schemeClr val="bg1"/>
                </a:solidFill>
              </a:rPr>
              <a:t> :</a:t>
            </a:r>
          </a:p>
          <a:p>
            <a:pPr marL="341630" indent="0">
              <a:lnSpc>
                <a:spcPct val="100000"/>
              </a:lnSpc>
              <a:spcBef>
                <a:spcPts val="1120"/>
              </a:spcBef>
              <a:buNone/>
            </a:pPr>
            <a:r>
              <a:rPr lang="en-IN" sz="2000" spc="-5" dirty="0">
                <a:solidFill>
                  <a:schemeClr val="bg1"/>
                </a:solidFill>
                <a:latin typeface="Arial"/>
                <a:cs typeface="Arial"/>
              </a:rPr>
              <a:t>  </a:t>
            </a:r>
          </a:p>
          <a:p>
            <a:pPr marL="341630" indent="0">
              <a:lnSpc>
                <a:spcPct val="100000"/>
              </a:lnSpc>
              <a:spcBef>
                <a:spcPts val="1120"/>
              </a:spcBef>
              <a:buNone/>
            </a:pPr>
            <a:r>
              <a:rPr lang="en-IN" sz="2000" spc="-5" dirty="0">
                <a:solidFill>
                  <a:schemeClr val="bg1"/>
                </a:solidFill>
                <a:latin typeface="Arial"/>
                <a:cs typeface="Arial"/>
              </a:rPr>
              <a:t>“Multiple disease detector system Using Machine Learning &amp; Deep Learning”</a:t>
            </a:r>
            <a:endParaRPr lang="en-IN" sz="2000" spc="-5" dirty="0">
              <a:latin typeface="Arial"/>
              <a:cs typeface="Arial"/>
            </a:endParaRPr>
          </a:p>
          <a:p>
            <a:pPr marL="570230">
              <a:lnSpc>
                <a:spcPct val="100000"/>
              </a:lnSpc>
              <a:spcBef>
                <a:spcPts val="1120"/>
              </a:spcBef>
            </a:pPr>
            <a:endParaRPr lang="en-IN" sz="2000" spc="-5" dirty="0">
              <a:latin typeface="Arial"/>
              <a:cs typeface="Arial"/>
            </a:endParaRPr>
          </a:p>
          <a:p>
            <a:pPr marL="570230">
              <a:lnSpc>
                <a:spcPct val="100000"/>
              </a:lnSpc>
              <a:spcBef>
                <a:spcPts val="1120"/>
              </a:spcBef>
            </a:pPr>
            <a:endParaRPr lang="en-IN" sz="2000" spc="-5" dirty="0">
              <a:latin typeface="Arial"/>
              <a:cs typeface="Arial"/>
            </a:endParaRPr>
          </a:p>
          <a:p>
            <a:pPr marL="0" indent="0">
              <a:lnSpc>
                <a:spcPct val="100000"/>
              </a:lnSpc>
              <a:buNone/>
            </a:pPr>
            <a:endParaRPr sz="2200" dirty="0">
              <a:latin typeface="Arial"/>
              <a:cs typeface="Arial"/>
            </a:endParaRPr>
          </a:p>
        </p:txBody>
      </p:sp>
      <p:sp>
        <p:nvSpPr>
          <p:cNvPr id="9" name="object 9"/>
          <p:cNvSpPr txBox="1"/>
          <p:nvPr/>
        </p:nvSpPr>
        <p:spPr>
          <a:xfrm>
            <a:off x="3406175" y="2448043"/>
            <a:ext cx="3123565" cy="341630"/>
          </a:xfrm>
          <a:prstGeom prst="rect">
            <a:avLst/>
          </a:prstGeom>
        </p:spPr>
        <p:txBody>
          <a:bodyPr vert="horz" wrap="square" lIns="0" tIns="0" rIns="0" bIns="0" rtlCol="0">
            <a:spAutoFit/>
          </a:bodyPr>
          <a:lstStyle/>
          <a:p>
            <a:pPr marL="169545">
              <a:lnSpc>
                <a:spcPts val="2620"/>
              </a:lnSpc>
            </a:pPr>
            <a:r>
              <a:rPr sz="2400" b="1" dirty="0">
                <a:solidFill>
                  <a:srgbClr val="852A2A"/>
                </a:solidFill>
                <a:latin typeface="Arial"/>
                <a:cs typeface="Arial"/>
              </a:rPr>
              <a:t>Pimpri,</a:t>
            </a:r>
            <a:r>
              <a:rPr sz="2400" b="1" spc="-60" dirty="0">
                <a:solidFill>
                  <a:srgbClr val="852A2A"/>
                </a:solidFill>
                <a:latin typeface="Arial"/>
                <a:cs typeface="Arial"/>
              </a:rPr>
              <a:t> </a:t>
            </a:r>
            <a:r>
              <a:rPr sz="2400" b="1" spc="-5" dirty="0">
                <a:solidFill>
                  <a:srgbClr val="852A2A"/>
                </a:solidFill>
                <a:latin typeface="Arial"/>
                <a:cs typeface="Arial"/>
              </a:rPr>
              <a:t>Pune</a:t>
            </a:r>
            <a:r>
              <a:rPr sz="2400" b="1" spc="-35" dirty="0">
                <a:solidFill>
                  <a:srgbClr val="852A2A"/>
                </a:solidFill>
                <a:latin typeface="Arial"/>
                <a:cs typeface="Arial"/>
              </a:rPr>
              <a:t> </a:t>
            </a:r>
            <a:r>
              <a:rPr sz="2400" b="1" spc="-30" dirty="0">
                <a:solidFill>
                  <a:srgbClr val="852A2A"/>
                </a:solidFill>
                <a:latin typeface="Arial"/>
                <a:cs typeface="Arial"/>
              </a:rPr>
              <a:t>411018</a:t>
            </a:r>
            <a:endParaRPr sz="2400" dirty="0">
              <a:latin typeface="Arial"/>
              <a:cs typeface="Aria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2F2DB9E-7BCB-709D-D68B-B45A95966059}"/>
              </a:ext>
            </a:extLst>
          </p:cNvPr>
          <p:cNvSpPr>
            <a:spLocks noGrp="1"/>
          </p:cNvSpPr>
          <p:nvPr>
            <p:ph type="title"/>
          </p:nvPr>
        </p:nvSpPr>
        <p:spPr>
          <a:xfrm>
            <a:off x="646111" y="443387"/>
            <a:ext cx="9404723" cy="1400530"/>
          </a:xfrm>
        </p:spPr>
        <p:txBody>
          <a:bodyPr/>
          <a:lstStyle/>
          <a:p>
            <a:r>
              <a:rPr lang="en-IN" dirty="0"/>
              <a:t>CONTENTS:</a:t>
            </a:r>
          </a:p>
        </p:txBody>
      </p:sp>
      <p:sp>
        <p:nvSpPr>
          <p:cNvPr id="3" name="Content Placeholder 2">
            <a:extLst>
              <a:ext uri="{FF2B5EF4-FFF2-40B4-BE49-F238E27FC236}">
                <a16:creationId xmlns:a16="http://schemas.microsoft.com/office/drawing/2014/main" xmlns="" id="{47A6ACBE-F27B-866F-302E-BF12CB04442D}"/>
              </a:ext>
            </a:extLst>
          </p:cNvPr>
          <p:cNvSpPr>
            <a:spLocks noGrp="1"/>
          </p:cNvSpPr>
          <p:nvPr>
            <p:ph idx="1"/>
          </p:nvPr>
        </p:nvSpPr>
        <p:spPr>
          <a:xfrm>
            <a:off x="423721" y="1905000"/>
            <a:ext cx="9613861" cy="4292527"/>
          </a:xfrm>
        </p:spPr>
        <p:txBody>
          <a:bodyPr>
            <a:normAutofit fontScale="77500" lnSpcReduction="20000"/>
          </a:bodyPr>
          <a:lstStyle/>
          <a:p>
            <a:pPr marL="0" indent="0">
              <a:buNone/>
            </a:pPr>
            <a:endParaRPr lang="en-IN" dirty="0">
              <a:solidFill>
                <a:schemeClr val="bg1"/>
              </a:solidFill>
            </a:endParaRPr>
          </a:p>
          <a:p>
            <a:r>
              <a:rPr lang="en-IN" spc="-5" dirty="0">
                <a:solidFill>
                  <a:schemeClr val="bg1"/>
                </a:solidFill>
              </a:rPr>
              <a:t>Introduction</a:t>
            </a:r>
            <a:r>
              <a:rPr lang="en-IN" spc="-50" dirty="0">
                <a:solidFill>
                  <a:schemeClr val="bg1"/>
                </a:solidFill>
              </a:rPr>
              <a:t> </a:t>
            </a:r>
            <a:endParaRPr lang="en-US" sz="2400" dirty="0">
              <a:solidFill>
                <a:schemeClr val="bg1"/>
              </a:solidFill>
            </a:endParaRPr>
          </a:p>
          <a:p>
            <a:r>
              <a:rPr lang="en-IN" dirty="0">
                <a:solidFill>
                  <a:schemeClr val="bg1"/>
                </a:solidFill>
              </a:rPr>
              <a:t>Motivation </a:t>
            </a:r>
            <a:r>
              <a:rPr lang="en-IN" spc="-5" dirty="0">
                <a:solidFill>
                  <a:schemeClr val="bg1"/>
                </a:solidFill>
              </a:rPr>
              <a:t>Problem Statement</a:t>
            </a:r>
          </a:p>
          <a:p>
            <a:r>
              <a:rPr lang="en-US" sz="2100" dirty="0">
                <a:solidFill>
                  <a:schemeClr val="bg1"/>
                </a:solidFill>
                <a:latin typeface="Arial" pitchFamily="34" charset="0"/>
                <a:cs typeface="Arial" pitchFamily="34" charset="0"/>
              </a:rPr>
              <a:t>Objectives</a:t>
            </a:r>
          </a:p>
          <a:p>
            <a:r>
              <a:rPr lang="en-US" dirty="0">
                <a:solidFill>
                  <a:schemeClr val="bg1"/>
                </a:solidFill>
              </a:rPr>
              <a:t>Proposed Methodology</a:t>
            </a:r>
          </a:p>
          <a:p>
            <a:r>
              <a:rPr lang="en-US" dirty="0">
                <a:solidFill>
                  <a:schemeClr val="bg1"/>
                </a:solidFill>
              </a:rPr>
              <a:t>Algorithms Used(Features)</a:t>
            </a:r>
          </a:p>
          <a:p>
            <a:r>
              <a:rPr lang="en-US" dirty="0">
                <a:solidFill>
                  <a:schemeClr val="bg1"/>
                </a:solidFill>
              </a:rPr>
              <a:t>Software/Hardware Requirements</a:t>
            </a:r>
          </a:p>
          <a:p>
            <a:r>
              <a:rPr lang="en-US" dirty="0">
                <a:solidFill>
                  <a:schemeClr val="bg1"/>
                </a:solidFill>
              </a:rPr>
              <a:t>Architecture Diagram</a:t>
            </a:r>
            <a:endParaRPr lang="en-IN" spc="-5" dirty="0">
              <a:solidFill>
                <a:schemeClr val="bg1"/>
              </a:solidFill>
              <a:uFill>
                <a:solidFill>
                  <a:srgbClr val="000000"/>
                </a:solidFill>
              </a:uFill>
            </a:endParaRPr>
          </a:p>
          <a:p>
            <a:r>
              <a:rPr lang="en-IN" spc="-5" dirty="0">
                <a:solidFill>
                  <a:schemeClr val="bg1"/>
                </a:solidFill>
                <a:uFill>
                  <a:solidFill>
                    <a:srgbClr val="000000"/>
                  </a:solidFill>
                </a:uFill>
              </a:rPr>
              <a:t>Future improvements</a:t>
            </a:r>
          </a:p>
          <a:p>
            <a:r>
              <a:rPr lang="en-IN" spc="-5" dirty="0">
                <a:solidFill>
                  <a:schemeClr val="bg1"/>
                </a:solidFill>
                <a:uFill>
                  <a:solidFill>
                    <a:srgbClr val="000000"/>
                  </a:solidFill>
                </a:uFill>
              </a:rPr>
              <a:t>Challenges</a:t>
            </a:r>
          </a:p>
          <a:p>
            <a:r>
              <a:rPr lang="en-IN" dirty="0">
                <a:solidFill>
                  <a:schemeClr val="bg1"/>
                </a:solidFill>
              </a:rPr>
              <a:t>Conclusion</a:t>
            </a:r>
          </a:p>
          <a:p>
            <a:r>
              <a:rPr lang="en-IN" dirty="0">
                <a:solidFill>
                  <a:schemeClr val="bg1"/>
                </a:solidFill>
              </a:rPr>
              <a:t>References</a:t>
            </a:r>
          </a:p>
          <a:p>
            <a:endParaRPr lang="en-IN" spc="-50" dirty="0">
              <a:solidFill>
                <a:schemeClr val="bg1"/>
              </a:solidFill>
            </a:endParaRPr>
          </a:p>
        </p:txBody>
      </p:sp>
    </p:spTree>
    <p:extLst>
      <p:ext uri="{BB962C8B-B14F-4D97-AF65-F5344CB8AC3E}">
        <p14:creationId xmlns:p14="http://schemas.microsoft.com/office/powerpoint/2010/main" val="285969768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960566"/>
            <a:ext cx="5029200" cy="566822"/>
          </a:xfrm>
          <a:prstGeom prst="rect">
            <a:avLst/>
          </a:prstGeom>
        </p:spPr>
        <p:txBody>
          <a:bodyPr vert="horz" wrap="square" lIns="0" tIns="12700" rIns="0" bIns="0" rtlCol="0">
            <a:spAutoFit/>
          </a:bodyPr>
          <a:lstStyle/>
          <a:p>
            <a:pPr marL="12700">
              <a:lnSpc>
                <a:spcPct val="100000"/>
              </a:lnSpc>
              <a:spcBef>
                <a:spcPts val="100"/>
              </a:spcBef>
            </a:pPr>
            <a:r>
              <a:rPr lang="en-US" spc="-5" dirty="0"/>
              <a:t>Introduction:</a:t>
            </a:r>
            <a:endParaRPr dirty="0"/>
          </a:p>
        </p:txBody>
      </p:sp>
      <p:sp>
        <p:nvSpPr>
          <p:cNvPr id="3" name="object 3"/>
          <p:cNvSpPr txBox="1"/>
          <p:nvPr/>
        </p:nvSpPr>
        <p:spPr>
          <a:xfrm>
            <a:off x="381000" y="2057400"/>
            <a:ext cx="10933922" cy="4198585"/>
          </a:xfrm>
          <a:prstGeom prst="rect">
            <a:avLst/>
          </a:prstGeom>
        </p:spPr>
        <p:txBody>
          <a:bodyPr vert="horz" wrap="square" lIns="0" tIns="12700" rIns="0" bIns="0" rtlCol="0">
            <a:spAutoFit/>
          </a:bodyPr>
          <a:lstStyle/>
          <a:p>
            <a:pPr marL="342900" indent="-342900">
              <a:lnSpc>
                <a:spcPct val="170000"/>
              </a:lnSpc>
              <a:buFont typeface="Arial" panose="020B0604020202020204" pitchFamily="34" charset="0"/>
              <a:buChar char="•"/>
            </a:pPr>
            <a:r>
              <a:rPr lang="en-US" sz="1600" dirty="0">
                <a:solidFill>
                  <a:schemeClr val="bg1"/>
                </a:solidFill>
                <a:latin typeface="Times New Roman" pitchFamily="18" charset="0"/>
                <a:cs typeface="Times New Roman" pitchFamily="18" charset="0"/>
              </a:rPr>
              <a:t>Machine learning and Artificial Intelligence are  playing a huge role in today’s world. From self-driving cars to medical fields, we can find them everywhere. The medical industry generates a huge amount of patient data which can be processed in a lot of ways. So, with the help of machine learning, we have created a Prediction System that can detect more than one disease at a time. Many of the existing systems can predict only one disease at a time and that too with lower accuracy. Lower accuracy can seriously put a patient’s health in danger. We have considered three diseases for now that are Kidney, Thyroid, and Cancer and in the future, many more diseases can be added. The user has to enter various parameters of the disease and the system would display the output whether he/she has the disease or not. This project can help a lot of people as one can monitor the persons’ condition and take the necessary precautions thus increasing the life expectancy. </a:t>
            </a:r>
          </a:p>
          <a:p>
            <a:pPr marL="342900" indent="-342900">
              <a:lnSpc>
                <a:spcPct val="170000"/>
              </a:lnSpc>
              <a:buFont typeface="Arial" panose="020B0604020202020204" pitchFamily="34" charset="0"/>
              <a:buChar char="•"/>
            </a:pPr>
            <a:endParaRPr lang="en-US" sz="1600" dirty="0">
              <a:solidFill>
                <a:schemeClr val="bg1"/>
              </a:solidFill>
              <a:latin typeface="Times New Roman" pitchFamily="18" charset="0"/>
              <a:cs typeface="Times New Roman" pitchFamily="18" charset="0"/>
            </a:endParaRPr>
          </a:p>
          <a:p>
            <a:pPr marL="342900" indent="-342900">
              <a:lnSpc>
                <a:spcPct val="170000"/>
              </a:lnSpc>
              <a:buFont typeface="Arial" panose="020B0604020202020204" pitchFamily="34" charset="0"/>
              <a:buChar char="•"/>
            </a:pPr>
            <a:r>
              <a:rPr lang="en-US" sz="1600" dirty="0">
                <a:solidFill>
                  <a:schemeClr val="bg1"/>
                </a:solidFill>
                <a:latin typeface="Times New Roman" pitchFamily="18" charset="0"/>
                <a:cs typeface="Times New Roman" pitchFamily="18" charset="0"/>
              </a:rPr>
              <a:t>Key Words: Kidney, Covid , Cancer, </a:t>
            </a:r>
            <a:r>
              <a:rPr lang="en-US" sz="1600" dirty="0" err="1">
                <a:solidFill>
                  <a:schemeClr val="bg1"/>
                </a:solidFill>
                <a:latin typeface="Times New Roman" pitchFamily="18" charset="0"/>
                <a:cs typeface="Times New Roman" pitchFamily="18" charset="0"/>
              </a:rPr>
              <a:t>Xgboost</a:t>
            </a:r>
            <a:r>
              <a:rPr lang="en-US" sz="1600" dirty="0">
                <a:solidFill>
                  <a:schemeClr val="bg1"/>
                </a:solidFill>
                <a:latin typeface="Times New Roman" pitchFamily="18" charset="0"/>
                <a:cs typeface="Times New Roman" pitchFamily="18" charset="0"/>
              </a:rPr>
              <a:t> , Random forest, CNN, Thyroid.</a:t>
            </a:r>
            <a:endParaRPr lang="en-GB" sz="1600" dirty="0">
              <a:solidFill>
                <a:schemeClr val="bg1"/>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838200"/>
            <a:ext cx="4396740" cy="635000"/>
          </a:xfrm>
          <a:prstGeom prst="rect">
            <a:avLst/>
          </a:prstGeom>
        </p:spPr>
        <p:txBody>
          <a:bodyPr vert="horz" wrap="square" lIns="0" tIns="12065" rIns="0" bIns="0" rtlCol="0">
            <a:spAutoFit/>
          </a:bodyPr>
          <a:lstStyle/>
          <a:p>
            <a:pPr marL="12700">
              <a:lnSpc>
                <a:spcPct val="100000"/>
              </a:lnSpc>
              <a:spcBef>
                <a:spcPts val="95"/>
              </a:spcBef>
            </a:pPr>
            <a:r>
              <a:rPr sz="4000" spc="-5" dirty="0"/>
              <a:t>Problem</a:t>
            </a:r>
            <a:r>
              <a:rPr sz="4000" spc="-170" dirty="0"/>
              <a:t> </a:t>
            </a:r>
            <a:r>
              <a:rPr dirty="0"/>
              <a:t>Statement</a:t>
            </a:r>
            <a:r>
              <a:rPr lang="en-US" dirty="0"/>
              <a:t>:</a:t>
            </a:r>
            <a:endParaRPr sz="4000" dirty="0"/>
          </a:p>
        </p:txBody>
      </p:sp>
      <p:sp>
        <p:nvSpPr>
          <p:cNvPr id="4" name="TextBox 3"/>
          <p:cNvSpPr txBox="1"/>
          <p:nvPr/>
        </p:nvSpPr>
        <p:spPr>
          <a:xfrm>
            <a:off x="1676400" y="2971800"/>
            <a:ext cx="8305800" cy="1938992"/>
          </a:xfrm>
          <a:prstGeom prst="rect">
            <a:avLst/>
          </a:prstGeom>
          <a:noFill/>
        </p:spPr>
        <p:txBody>
          <a:bodyPr wrap="square" rtlCol="0">
            <a:spAutoFit/>
          </a:bodyPr>
          <a:lstStyle/>
          <a:p>
            <a:r>
              <a:rPr lang="en-IN" sz="4000" b="1" spc="-5" dirty="0">
                <a:solidFill>
                  <a:schemeClr val="bg1"/>
                </a:solidFill>
                <a:latin typeface="Arial"/>
                <a:cs typeface="Arial"/>
              </a:rPr>
              <a:t>Multiple disease detector system Using Machine Learning &amp; Deep Learning</a:t>
            </a:r>
            <a:endParaRPr lang="en-US" sz="4000" b="1"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4400" y="811032"/>
            <a:ext cx="2895600" cy="628377"/>
          </a:xfrm>
          <a:prstGeom prst="rect">
            <a:avLst/>
          </a:prstGeom>
        </p:spPr>
        <p:txBody>
          <a:bodyPr vert="horz" wrap="square" lIns="0" tIns="12700" rIns="0" bIns="0" rtlCol="0">
            <a:spAutoFit/>
          </a:bodyPr>
          <a:lstStyle/>
          <a:p>
            <a:pPr marL="12700">
              <a:lnSpc>
                <a:spcPct val="100000"/>
              </a:lnSpc>
              <a:spcBef>
                <a:spcPts val="100"/>
              </a:spcBef>
            </a:pPr>
            <a:r>
              <a:rPr spc="-5" dirty="0"/>
              <a:t>Objective</a:t>
            </a:r>
            <a:r>
              <a:rPr lang="en-US" spc="-5" dirty="0"/>
              <a:t>:</a:t>
            </a:r>
            <a:r>
              <a:rPr spc="-60" dirty="0">
                <a:solidFill>
                  <a:srgbClr val="404040"/>
                </a:solidFill>
              </a:rPr>
              <a:t> </a:t>
            </a:r>
            <a:r>
              <a:rPr dirty="0">
                <a:solidFill>
                  <a:srgbClr val="FFFFFF"/>
                </a:solidFill>
              </a:rPr>
              <a:t>:</a:t>
            </a:r>
          </a:p>
        </p:txBody>
      </p:sp>
      <p:sp>
        <p:nvSpPr>
          <p:cNvPr id="3" name="object 3"/>
          <p:cNvSpPr txBox="1"/>
          <p:nvPr/>
        </p:nvSpPr>
        <p:spPr>
          <a:xfrm>
            <a:off x="685800" y="2057400"/>
            <a:ext cx="10546715" cy="3944926"/>
          </a:xfrm>
          <a:prstGeom prst="rect">
            <a:avLst/>
          </a:prstGeom>
        </p:spPr>
        <p:txBody>
          <a:bodyPr vert="horz" wrap="square" lIns="0" tIns="12700" rIns="0" bIns="0" rtlCol="0">
            <a:spAutoFit/>
          </a:bodyPr>
          <a:lstStyle/>
          <a:p>
            <a:pPr algn="just">
              <a:lnSpc>
                <a:spcPct val="160000"/>
              </a:lnSpc>
            </a:pPr>
            <a:r>
              <a:rPr lang="en-US" dirty="0">
                <a:solidFill>
                  <a:schemeClr val="bg1"/>
                </a:solidFill>
                <a:latin typeface="Times New Roman" pitchFamily="18" charset="0"/>
                <a:cs typeface="Times New Roman" pitchFamily="18" charset="0"/>
              </a:rPr>
              <a:t>The aim of this study is to develop and test a reliable diagnostic tool, using deep learning technology to detect COVID-19 ,Cancer disease, Kidney chronic disease which features from chest X-rays and medical data . This tool would accelerate the diagnosis and referral of patients, improving clinical outcomes. </a:t>
            </a:r>
          </a:p>
          <a:p>
            <a:pPr algn="just">
              <a:lnSpc>
                <a:spcPct val="160000"/>
              </a:lnSpc>
            </a:pPr>
            <a:endParaRPr lang="en-US" dirty="0">
              <a:solidFill>
                <a:schemeClr val="bg1"/>
              </a:solidFill>
              <a:latin typeface="Times New Roman" pitchFamily="18" charset="0"/>
              <a:cs typeface="Times New Roman" pitchFamily="18" charset="0"/>
            </a:endParaRPr>
          </a:p>
          <a:p>
            <a:pPr algn="just">
              <a:lnSpc>
                <a:spcPct val="160000"/>
              </a:lnSpc>
            </a:pPr>
            <a:r>
              <a:rPr lang="en-US" dirty="0">
                <a:solidFill>
                  <a:schemeClr val="bg1"/>
                </a:solidFill>
                <a:latin typeface="Times New Roman" pitchFamily="18" charset="0"/>
                <a:cs typeface="Times New Roman" pitchFamily="18" charset="0"/>
              </a:rPr>
              <a:t>Releasing the deep learning model as open source would facilitate the use of the tool both now and in any future pandemics, where a similar algorithm could be used. Also we used the </a:t>
            </a:r>
            <a:r>
              <a:rPr lang="en-US" dirty="0" err="1">
                <a:solidFill>
                  <a:schemeClr val="bg1"/>
                </a:solidFill>
                <a:latin typeface="Times New Roman" pitchFamily="18" charset="0"/>
                <a:cs typeface="Times New Roman" pitchFamily="18" charset="0"/>
              </a:rPr>
              <a:t>Xgboost</a:t>
            </a:r>
            <a:r>
              <a:rPr lang="en-US" dirty="0">
                <a:solidFill>
                  <a:schemeClr val="bg1"/>
                </a:solidFill>
                <a:latin typeface="Times New Roman" pitchFamily="18" charset="0"/>
                <a:cs typeface="Times New Roman" pitchFamily="18" charset="0"/>
              </a:rPr>
              <a:t>, Random Forest ,CNN layers. </a:t>
            </a:r>
          </a:p>
          <a:p>
            <a:pPr algn="just">
              <a:lnSpc>
                <a:spcPct val="160000"/>
              </a:lnSpc>
            </a:pPr>
            <a:endParaRPr lang="en-US" dirty="0">
              <a:solidFill>
                <a:schemeClr val="bg1"/>
              </a:solidFill>
              <a:latin typeface="Times New Roman" pitchFamily="18" charset="0"/>
              <a:cs typeface="Times New Roman" pitchFamily="18" charset="0"/>
            </a:endParaRPr>
          </a:p>
          <a:p>
            <a:pPr algn="just">
              <a:lnSpc>
                <a:spcPct val="160000"/>
              </a:lnSpc>
            </a:pPr>
            <a:r>
              <a:rPr lang="en-US" dirty="0">
                <a:solidFill>
                  <a:schemeClr val="bg1"/>
                </a:solidFill>
                <a:latin typeface="Times New Roman" pitchFamily="18" charset="0"/>
                <a:cs typeface="Times New Roman" pitchFamily="18" charset="0"/>
              </a:rPr>
              <a:t>This particular application also has the potential to be scaled up and used for more generalized high-impact applications in biomedical imaging.</a:t>
            </a:r>
            <a:endParaRPr lang="en-GB" dirty="0">
              <a:solidFill>
                <a:schemeClr val="bg1"/>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76F3D69-F151-FED0-5CB2-B58DD7698058}"/>
              </a:ext>
            </a:extLst>
          </p:cNvPr>
          <p:cNvSpPr>
            <a:spLocks noGrp="1"/>
          </p:cNvSpPr>
          <p:nvPr>
            <p:ph type="title"/>
          </p:nvPr>
        </p:nvSpPr>
        <p:spPr/>
        <p:txBody>
          <a:bodyPr/>
          <a:lstStyle/>
          <a:p>
            <a:r>
              <a:rPr lang="en-US" dirty="0"/>
              <a:t>METHODOLOGY:</a:t>
            </a:r>
          </a:p>
        </p:txBody>
      </p:sp>
      <p:sp>
        <p:nvSpPr>
          <p:cNvPr id="3" name="Content Placeholder 2">
            <a:extLst>
              <a:ext uri="{FF2B5EF4-FFF2-40B4-BE49-F238E27FC236}">
                <a16:creationId xmlns:a16="http://schemas.microsoft.com/office/drawing/2014/main" xmlns="" id="{2F521855-901C-3DC3-B4D2-3ABACBB5E4D8}"/>
              </a:ext>
            </a:extLst>
          </p:cNvPr>
          <p:cNvSpPr>
            <a:spLocks noGrp="1"/>
          </p:cNvSpPr>
          <p:nvPr>
            <p:ph idx="1"/>
          </p:nvPr>
        </p:nvSpPr>
        <p:spPr>
          <a:xfrm>
            <a:off x="1202919" y="2011680"/>
            <a:ext cx="9784080" cy="3322320"/>
          </a:xfrm>
        </p:spPr>
        <p:txBody>
          <a:bodyPr>
            <a:noAutofit/>
          </a:bodyPr>
          <a:lstStyle/>
          <a:p>
            <a:r>
              <a:rPr lang="en-US" sz="1400" b="1" dirty="0" err="1">
                <a:solidFill>
                  <a:schemeClr val="bg1"/>
                </a:solidFill>
                <a:latin typeface="Times New Roman" pitchFamily="18" charset="0"/>
                <a:cs typeface="Times New Roman" pitchFamily="18" charset="0"/>
              </a:rPr>
              <a:t>Knn</a:t>
            </a:r>
            <a:r>
              <a:rPr lang="en-US" sz="1400" b="1" dirty="0">
                <a:solidFill>
                  <a:schemeClr val="bg1"/>
                </a:solidFill>
                <a:latin typeface="Times New Roman" pitchFamily="18" charset="0"/>
                <a:cs typeface="Times New Roman" pitchFamily="18" charset="0"/>
              </a:rPr>
              <a:t> Algorithm</a:t>
            </a:r>
            <a:r>
              <a:rPr lang="en-US" sz="1400" b="0" dirty="0">
                <a:solidFill>
                  <a:schemeClr val="bg1"/>
                </a:solidFill>
                <a:latin typeface="Times New Roman" pitchFamily="18" charset="0"/>
                <a:cs typeface="Times New Roman" pitchFamily="18" charset="0"/>
              </a:rPr>
              <a:t>	</a:t>
            </a:r>
            <a:br>
              <a:rPr lang="en-US" sz="1400" b="0" dirty="0">
                <a:solidFill>
                  <a:schemeClr val="bg1"/>
                </a:solidFill>
                <a:latin typeface="Times New Roman" pitchFamily="18" charset="0"/>
                <a:cs typeface="Times New Roman" pitchFamily="18" charset="0"/>
              </a:rPr>
            </a:br>
            <a:r>
              <a:rPr lang="en-US" sz="1400" b="0" dirty="0">
                <a:solidFill>
                  <a:schemeClr val="bg1"/>
                </a:solidFill>
                <a:latin typeface="Times New Roman" pitchFamily="18" charset="0"/>
                <a:cs typeface="Times New Roman" pitchFamily="18" charset="0"/>
              </a:rPr>
              <a:t>The working of the K-NN algorithm is as followed:	</a:t>
            </a:r>
            <a:br>
              <a:rPr lang="en-US" sz="1400" b="0" dirty="0">
                <a:solidFill>
                  <a:schemeClr val="bg1"/>
                </a:solidFill>
                <a:latin typeface="Times New Roman" pitchFamily="18" charset="0"/>
                <a:cs typeface="Times New Roman" pitchFamily="18" charset="0"/>
              </a:rPr>
            </a:br>
            <a:r>
              <a:rPr lang="en-US" sz="1400" b="0" dirty="0">
                <a:solidFill>
                  <a:schemeClr val="bg1"/>
                </a:solidFill>
                <a:latin typeface="Times New Roman" pitchFamily="18" charset="0"/>
                <a:cs typeface="Times New Roman" pitchFamily="18" charset="0"/>
              </a:rPr>
              <a:t>• Step-1: Start to select the K value for example k=5</a:t>
            </a:r>
            <a:r>
              <a:rPr lang="en-US" sz="1400" dirty="0">
                <a:solidFill>
                  <a:schemeClr val="bg1"/>
                </a:solidFill>
                <a:latin typeface="Times New Roman" pitchFamily="18" charset="0"/>
                <a:cs typeface="Times New Roman" pitchFamily="18" charset="0"/>
              </a:rPr>
              <a:t/>
            </a:r>
            <a:br>
              <a:rPr lang="en-US" sz="1400" dirty="0">
                <a:solidFill>
                  <a:schemeClr val="bg1"/>
                </a:solidFill>
                <a:latin typeface="Times New Roman" pitchFamily="18" charset="0"/>
                <a:cs typeface="Times New Roman" pitchFamily="18" charset="0"/>
              </a:rPr>
            </a:br>
            <a:r>
              <a:rPr lang="en-US" sz="1400" b="0" dirty="0">
                <a:solidFill>
                  <a:schemeClr val="bg1"/>
                </a:solidFill>
                <a:latin typeface="Times New Roman" pitchFamily="18" charset="0"/>
                <a:cs typeface="Times New Roman" pitchFamily="18" charset="0"/>
              </a:rPr>
              <a:t>• Step-2: Then we will find the Euclidean distance between the points.</a:t>
            </a:r>
            <a:br>
              <a:rPr lang="en-US" sz="1400" b="0" dirty="0">
                <a:solidFill>
                  <a:schemeClr val="bg1"/>
                </a:solidFill>
                <a:latin typeface="Times New Roman" pitchFamily="18" charset="0"/>
                <a:cs typeface="Times New Roman" pitchFamily="18" charset="0"/>
              </a:rPr>
            </a:br>
            <a:r>
              <a:rPr lang="en-US" sz="1400" b="0" dirty="0">
                <a:solidFill>
                  <a:schemeClr val="bg1"/>
                </a:solidFill>
                <a:latin typeface="Times New Roman" pitchFamily="18" charset="0"/>
                <a:cs typeface="Times New Roman" pitchFamily="18" charset="0"/>
              </a:rPr>
              <a:t>                    Euclidean Distance - √(█((x2-x1)^2+(y2-y1)^2@))	</a:t>
            </a:r>
            <a:br>
              <a:rPr lang="en-US" sz="1400" b="0" dirty="0">
                <a:solidFill>
                  <a:schemeClr val="bg1"/>
                </a:solidFill>
                <a:latin typeface="Times New Roman" pitchFamily="18" charset="0"/>
                <a:cs typeface="Times New Roman" pitchFamily="18" charset="0"/>
              </a:rPr>
            </a:br>
            <a:r>
              <a:rPr lang="en-US" sz="1400" b="0" dirty="0">
                <a:solidFill>
                  <a:schemeClr val="bg1"/>
                </a:solidFill>
                <a:latin typeface="Times New Roman" pitchFamily="18" charset="0"/>
                <a:cs typeface="Times New Roman" pitchFamily="18" charset="0"/>
              </a:rPr>
              <a:t>• Step-3: Then we will calculate the Euclidean distance of the nearest </a:t>
            </a:r>
            <a:r>
              <a:rPr lang="en-US" sz="1400" b="0" dirty="0" err="1">
                <a:solidFill>
                  <a:schemeClr val="bg1"/>
                </a:solidFill>
                <a:latin typeface="Times New Roman" pitchFamily="18" charset="0"/>
                <a:cs typeface="Times New Roman" pitchFamily="18" charset="0"/>
              </a:rPr>
              <a:t>neighbour</a:t>
            </a:r>
            <a:r>
              <a:rPr lang="en-US" sz="1400" b="0" dirty="0">
                <a:solidFill>
                  <a:schemeClr val="bg1"/>
                </a:solidFill>
                <a:latin typeface="Times New Roman" pitchFamily="18" charset="0"/>
                <a:cs typeface="Times New Roman" pitchFamily="18" charset="0"/>
              </a:rPr>
              <a:t>. 	</a:t>
            </a:r>
            <a:br>
              <a:rPr lang="en-US" sz="1400" b="0" dirty="0">
                <a:solidFill>
                  <a:schemeClr val="bg1"/>
                </a:solidFill>
                <a:latin typeface="Times New Roman" pitchFamily="18" charset="0"/>
                <a:cs typeface="Times New Roman" pitchFamily="18" charset="0"/>
              </a:rPr>
            </a:br>
            <a:r>
              <a:rPr lang="en-US" sz="1400" b="0" dirty="0">
                <a:solidFill>
                  <a:schemeClr val="bg1"/>
                </a:solidFill>
                <a:latin typeface="Times New Roman" pitchFamily="18" charset="0"/>
                <a:cs typeface="Times New Roman" pitchFamily="18" charset="0"/>
              </a:rPr>
              <a:t>• Step-4: Then count the number of the data points in each category .For example found three values for Category A and two values for category B.	</a:t>
            </a:r>
            <a:br>
              <a:rPr lang="en-US" sz="1400" b="0" dirty="0">
                <a:solidFill>
                  <a:schemeClr val="bg1"/>
                </a:solidFill>
                <a:latin typeface="Times New Roman" pitchFamily="18" charset="0"/>
                <a:cs typeface="Times New Roman" pitchFamily="18" charset="0"/>
              </a:rPr>
            </a:br>
            <a:r>
              <a:rPr lang="en-US" sz="1400" b="0" dirty="0">
                <a:solidFill>
                  <a:schemeClr val="bg1"/>
                </a:solidFill>
                <a:latin typeface="Times New Roman" pitchFamily="18" charset="0"/>
                <a:cs typeface="Times New Roman" pitchFamily="18" charset="0"/>
              </a:rPr>
              <a:t>• Step-5: Then assign the new point to the category having maximum number of </a:t>
            </a:r>
            <a:r>
              <a:rPr lang="en-US" sz="1400" b="0" dirty="0" err="1">
                <a:solidFill>
                  <a:schemeClr val="bg1"/>
                </a:solidFill>
                <a:latin typeface="Times New Roman" pitchFamily="18" charset="0"/>
                <a:cs typeface="Times New Roman" pitchFamily="18" charset="0"/>
              </a:rPr>
              <a:t>neighbours</a:t>
            </a:r>
            <a:r>
              <a:rPr lang="en-US" sz="1400" b="0" dirty="0">
                <a:solidFill>
                  <a:schemeClr val="bg1"/>
                </a:solidFill>
                <a:latin typeface="Times New Roman" pitchFamily="18" charset="0"/>
                <a:cs typeface="Times New Roman" pitchFamily="18" charset="0"/>
              </a:rPr>
              <a:t>. For example Category A has highest number of </a:t>
            </a:r>
            <a:r>
              <a:rPr lang="en-US" sz="1400" b="0" dirty="0" err="1">
                <a:solidFill>
                  <a:schemeClr val="bg1"/>
                </a:solidFill>
                <a:latin typeface="Times New Roman" pitchFamily="18" charset="0"/>
                <a:cs typeface="Times New Roman" pitchFamily="18" charset="0"/>
              </a:rPr>
              <a:t>neighbour</a:t>
            </a:r>
            <a:r>
              <a:rPr lang="en-US" sz="1400" b="0" dirty="0">
                <a:solidFill>
                  <a:schemeClr val="bg1"/>
                </a:solidFill>
                <a:latin typeface="Times New Roman" pitchFamily="18" charset="0"/>
                <a:cs typeface="Times New Roman" pitchFamily="18" charset="0"/>
              </a:rPr>
              <a:t> so we will assign the new data point to category A.	</a:t>
            </a:r>
            <a:br>
              <a:rPr lang="en-US" sz="1400" b="0" dirty="0">
                <a:solidFill>
                  <a:schemeClr val="bg1"/>
                </a:solidFill>
                <a:latin typeface="Times New Roman" pitchFamily="18" charset="0"/>
                <a:cs typeface="Times New Roman" pitchFamily="18" charset="0"/>
              </a:rPr>
            </a:br>
            <a:r>
              <a:rPr lang="en-US" sz="1400" b="0" dirty="0">
                <a:solidFill>
                  <a:schemeClr val="bg1"/>
                </a:solidFill>
                <a:latin typeface="Times New Roman" pitchFamily="18" charset="0"/>
                <a:cs typeface="Times New Roman" pitchFamily="18" charset="0"/>
              </a:rPr>
              <a:t>• Step-6: So finally our </a:t>
            </a:r>
            <a:r>
              <a:rPr lang="en-US" sz="1400" b="0" dirty="0" err="1">
                <a:solidFill>
                  <a:schemeClr val="bg1"/>
                </a:solidFill>
                <a:latin typeface="Times New Roman" pitchFamily="18" charset="0"/>
                <a:cs typeface="Times New Roman" pitchFamily="18" charset="0"/>
              </a:rPr>
              <a:t>Knn</a:t>
            </a:r>
            <a:r>
              <a:rPr lang="en-US" sz="1400" b="0" dirty="0">
                <a:solidFill>
                  <a:schemeClr val="bg1"/>
                </a:solidFill>
                <a:latin typeface="Times New Roman" pitchFamily="18" charset="0"/>
                <a:cs typeface="Times New Roman" pitchFamily="18" charset="0"/>
              </a:rPr>
              <a:t> model is ready. </a:t>
            </a:r>
            <a:br>
              <a:rPr lang="en-US" sz="1400" b="0" dirty="0">
                <a:solidFill>
                  <a:schemeClr val="bg1"/>
                </a:solidFill>
                <a:latin typeface="Times New Roman" pitchFamily="18" charset="0"/>
                <a:cs typeface="Times New Roman" pitchFamily="18" charset="0"/>
              </a:rPr>
            </a:br>
            <a:r>
              <a:rPr lang="en-US" sz="1400" b="0" dirty="0">
                <a:solidFill>
                  <a:schemeClr val="bg1"/>
                </a:solidFill>
                <a:latin typeface="Times New Roman" pitchFamily="18" charset="0"/>
                <a:cs typeface="Times New Roman" pitchFamily="18" charset="0"/>
              </a:rPr>
              <a:t/>
            </a:r>
            <a:br>
              <a:rPr lang="en-US" sz="1400" b="0" dirty="0">
                <a:solidFill>
                  <a:schemeClr val="bg1"/>
                </a:solidFill>
                <a:latin typeface="Times New Roman" pitchFamily="18" charset="0"/>
                <a:cs typeface="Times New Roman" pitchFamily="18" charset="0"/>
              </a:rPr>
            </a:br>
            <a:r>
              <a:rPr lang="en-US" sz="1400" b="1" dirty="0">
                <a:solidFill>
                  <a:schemeClr val="bg1"/>
                </a:solidFill>
                <a:latin typeface="Times New Roman" pitchFamily="18" charset="0"/>
                <a:cs typeface="Times New Roman" pitchFamily="18" charset="0"/>
              </a:rPr>
              <a:t>Random Forest Algorithm </a:t>
            </a:r>
            <a:br>
              <a:rPr lang="en-US" sz="1400" b="1" dirty="0">
                <a:solidFill>
                  <a:schemeClr val="bg1"/>
                </a:solidFill>
                <a:latin typeface="Times New Roman" pitchFamily="18" charset="0"/>
                <a:cs typeface="Times New Roman" pitchFamily="18" charset="0"/>
              </a:rPr>
            </a:br>
            <a:r>
              <a:rPr lang="en-US" sz="1400" b="0" dirty="0">
                <a:solidFill>
                  <a:schemeClr val="bg1"/>
                </a:solidFill>
                <a:latin typeface="Times New Roman" pitchFamily="18" charset="0"/>
                <a:cs typeface="Times New Roman" pitchFamily="18" charset="0"/>
              </a:rPr>
              <a:t/>
            </a:r>
            <a:br>
              <a:rPr lang="en-US" sz="1400" b="0" dirty="0">
                <a:solidFill>
                  <a:schemeClr val="bg1"/>
                </a:solidFill>
                <a:latin typeface="Times New Roman" pitchFamily="18" charset="0"/>
                <a:cs typeface="Times New Roman" pitchFamily="18" charset="0"/>
              </a:rPr>
            </a:br>
            <a:r>
              <a:rPr lang="en-US" sz="1400" b="0" dirty="0">
                <a:solidFill>
                  <a:schemeClr val="bg1"/>
                </a:solidFill>
                <a:latin typeface="Times New Roman" pitchFamily="18" charset="0"/>
                <a:cs typeface="Times New Roman" pitchFamily="18" charset="0"/>
              </a:rPr>
              <a:t>Random Forest working is possible in two phases , first is to create the random forest by merging N decision tree, and second is making prediction for each tree created in the first phase. The working of the random forest is as follows:	</a:t>
            </a:r>
            <a:br>
              <a:rPr lang="en-US" sz="1400" b="0" dirty="0">
                <a:solidFill>
                  <a:schemeClr val="bg1"/>
                </a:solidFill>
                <a:latin typeface="Times New Roman" pitchFamily="18" charset="0"/>
                <a:cs typeface="Times New Roman" pitchFamily="18" charset="0"/>
              </a:rPr>
            </a:br>
            <a:r>
              <a:rPr lang="en-US" sz="1400" b="0" dirty="0">
                <a:solidFill>
                  <a:schemeClr val="bg1"/>
                </a:solidFill>
                <a:latin typeface="Times New Roman" pitchFamily="18" charset="0"/>
                <a:cs typeface="Times New Roman" pitchFamily="18" charset="0"/>
              </a:rPr>
              <a:t>Step-1: Firstly it will select random K data points from the training set.	</a:t>
            </a:r>
            <a:br>
              <a:rPr lang="en-US" sz="1400" b="0" dirty="0">
                <a:solidFill>
                  <a:schemeClr val="bg1"/>
                </a:solidFill>
                <a:latin typeface="Times New Roman" pitchFamily="18" charset="0"/>
                <a:cs typeface="Times New Roman" pitchFamily="18" charset="0"/>
              </a:rPr>
            </a:br>
            <a:r>
              <a:rPr lang="en-US" sz="1400" b="0" dirty="0">
                <a:solidFill>
                  <a:schemeClr val="bg1"/>
                </a:solidFill>
                <a:latin typeface="Times New Roman" pitchFamily="18" charset="0"/>
                <a:cs typeface="Times New Roman" pitchFamily="18" charset="0"/>
              </a:rPr>
              <a:t>Step-2: After selecting k data points then building the decision trees associated with the selected data points (Subsets).	</a:t>
            </a:r>
            <a:br>
              <a:rPr lang="en-US" sz="1400" b="0" dirty="0">
                <a:solidFill>
                  <a:schemeClr val="bg1"/>
                </a:solidFill>
                <a:latin typeface="Times New Roman" pitchFamily="18" charset="0"/>
                <a:cs typeface="Times New Roman" pitchFamily="18" charset="0"/>
              </a:rPr>
            </a:br>
            <a:r>
              <a:rPr lang="en-US" sz="1400" b="0" dirty="0">
                <a:solidFill>
                  <a:schemeClr val="bg1"/>
                </a:solidFill>
                <a:latin typeface="Times New Roman" pitchFamily="18" charset="0"/>
                <a:cs typeface="Times New Roman" pitchFamily="18" charset="0"/>
              </a:rPr>
              <a:t>Step-3: Then choosing the number N for decision trees that you want to build.	</a:t>
            </a:r>
            <a:br>
              <a:rPr lang="en-US" sz="1400" b="0" dirty="0">
                <a:solidFill>
                  <a:schemeClr val="bg1"/>
                </a:solidFill>
                <a:latin typeface="Times New Roman" pitchFamily="18" charset="0"/>
                <a:cs typeface="Times New Roman" pitchFamily="18" charset="0"/>
              </a:rPr>
            </a:br>
            <a:r>
              <a:rPr lang="en-US" sz="1400" b="0" dirty="0">
                <a:solidFill>
                  <a:schemeClr val="bg1"/>
                </a:solidFill>
                <a:latin typeface="Times New Roman" pitchFamily="18" charset="0"/>
                <a:cs typeface="Times New Roman" pitchFamily="18" charset="0"/>
              </a:rPr>
              <a:t>Step-4:Repeating step 1 and 2 .	</a:t>
            </a:r>
            <a:br>
              <a:rPr lang="en-US" sz="1400" b="0" dirty="0">
                <a:solidFill>
                  <a:schemeClr val="bg1"/>
                </a:solidFill>
                <a:latin typeface="Times New Roman" pitchFamily="18" charset="0"/>
                <a:cs typeface="Times New Roman" pitchFamily="18" charset="0"/>
              </a:rPr>
            </a:br>
            <a:r>
              <a:rPr lang="en-US" sz="1400" b="0" dirty="0">
                <a:solidFill>
                  <a:schemeClr val="bg1"/>
                </a:solidFill>
                <a:latin typeface="Times New Roman" pitchFamily="18" charset="0"/>
                <a:cs typeface="Times New Roman" pitchFamily="18" charset="0"/>
              </a:rPr>
              <a:t>Step-5: Finding the predictions of each decision tree, and assigning the new data points to the category that wins the majority votes.</a:t>
            </a:r>
            <a:endParaRPr lang="en-US" sz="1400" dirty="0"/>
          </a:p>
        </p:txBody>
      </p:sp>
    </p:spTree>
    <p:extLst>
      <p:ext uri="{BB962C8B-B14F-4D97-AF65-F5344CB8AC3E}">
        <p14:creationId xmlns:p14="http://schemas.microsoft.com/office/powerpoint/2010/main" val="341806319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AEAA4A99-56AA-667B-8CF5-70CB24076D5F}"/>
              </a:ext>
            </a:extLst>
          </p:cNvPr>
          <p:cNvSpPr txBox="1"/>
          <p:nvPr/>
        </p:nvSpPr>
        <p:spPr>
          <a:xfrm>
            <a:off x="1219200" y="990600"/>
            <a:ext cx="8839200" cy="4247317"/>
          </a:xfrm>
          <a:prstGeom prst="rect">
            <a:avLst/>
          </a:prstGeom>
          <a:noFill/>
        </p:spPr>
        <p:txBody>
          <a:bodyPr wrap="square">
            <a:spAutoFit/>
          </a:bodyPr>
          <a:lstStyle/>
          <a:p>
            <a:r>
              <a:rPr lang="en-US" sz="1500" b="1" dirty="0">
                <a:solidFill>
                  <a:schemeClr val="bg1"/>
                </a:solidFill>
                <a:latin typeface="Times New Roman" pitchFamily="18" charset="0"/>
                <a:cs typeface="Times New Roman" pitchFamily="18" charset="0"/>
              </a:rPr>
              <a:t>XGBoost Algorithm </a:t>
            </a:r>
            <a:r>
              <a:rPr lang="en-US" sz="1500" b="0" dirty="0">
                <a:solidFill>
                  <a:schemeClr val="bg1"/>
                </a:solidFill>
                <a:latin typeface="Times New Roman" pitchFamily="18" charset="0"/>
                <a:cs typeface="Times New Roman" pitchFamily="18" charset="0"/>
              </a:rPr>
              <a:t/>
            </a:r>
            <a:br>
              <a:rPr lang="en-US" sz="1500" b="0" dirty="0">
                <a:solidFill>
                  <a:schemeClr val="bg1"/>
                </a:solidFill>
                <a:latin typeface="Times New Roman" pitchFamily="18" charset="0"/>
                <a:cs typeface="Times New Roman" pitchFamily="18" charset="0"/>
              </a:rPr>
            </a:br>
            <a:r>
              <a:rPr lang="en-US" sz="1500" b="0" dirty="0">
                <a:solidFill>
                  <a:schemeClr val="bg1"/>
                </a:solidFill>
                <a:latin typeface="Times New Roman" pitchFamily="18" charset="0"/>
                <a:cs typeface="Times New Roman" pitchFamily="18" charset="0"/>
              </a:rPr>
              <a:t>The working of XGBoost algorithm are as follows:	</a:t>
            </a:r>
            <a:br>
              <a:rPr lang="en-US" sz="1500" b="0" dirty="0">
                <a:solidFill>
                  <a:schemeClr val="bg1"/>
                </a:solidFill>
                <a:latin typeface="Times New Roman" pitchFamily="18" charset="0"/>
                <a:cs typeface="Times New Roman" pitchFamily="18" charset="0"/>
              </a:rPr>
            </a:br>
            <a:r>
              <a:rPr lang="en-US" sz="1500" b="0" dirty="0">
                <a:solidFill>
                  <a:schemeClr val="bg1"/>
                </a:solidFill>
                <a:latin typeface="Times New Roman" pitchFamily="18" charset="0"/>
                <a:cs typeface="Times New Roman" pitchFamily="18" charset="0"/>
              </a:rPr>
              <a:t>Step 1: Firstly creating a single leaf tree.	</a:t>
            </a:r>
            <a:br>
              <a:rPr lang="en-US" sz="1500" b="0" dirty="0">
                <a:solidFill>
                  <a:schemeClr val="bg1"/>
                </a:solidFill>
                <a:latin typeface="Times New Roman" pitchFamily="18" charset="0"/>
                <a:cs typeface="Times New Roman" pitchFamily="18" charset="0"/>
              </a:rPr>
            </a:br>
            <a:r>
              <a:rPr lang="en-US" sz="1500" b="0" dirty="0">
                <a:solidFill>
                  <a:schemeClr val="bg1"/>
                </a:solidFill>
                <a:latin typeface="Times New Roman" pitchFamily="18" charset="0"/>
                <a:cs typeface="Times New Roman" pitchFamily="18" charset="0"/>
              </a:rPr>
              <a:t>Step 2: Then for the first tree, we have to compute the average of target variable as prediction and then calculating the residuals using the desired loss function and then for subsequent trees the residuals come from prediction that was there in previous tree.	</a:t>
            </a:r>
            <a:br>
              <a:rPr lang="en-US" sz="1500" b="0" dirty="0">
                <a:solidFill>
                  <a:schemeClr val="bg1"/>
                </a:solidFill>
                <a:latin typeface="Times New Roman" pitchFamily="18" charset="0"/>
                <a:cs typeface="Times New Roman" pitchFamily="18" charset="0"/>
              </a:rPr>
            </a:br>
            <a:r>
              <a:rPr lang="en-US" sz="1500" b="0" dirty="0">
                <a:solidFill>
                  <a:schemeClr val="bg1"/>
                </a:solidFill>
                <a:latin typeface="Times New Roman" pitchFamily="18" charset="0"/>
                <a:cs typeface="Times New Roman" pitchFamily="18" charset="0"/>
              </a:rPr>
              <a:t>Step 3: Calculating the similarity score using formula: where, Hessian is equal to number of residuals; Gradient2 = squared sum of residuals; λ is a regularization hyperparameter.	</a:t>
            </a:r>
            <a:br>
              <a:rPr lang="en-US" sz="1500" b="0" dirty="0">
                <a:solidFill>
                  <a:schemeClr val="bg1"/>
                </a:solidFill>
                <a:latin typeface="Times New Roman" pitchFamily="18" charset="0"/>
                <a:cs typeface="Times New Roman" pitchFamily="18" charset="0"/>
              </a:rPr>
            </a:br>
            <a:r>
              <a:rPr lang="en-US" sz="1500" b="0" dirty="0">
                <a:solidFill>
                  <a:schemeClr val="bg1"/>
                </a:solidFill>
                <a:latin typeface="Times New Roman" pitchFamily="18" charset="0"/>
                <a:cs typeface="Times New Roman" pitchFamily="18" charset="0"/>
              </a:rPr>
              <a:t>Step 4: Applying similarity score we select the appropriate node. The higher the similarity score more the homogeneity.	</a:t>
            </a:r>
            <a:br>
              <a:rPr lang="en-US" sz="1500" b="0" dirty="0">
                <a:solidFill>
                  <a:schemeClr val="bg1"/>
                </a:solidFill>
                <a:latin typeface="Times New Roman" pitchFamily="18" charset="0"/>
                <a:cs typeface="Times New Roman" pitchFamily="18" charset="0"/>
              </a:rPr>
            </a:br>
            <a:r>
              <a:rPr lang="en-US" sz="1500" b="0" dirty="0">
                <a:solidFill>
                  <a:schemeClr val="bg1"/>
                </a:solidFill>
                <a:latin typeface="Times New Roman" pitchFamily="18" charset="0"/>
                <a:cs typeface="Times New Roman" pitchFamily="18" charset="0"/>
              </a:rPr>
              <a:t>Step 5: Applying similarity score we calculate Information gain. Information gain help to find the difference between old similarity and new similarity and tells how much homogeneity is achieved by splitting the node at a given point. 	</a:t>
            </a:r>
            <a:br>
              <a:rPr lang="en-US" sz="1500" b="0" dirty="0">
                <a:solidFill>
                  <a:schemeClr val="bg1"/>
                </a:solidFill>
                <a:latin typeface="Times New Roman" pitchFamily="18" charset="0"/>
                <a:cs typeface="Times New Roman" pitchFamily="18" charset="0"/>
              </a:rPr>
            </a:br>
            <a:r>
              <a:rPr lang="en-US" sz="1500" b="0" dirty="0">
                <a:solidFill>
                  <a:schemeClr val="bg1"/>
                </a:solidFill>
                <a:latin typeface="Times New Roman" pitchFamily="18" charset="0"/>
                <a:cs typeface="Times New Roman" pitchFamily="18" charset="0"/>
              </a:rPr>
              <a:t>Step 6:Creating the tree of desired length using the above method pruning and regularization can be done by playing with the regularization hyperparameter. </a:t>
            </a:r>
            <a:br>
              <a:rPr lang="en-US" sz="1500" b="0" dirty="0">
                <a:solidFill>
                  <a:schemeClr val="bg1"/>
                </a:solidFill>
                <a:latin typeface="Times New Roman" pitchFamily="18" charset="0"/>
                <a:cs typeface="Times New Roman" pitchFamily="18" charset="0"/>
              </a:rPr>
            </a:br>
            <a:r>
              <a:rPr lang="en-US" sz="1500" b="0" dirty="0">
                <a:solidFill>
                  <a:schemeClr val="bg1"/>
                </a:solidFill>
                <a:latin typeface="Times New Roman" pitchFamily="18" charset="0"/>
                <a:cs typeface="Times New Roman" pitchFamily="18" charset="0"/>
              </a:rPr>
              <a:t>Step 7: Then we can predict the residual values using the Decision Tree you constructed.	</a:t>
            </a:r>
            <a:br>
              <a:rPr lang="en-US" sz="1500" b="0" dirty="0">
                <a:solidFill>
                  <a:schemeClr val="bg1"/>
                </a:solidFill>
                <a:latin typeface="Times New Roman" pitchFamily="18" charset="0"/>
                <a:cs typeface="Times New Roman" pitchFamily="18" charset="0"/>
              </a:rPr>
            </a:br>
            <a:r>
              <a:rPr lang="en-US" sz="1500" b="0" dirty="0">
                <a:solidFill>
                  <a:schemeClr val="bg1"/>
                </a:solidFill>
                <a:latin typeface="Times New Roman" pitchFamily="18" charset="0"/>
                <a:cs typeface="Times New Roman" pitchFamily="18" charset="0"/>
              </a:rPr>
              <a:t>Step 8: The new set of residuals is calculated as: where ρ is the learning rate.	</a:t>
            </a:r>
            <a:br>
              <a:rPr lang="en-US" sz="1500" b="0" dirty="0">
                <a:solidFill>
                  <a:schemeClr val="bg1"/>
                </a:solidFill>
                <a:latin typeface="Times New Roman" pitchFamily="18" charset="0"/>
                <a:cs typeface="Times New Roman" pitchFamily="18" charset="0"/>
              </a:rPr>
            </a:br>
            <a:r>
              <a:rPr lang="en-US" sz="1500" b="0" dirty="0">
                <a:solidFill>
                  <a:schemeClr val="bg1"/>
                </a:solidFill>
                <a:latin typeface="Times New Roman" pitchFamily="18" charset="0"/>
                <a:cs typeface="Times New Roman" pitchFamily="18" charset="0"/>
              </a:rPr>
              <a:t>Step 9:Then go back to step 1 and repeat the process for all	</a:t>
            </a:r>
            <a:endParaRPr lang="en-US" sz="1500" dirty="0"/>
          </a:p>
        </p:txBody>
      </p:sp>
    </p:spTree>
    <p:extLst>
      <p:ext uri="{BB962C8B-B14F-4D97-AF65-F5344CB8AC3E}">
        <p14:creationId xmlns:p14="http://schemas.microsoft.com/office/powerpoint/2010/main" val="194726150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0FA30CB-69F0-E30C-C688-67FED86F1612}"/>
              </a:ext>
            </a:extLst>
          </p:cNvPr>
          <p:cNvSpPr>
            <a:spLocks noGrp="1"/>
          </p:cNvSpPr>
          <p:nvPr>
            <p:ph type="title"/>
          </p:nvPr>
        </p:nvSpPr>
        <p:spPr>
          <a:xfrm>
            <a:off x="609600" y="762000"/>
            <a:ext cx="9613861" cy="1080938"/>
          </a:xfrm>
        </p:spPr>
        <p:txBody>
          <a:bodyPr/>
          <a:lstStyle/>
          <a:p>
            <a:r>
              <a:rPr lang="en-US" dirty="0"/>
              <a:t>Algorithms Used(Features):</a:t>
            </a:r>
          </a:p>
        </p:txBody>
      </p:sp>
      <p:sp>
        <p:nvSpPr>
          <p:cNvPr id="7" name="Rectangle 6">
            <a:extLst>
              <a:ext uri="{FF2B5EF4-FFF2-40B4-BE49-F238E27FC236}">
                <a16:creationId xmlns:a16="http://schemas.microsoft.com/office/drawing/2014/main" xmlns="" id="{B742C96C-61C5-B19A-85AC-CE096CF55D98}"/>
              </a:ext>
            </a:extLst>
          </p:cNvPr>
          <p:cNvSpPr/>
          <p:nvPr/>
        </p:nvSpPr>
        <p:spPr>
          <a:xfrm>
            <a:off x="609600" y="2879458"/>
            <a:ext cx="8770033" cy="5632311"/>
          </a:xfrm>
          <a:prstGeom prst="rect">
            <a:avLst/>
          </a:prstGeom>
          <a:noFill/>
        </p:spPr>
        <p:txBody>
          <a:bodyPr wrap="square" lIns="91440" tIns="45720" rIns="91440" bIns="45720">
            <a:spAutoFit/>
          </a:bodyPr>
          <a:lstStyle/>
          <a:p>
            <a:pPr>
              <a:buFont typeface="Arial" pitchFamily="34" charset="0"/>
              <a:buChar char="•"/>
            </a:pPr>
            <a:r>
              <a:rPr lang="en-IN" b="1" dirty="0">
                <a:solidFill>
                  <a:schemeClr val="bg1"/>
                </a:solidFill>
              </a:rPr>
              <a:t> Machine learning Algorithms.</a:t>
            </a:r>
          </a:p>
          <a:p>
            <a:pPr>
              <a:buFont typeface="Arial" pitchFamily="34" charset="0"/>
              <a:buChar char="•"/>
            </a:pPr>
            <a:endParaRPr lang="en-IN" b="1" dirty="0">
              <a:solidFill>
                <a:schemeClr val="bg1"/>
              </a:solidFill>
            </a:endParaRPr>
          </a:p>
          <a:p>
            <a:pPr>
              <a:buFont typeface="Arial" pitchFamily="34" charset="0"/>
              <a:buChar char="•"/>
            </a:pPr>
            <a:r>
              <a:rPr lang="en-IN" b="1" dirty="0">
                <a:solidFill>
                  <a:schemeClr val="bg1"/>
                </a:solidFill>
              </a:rPr>
              <a:t> Deep learning models. </a:t>
            </a:r>
          </a:p>
          <a:p>
            <a:r>
              <a:rPr lang="en-US" b="1" dirty="0">
                <a:solidFill>
                  <a:schemeClr val="bg1"/>
                </a:solidFill>
              </a:rPr>
              <a:t> </a:t>
            </a:r>
          </a:p>
          <a:p>
            <a:pPr>
              <a:buFont typeface="Arial" pitchFamily="34" charset="0"/>
              <a:buChar char="•"/>
            </a:pPr>
            <a:r>
              <a:rPr lang="en-US" b="1" dirty="0">
                <a:solidFill>
                  <a:schemeClr val="bg1"/>
                </a:solidFill>
              </a:rPr>
              <a:t> Convolutional neural network.</a:t>
            </a:r>
          </a:p>
          <a:p>
            <a:endParaRPr lang="en-US" b="1" dirty="0">
              <a:solidFill>
                <a:schemeClr val="bg1"/>
              </a:solidFill>
            </a:endParaRPr>
          </a:p>
          <a:p>
            <a:pPr>
              <a:buFont typeface="Arial" pitchFamily="34" charset="0"/>
              <a:buChar char="•"/>
            </a:pPr>
            <a:r>
              <a:rPr lang="en-US" b="1" dirty="0">
                <a:solidFill>
                  <a:schemeClr val="bg1"/>
                </a:solidFill>
              </a:rPr>
              <a:t> K nearest </a:t>
            </a:r>
            <a:r>
              <a:rPr lang="en-US" b="1" dirty="0" err="1">
                <a:solidFill>
                  <a:schemeClr val="bg1"/>
                </a:solidFill>
              </a:rPr>
              <a:t>Neighbours</a:t>
            </a:r>
            <a:r>
              <a:rPr lang="en-US" b="1" dirty="0">
                <a:solidFill>
                  <a:schemeClr val="bg1"/>
                </a:solidFill>
              </a:rPr>
              <a:t>.</a:t>
            </a:r>
          </a:p>
          <a:p>
            <a:endParaRPr lang="en-US" b="1" dirty="0">
              <a:solidFill>
                <a:schemeClr val="bg1"/>
              </a:solidFill>
            </a:endParaRPr>
          </a:p>
          <a:p>
            <a:pPr>
              <a:buFont typeface="Arial" pitchFamily="34" charset="0"/>
              <a:buChar char="•"/>
            </a:pPr>
            <a:r>
              <a:rPr lang="en-US" b="1" dirty="0">
                <a:solidFill>
                  <a:schemeClr val="bg1"/>
                </a:solidFill>
              </a:rPr>
              <a:t> Convolutional Neural Network.</a:t>
            </a:r>
          </a:p>
          <a:p>
            <a:pPr>
              <a:buFont typeface="Arial" pitchFamily="34" charset="0"/>
              <a:buChar char="•"/>
            </a:pPr>
            <a:endParaRPr lang="en-US" b="1" dirty="0">
              <a:solidFill>
                <a:schemeClr val="bg1"/>
              </a:solidFill>
            </a:endParaRPr>
          </a:p>
          <a:p>
            <a:pPr>
              <a:buFont typeface="Arial" pitchFamily="34" charset="0"/>
              <a:buChar char="•"/>
            </a:pPr>
            <a:r>
              <a:rPr lang="en-US" b="1" dirty="0">
                <a:solidFill>
                  <a:schemeClr val="bg1"/>
                </a:solidFill>
              </a:rPr>
              <a:t> </a:t>
            </a:r>
            <a:r>
              <a:rPr lang="en-US" b="1" dirty="0" err="1">
                <a:solidFill>
                  <a:schemeClr val="bg1"/>
                </a:solidFill>
              </a:rPr>
              <a:t>XgBoost</a:t>
            </a:r>
            <a:r>
              <a:rPr lang="en-US" b="1" dirty="0">
                <a:solidFill>
                  <a:schemeClr val="bg1"/>
                </a:solidFill>
              </a:rPr>
              <a:t> Algorithm.</a:t>
            </a:r>
          </a:p>
          <a:p>
            <a:endParaRPr lang="en-US" b="1" dirty="0">
              <a:solidFill>
                <a:schemeClr val="bg1"/>
              </a:solidFill>
            </a:endParaRPr>
          </a:p>
          <a:p>
            <a:pPr>
              <a:buFont typeface="Arial" pitchFamily="34" charset="0"/>
              <a:buChar char="•"/>
            </a:pPr>
            <a:r>
              <a:rPr lang="en-US" b="1" dirty="0">
                <a:solidFill>
                  <a:schemeClr val="bg1"/>
                </a:solidFill>
              </a:rPr>
              <a:t> Random Forest.</a:t>
            </a:r>
          </a:p>
          <a:p>
            <a:endParaRPr lang="en-US" b="1" dirty="0">
              <a:solidFill>
                <a:schemeClr val="bg1"/>
              </a:solidFill>
            </a:endParaRPr>
          </a:p>
          <a:p>
            <a:endParaRPr lang="en-US" b="1" dirty="0">
              <a:solidFill>
                <a:schemeClr val="bg1"/>
              </a:solidFill>
            </a:endParaRPr>
          </a:p>
          <a:p>
            <a:endParaRPr lang="en-US" b="1" dirty="0">
              <a:solidFill>
                <a:schemeClr val="bg1"/>
              </a:solidFill>
            </a:endParaRPr>
          </a:p>
          <a:p>
            <a:endParaRPr lang="en-US" b="1" dirty="0">
              <a:solidFill>
                <a:schemeClr val="bg1"/>
              </a:solidFill>
            </a:endParaRPr>
          </a:p>
          <a:p>
            <a:endParaRPr lang="en-US" b="1" dirty="0">
              <a:solidFill>
                <a:schemeClr val="bg1"/>
              </a:solidFill>
            </a:endParaRPr>
          </a:p>
          <a:p>
            <a:endParaRPr lang="en-US" b="1" dirty="0">
              <a:solidFill>
                <a:schemeClr val="bg1"/>
              </a:solidFill>
            </a:endParaRPr>
          </a:p>
          <a:p>
            <a:endParaRPr lang="en-US" b="1" dirty="0">
              <a:solidFill>
                <a:schemeClr val="bg1"/>
              </a:solidFill>
            </a:endParaRPr>
          </a:p>
        </p:txBody>
      </p:sp>
    </p:spTree>
    <p:extLst>
      <p:ext uri="{BB962C8B-B14F-4D97-AF65-F5344CB8AC3E}">
        <p14:creationId xmlns:p14="http://schemas.microsoft.com/office/powerpoint/2010/main" val="249076411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F7E2F3E-42B0-9769-AC7B-8C412C4C8819}"/>
              </a:ext>
            </a:extLst>
          </p:cNvPr>
          <p:cNvSpPr>
            <a:spLocks noGrp="1"/>
          </p:cNvSpPr>
          <p:nvPr>
            <p:ph type="title"/>
          </p:nvPr>
        </p:nvSpPr>
        <p:spPr/>
        <p:txBody>
          <a:bodyPr/>
          <a:lstStyle/>
          <a:p>
            <a:r>
              <a:rPr lang="en-US" dirty="0"/>
              <a:t>Software Requirements:</a:t>
            </a:r>
          </a:p>
        </p:txBody>
      </p:sp>
      <p:sp>
        <p:nvSpPr>
          <p:cNvPr id="3" name="Content Placeholder 2">
            <a:extLst>
              <a:ext uri="{FF2B5EF4-FFF2-40B4-BE49-F238E27FC236}">
                <a16:creationId xmlns:a16="http://schemas.microsoft.com/office/drawing/2014/main" xmlns="" id="{73E7B15E-E010-7524-3760-73AFA082C4EE}"/>
              </a:ext>
            </a:extLst>
          </p:cNvPr>
          <p:cNvSpPr>
            <a:spLocks noGrp="1"/>
          </p:cNvSpPr>
          <p:nvPr>
            <p:ph idx="1"/>
          </p:nvPr>
        </p:nvSpPr>
        <p:spPr/>
        <p:txBody>
          <a:bodyPr/>
          <a:lstStyle/>
          <a:p>
            <a:r>
              <a:rPr lang="en-US" dirty="0">
                <a:solidFill>
                  <a:schemeClr val="bg1"/>
                </a:solidFill>
              </a:rPr>
              <a:t>Coding Language : python</a:t>
            </a:r>
          </a:p>
          <a:p>
            <a:r>
              <a:rPr lang="en-US" dirty="0">
                <a:solidFill>
                  <a:schemeClr val="bg1"/>
                </a:solidFill>
              </a:rPr>
              <a:t>Technologies: Machine learning, Deep learning</a:t>
            </a:r>
          </a:p>
          <a:p>
            <a:r>
              <a:rPr lang="en-US" dirty="0">
                <a:solidFill>
                  <a:schemeClr val="bg1"/>
                </a:solidFill>
              </a:rPr>
              <a:t>Operating System : Windows 11</a:t>
            </a:r>
          </a:p>
          <a:p>
            <a:r>
              <a:rPr lang="en-US" dirty="0">
                <a:solidFill>
                  <a:schemeClr val="bg1"/>
                </a:solidFill>
              </a:rPr>
              <a:t>Frontend : HTML, </a:t>
            </a:r>
            <a:r>
              <a:rPr lang="en-US" dirty="0" smtClean="0">
                <a:solidFill>
                  <a:schemeClr val="bg1"/>
                </a:solidFill>
              </a:rPr>
              <a:t>CSS and Java Script</a:t>
            </a:r>
            <a:endParaRPr lang="en-US" dirty="0">
              <a:solidFill>
                <a:schemeClr val="bg1"/>
              </a:solidFill>
            </a:endParaRPr>
          </a:p>
          <a:p>
            <a:r>
              <a:rPr lang="en-US" dirty="0">
                <a:solidFill>
                  <a:schemeClr val="bg1"/>
                </a:solidFill>
              </a:rPr>
              <a:t>Backend : python </a:t>
            </a:r>
          </a:p>
          <a:p>
            <a:r>
              <a:rPr lang="en-US" dirty="0">
                <a:solidFill>
                  <a:schemeClr val="bg1"/>
                </a:solidFill>
              </a:rPr>
              <a:t>Frameworks: Flask.</a:t>
            </a:r>
          </a:p>
          <a:p>
            <a:r>
              <a:rPr lang="en-US" dirty="0">
                <a:solidFill>
                  <a:schemeClr val="bg1"/>
                </a:solidFill>
              </a:rPr>
              <a:t>DATABASE : Mongo </a:t>
            </a:r>
            <a:r>
              <a:rPr lang="en-US" dirty="0" smtClean="0">
                <a:solidFill>
                  <a:schemeClr val="bg1"/>
                </a:solidFill>
              </a:rPr>
              <a:t>DB</a:t>
            </a:r>
            <a:r>
              <a:rPr lang="en-US" smtClean="0">
                <a:solidFill>
                  <a:schemeClr val="bg1"/>
                </a:solidFill>
              </a:rPr>
              <a:t>, MySQL</a:t>
            </a:r>
            <a:endParaRPr lang="en-US" dirty="0">
              <a:solidFill>
                <a:schemeClr val="bg1"/>
              </a:solidFill>
            </a:endParaRPr>
          </a:p>
          <a:p>
            <a:endParaRPr lang="en-US" dirty="0"/>
          </a:p>
        </p:txBody>
      </p:sp>
    </p:spTree>
    <p:extLst>
      <p:ext uri="{BB962C8B-B14F-4D97-AF65-F5344CB8AC3E}">
        <p14:creationId xmlns:p14="http://schemas.microsoft.com/office/powerpoint/2010/main" val="13842281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0461AE0-9A78-D462-AF5E-CB51681DFC18}"/>
              </a:ext>
            </a:extLst>
          </p:cNvPr>
          <p:cNvSpPr>
            <a:spLocks noGrp="1"/>
          </p:cNvSpPr>
          <p:nvPr>
            <p:ph type="title"/>
          </p:nvPr>
        </p:nvSpPr>
        <p:spPr/>
        <p:txBody>
          <a:bodyPr/>
          <a:lstStyle/>
          <a:p>
            <a:r>
              <a:rPr lang="en-US" dirty="0"/>
              <a:t>Hardware Requirements:</a:t>
            </a:r>
          </a:p>
        </p:txBody>
      </p:sp>
      <p:sp>
        <p:nvSpPr>
          <p:cNvPr id="3" name="Content Placeholder 2">
            <a:extLst>
              <a:ext uri="{FF2B5EF4-FFF2-40B4-BE49-F238E27FC236}">
                <a16:creationId xmlns:a16="http://schemas.microsoft.com/office/drawing/2014/main" xmlns="" id="{003A9DEE-DFB3-CA66-8DBE-17D8930ADD7B}"/>
              </a:ext>
            </a:extLst>
          </p:cNvPr>
          <p:cNvSpPr>
            <a:spLocks noGrp="1"/>
          </p:cNvSpPr>
          <p:nvPr>
            <p:ph idx="1"/>
          </p:nvPr>
        </p:nvSpPr>
        <p:spPr/>
        <p:txBody>
          <a:bodyPr>
            <a:normAutofit/>
          </a:bodyPr>
          <a:lstStyle/>
          <a:p>
            <a:r>
              <a:rPr lang="en-US" dirty="0">
                <a:solidFill>
                  <a:schemeClr val="bg1"/>
                </a:solidFill>
              </a:rPr>
              <a:t>Processor : Core-i5</a:t>
            </a:r>
          </a:p>
          <a:p>
            <a:r>
              <a:rPr lang="en-US" dirty="0">
                <a:solidFill>
                  <a:schemeClr val="bg1"/>
                </a:solidFill>
              </a:rPr>
              <a:t>Speed : 2.3 GHz</a:t>
            </a:r>
          </a:p>
          <a:p>
            <a:r>
              <a:rPr lang="en-US" dirty="0">
                <a:solidFill>
                  <a:schemeClr val="bg1"/>
                </a:solidFill>
              </a:rPr>
              <a:t>GPU support.</a:t>
            </a:r>
          </a:p>
          <a:p>
            <a:r>
              <a:rPr lang="en-US" dirty="0">
                <a:solidFill>
                  <a:schemeClr val="bg1"/>
                </a:solidFill>
              </a:rPr>
              <a:t>Ram : 8 GB</a:t>
            </a:r>
          </a:p>
          <a:p>
            <a:r>
              <a:rPr lang="en-US" dirty="0">
                <a:solidFill>
                  <a:schemeClr val="bg1"/>
                </a:solidFill>
              </a:rPr>
              <a:t>Hard Disk : 128 GB</a:t>
            </a:r>
          </a:p>
          <a:p>
            <a:r>
              <a:rPr lang="en-US" dirty="0">
                <a:solidFill>
                  <a:schemeClr val="bg1"/>
                </a:solidFill>
              </a:rPr>
              <a:t>Keyboard : Standard Windows Keyboard</a:t>
            </a:r>
          </a:p>
          <a:p>
            <a:r>
              <a:rPr lang="en-US" dirty="0">
                <a:solidFill>
                  <a:schemeClr val="bg1"/>
                </a:solidFill>
              </a:rPr>
              <a:t>Mouse : Two or Three button mouse</a:t>
            </a:r>
          </a:p>
          <a:p>
            <a:r>
              <a:rPr lang="en-US" dirty="0">
                <a:solidFill>
                  <a:schemeClr val="bg1"/>
                </a:solidFill>
              </a:rPr>
              <a:t>Monitor : LCD/LED</a:t>
            </a:r>
          </a:p>
        </p:txBody>
      </p:sp>
    </p:spTree>
    <p:extLst>
      <p:ext uri="{BB962C8B-B14F-4D97-AF65-F5344CB8AC3E}">
        <p14:creationId xmlns:p14="http://schemas.microsoft.com/office/powerpoint/2010/main" val="218260754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98AE92D-84C4-5FA4-7484-0D6EDE200CF8}"/>
              </a:ext>
            </a:extLst>
          </p:cNvPr>
          <p:cNvSpPr>
            <a:spLocks noGrp="1"/>
          </p:cNvSpPr>
          <p:nvPr>
            <p:ph type="title"/>
          </p:nvPr>
        </p:nvSpPr>
        <p:spPr/>
        <p:txBody>
          <a:bodyPr/>
          <a:lstStyle/>
          <a:p>
            <a:r>
              <a:rPr lang="en-US" dirty="0"/>
              <a:t>Architecture Diagram:</a:t>
            </a:r>
          </a:p>
        </p:txBody>
      </p:sp>
      <p:pic>
        <p:nvPicPr>
          <p:cNvPr id="5" name="Picture 4" descr="1cf9d8ef-2f76-40ef-8384-59d15d2e9bd6.jfif"/>
          <p:cNvPicPr>
            <a:picLocks noChangeAspect="1"/>
          </p:cNvPicPr>
          <p:nvPr/>
        </p:nvPicPr>
        <p:blipFill>
          <a:blip r:embed="rId2"/>
          <a:stretch>
            <a:fillRect/>
          </a:stretch>
        </p:blipFill>
        <p:spPr>
          <a:xfrm>
            <a:off x="1295400" y="2209800"/>
            <a:ext cx="8915400" cy="4282088"/>
          </a:xfrm>
          <a:prstGeom prst="rect">
            <a:avLst/>
          </a:prstGeom>
        </p:spPr>
      </p:pic>
    </p:spTree>
    <p:extLst>
      <p:ext uri="{BB962C8B-B14F-4D97-AF65-F5344CB8AC3E}">
        <p14:creationId xmlns:p14="http://schemas.microsoft.com/office/powerpoint/2010/main" val="314185407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57961F-F511-231A-AAAC-730520000B9C}"/>
              </a:ext>
            </a:extLst>
          </p:cNvPr>
          <p:cNvSpPr>
            <a:spLocks noGrp="1"/>
          </p:cNvSpPr>
          <p:nvPr>
            <p:ph type="title"/>
          </p:nvPr>
        </p:nvSpPr>
        <p:spPr/>
        <p:txBody>
          <a:bodyPr/>
          <a:lstStyle/>
          <a:p>
            <a:r>
              <a:rPr lang="en-US" dirty="0"/>
              <a:t>Challenges:</a:t>
            </a:r>
          </a:p>
        </p:txBody>
      </p:sp>
      <p:sp>
        <p:nvSpPr>
          <p:cNvPr id="3" name="Content Placeholder 2">
            <a:extLst>
              <a:ext uri="{FF2B5EF4-FFF2-40B4-BE49-F238E27FC236}">
                <a16:creationId xmlns:a16="http://schemas.microsoft.com/office/drawing/2014/main" xmlns="" id="{9E375813-64C6-E87E-A255-ABD95624F4AA}"/>
              </a:ext>
            </a:extLst>
          </p:cNvPr>
          <p:cNvSpPr>
            <a:spLocks noGrp="1"/>
          </p:cNvSpPr>
          <p:nvPr>
            <p:ph idx="1"/>
          </p:nvPr>
        </p:nvSpPr>
        <p:spPr/>
        <p:txBody>
          <a:bodyPr/>
          <a:lstStyle/>
          <a:p>
            <a:r>
              <a:rPr lang="en-IN" dirty="0">
                <a:solidFill>
                  <a:schemeClr val="bg1"/>
                </a:solidFill>
              </a:rPr>
              <a:t>Image </a:t>
            </a:r>
            <a:r>
              <a:rPr lang="en-IN" dirty="0" err="1">
                <a:solidFill>
                  <a:schemeClr val="bg1"/>
                </a:solidFill>
              </a:rPr>
              <a:t>preprocessing</a:t>
            </a:r>
            <a:r>
              <a:rPr lang="en-IN" dirty="0">
                <a:solidFill>
                  <a:schemeClr val="bg1"/>
                </a:solidFill>
              </a:rPr>
              <a:t>.</a:t>
            </a:r>
          </a:p>
          <a:p>
            <a:r>
              <a:rPr lang="en-IN" dirty="0">
                <a:solidFill>
                  <a:schemeClr val="bg1"/>
                </a:solidFill>
              </a:rPr>
              <a:t>Scalability problems.</a:t>
            </a:r>
          </a:p>
          <a:p>
            <a:r>
              <a:rPr lang="en-IN" dirty="0">
                <a:solidFill>
                  <a:schemeClr val="bg1"/>
                </a:solidFill>
              </a:rPr>
              <a:t>Data collection.</a:t>
            </a:r>
          </a:p>
          <a:p>
            <a:r>
              <a:rPr lang="en-IN" dirty="0">
                <a:solidFill>
                  <a:schemeClr val="bg1"/>
                </a:solidFill>
              </a:rPr>
              <a:t>Data </a:t>
            </a:r>
            <a:r>
              <a:rPr lang="en-IN" dirty="0" err="1">
                <a:solidFill>
                  <a:schemeClr val="bg1"/>
                </a:solidFill>
              </a:rPr>
              <a:t>Preprocessing</a:t>
            </a:r>
            <a:r>
              <a:rPr lang="en-IN" dirty="0">
                <a:solidFill>
                  <a:schemeClr val="bg1"/>
                </a:solidFill>
              </a:rPr>
              <a:t> .</a:t>
            </a:r>
          </a:p>
          <a:p>
            <a:r>
              <a:rPr lang="en-IN" dirty="0" err="1">
                <a:solidFill>
                  <a:schemeClr val="bg1"/>
                </a:solidFill>
              </a:rPr>
              <a:t>Improveing</a:t>
            </a:r>
            <a:r>
              <a:rPr lang="en-IN" dirty="0">
                <a:solidFill>
                  <a:schemeClr val="bg1"/>
                </a:solidFill>
              </a:rPr>
              <a:t> efficiency.</a:t>
            </a:r>
          </a:p>
          <a:p>
            <a:r>
              <a:rPr lang="en-IN" dirty="0">
                <a:solidFill>
                  <a:schemeClr val="bg1"/>
                </a:solidFill>
              </a:rPr>
              <a:t>Optimizing solution.</a:t>
            </a:r>
            <a:endParaRPr lang="en-US" dirty="0">
              <a:solidFill>
                <a:schemeClr val="bg1"/>
              </a:solidFill>
            </a:endParaRPr>
          </a:p>
          <a:p>
            <a:r>
              <a:rPr lang="en-US" dirty="0">
                <a:solidFill>
                  <a:schemeClr val="bg1"/>
                </a:solidFill>
              </a:rPr>
              <a:t>Lack of domain Knowledge.</a:t>
            </a:r>
            <a:endParaRPr lang="en-IN" dirty="0">
              <a:solidFill>
                <a:schemeClr val="bg1"/>
              </a:solidFill>
            </a:endParaRPr>
          </a:p>
        </p:txBody>
      </p:sp>
    </p:spTree>
    <p:extLst>
      <p:ext uri="{BB962C8B-B14F-4D97-AF65-F5344CB8AC3E}">
        <p14:creationId xmlns:p14="http://schemas.microsoft.com/office/powerpoint/2010/main" val="1580594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94191EE-CCB8-19A1-DE3F-7E3DA39512AA}"/>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xmlns="" id="{7DE03328-891F-33B7-CAB0-C379BA7626BA}"/>
              </a:ext>
            </a:extLst>
          </p:cNvPr>
          <p:cNvSpPr>
            <a:spLocks noGrp="1"/>
          </p:cNvSpPr>
          <p:nvPr>
            <p:ph idx="1"/>
          </p:nvPr>
        </p:nvSpPr>
        <p:spPr>
          <a:xfrm>
            <a:off x="685800" y="2057400"/>
            <a:ext cx="9613861" cy="3599316"/>
          </a:xfrm>
        </p:spPr>
        <p:txBody>
          <a:bodyPr>
            <a:noAutofit/>
          </a:bodyPr>
          <a:lstStyle/>
          <a:p>
            <a:pPr marL="0" indent="0" algn="just">
              <a:buNone/>
            </a:pPr>
            <a:r>
              <a:rPr lang="en-US" sz="2800" dirty="0">
                <a:solidFill>
                  <a:schemeClr val="bg1"/>
                </a:solidFill>
              </a:rPr>
              <a:t>The main objective of this project was to create a system that would predict more than one disease and do so with high accuracy. Because of this project the user doesn’t need to traverse different websites which saves time as well. Diseases if predicted early can increase your life expectancy as well as save you from financial troubles. For this purpose, we have used various machine learning algorithms like Random Forest, XGBoost, and K nearest neighbor (KNN) ,CNN Architecture to achieve maximum accuracy.</a:t>
            </a:r>
            <a:endParaRPr lang="en-IN" sz="2800" dirty="0">
              <a:solidFill>
                <a:schemeClr val="bg1"/>
              </a:solidFill>
            </a:endParaRPr>
          </a:p>
        </p:txBody>
      </p:sp>
    </p:spTree>
    <p:extLst>
      <p:ext uri="{BB962C8B-B14F-4D97-AF65-F5344CB8AC3E}">
        <p14:creationId xmlns:p14="http://schemas.microsoft.com/office/powerpoint/2010/main" val="262046686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6708692-3581-D2EF-6A9C-E468CB00EA47}"/>
              </a:ext>
            </a:extLst>
          </p:cNvPr>
          <p:cNvSpPr>
            <a:spLocks noGrp="1"/>
          </p:cNvSpPr>
          <p:nvPr>
            <p:ph type="title"/>
          </p:nvPr>
        </p:nvSpPr>
        <p:spPr/>
        <p:txBody>
          <a:bodyPr/>
          <a:lstStyle/>
          <a:p>
            <a:r>
              <a:rPr lang="en-US" b="1" dirty="0"/>
              <a:t>Further Improvements 📈</a:t>
            </a:r>
            <a:r>
              <a:rPr lang="en-US" dirty="0"/>
              <a:t>:</a:t>
            </a:r>
          </a:p>
        </p:txBody>
      </p:sp>
      <p:sp>
        <p:nvSpPr>
          <p:cNvPr id="3" name="Content Placeholder 2">
            <a:extLst>
              <a:ext uri="{FF2B5EF4-FFF2-40B4-BE49-F238E27FC236}">
                <a16:creationId xmlns:a16="http://schemas.microsoft.com/office/drawing/2014/main" xmlns="" id="{E450CB3B-63D6-5A2C-A7B5-C19E437D8B21}"/>
              </a:ext>
            </a:extLst>
          </p:cNvPr>
          <p:cNvSpPr>
            <a:spLocks noGrp="1"/>
          </p:cNvSpPr>
          <p:nvPr>
            <p:ph idx="1"/>
          </p:nvPr>
        </p:nvSpPr>
        <p:spPr/>
        <p:txBody>
          <a:bodyPr>
            <a:normAutofit/>
          </a:bodyPr>
          <a:lstStyle/>
          <a:p>
            <a:pPr>
              <a:buNone/>
            </a:pPr>
            <a:endParaRPr lang="en-US" b="1" dirty="0">
              <a:solidFill>
                <a:schemeClr val="bg1"/>
              </a:solidFill>
            </a:endParaRPr>
          </a:p>
          <a:p>
            <a:r>
              <a:rPr lang="en-US" dirty="0">
                <a:solidFill>
                  <a:schemeClr val="bg1"/>
                </a:solidFill>
              </a:rPr>
              <a:t>This was my first big project so there are lot of things to improve upon</a:t>
            </a:r>
          </a:p>
          <a:p>
            <a:r>
              <a:rPr lang="en-US" dirty="0">
                <a:solidFill>
                  <a:schemeClr val="bg1"/>
                </a:solidFill>
              </a:rPr>
              <a:t>CSS code is totally messed up  (some code in file and some inline)</a:t>
            </a:r>
          </a:p>
          <a:p>
            <a:r>
              <a:rPr lang="en-US" dirty="0">
                <a:solidFill>
                  <a:schemeClr val="bg1"/>
                </a:solidFill>
              </a:rPr>
              <a:t>Frontend can be made more </a:t>
            </a:r>
            <a:r>
              <a:rPr lang="en-US" dirty="0" smtClean="0">
                <a:solidFill>
                  <a:schemeClr val="bg1"/>
                </a:solidFill>
              </a:rPr>
              <a:t>nicer</a:t>
            </a:r>
            <a:endParaRPr lang="en-US" dirty="0">
              <a:solidFill>
                <a:schemeClr val="bg1"/>
              </a:solidFill>
            </a:endParaRPr>
          </a:p>
          <a:p>
            <a:r>
              <a:rPr lang="en-US" dirty="0">
                <a:solidFill>
                  <a:schemeClr val="bg1"/>
                </a:solidFill>
              </a:rPr>
              <a:t>More data can be collected manually via web scrapping to make the system more accurate </a:t>
            </a:r>
          </a:p>
          <a:p>
            <a:r>
              <a:rPr lang="en-US" dirty="0">
                <a:solidFill>
                  <a:schemeClr val="bg1"/>
                </a:solidFill>
              </a:rPr>
              <a:t>Additional plant images can be collected to make the disease detection part more robust and generalized </a:t>
            </a:r>
          </a:p>
          <a:p>
            <a:r>
              <a:rPr lang="en-US" dirty="0">
                <a:solidFill>
                  <a:schemeClr val="bg1"/>
                </a:solidFill>
              </a:rPr>
              <a:t>Modularized code can be written instead of writing in </a:t>
            </a:r>
            <a:r>
              <a:rPr lang="en-US" dirty="0" err="1">
                <a:solidFill>
                  <a:schemeClr val="bg1"/>
                </a:solidFill>
              </a:rPr>
              <a:t>Jupyter</a:t>
            </a:r>
            <a:r>
              <a:rPr lang="en-US" dirty="0">
                <a:solidFill>
                  <a:schemeClr val="bg1"/>
                </a:solidFill>
              </a:rPr>
              <a:t> Notebooks (will follow this in upcoming projects)</a:t>
            </a:r>
          </a:p>
        </p:txBody>
      </p:sp>
    </p:spTree>
    <p:extLst>
      <p:ext uri="{BB962C8B-B14F-4D97-AF65-F5344CB8AC3E}">
        <p14:creationId xmlns:p14="http://schemas.microsoft.com/office/powerpoint/2010/main" val="51166193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Future Scope: </a:t>
            </a:r>
          </a:p>
        </p:txBody>
      </p:sp>
      <p:sp>
        <p:nvSpPr>
          <p:cNvPr id="3" name="Content Placeholder 2"/>
          <p:cNvSpPr>
            <a:spLocks noGrp="1"/>
          </p:cNvSpPr>
          <p:nvPr>
            <p:ph idx="1"/>
          </p:nvPr>
        </p:nvSpPr>
        <p:spPr/>
        <p:txBody>
          <a:bodyPr>
            <a:normAutofit/>
          </a:bodyPr>
          <a:lstStyle/>
          <a:p>
            <a:r>
              <a:rPr lang="en-US" sz="2000" dirty="0">
                <a:solidFill>
                  <a:schemeClr val="bg1"/>
                </a:solidFill>
              </a:rPr>
              <a:t> In the future we can add more diseases in the existing API.</a:t>
            </a:r>
          </a:p>
          <a:p>
            <a:r>
              <a:rPr lang="en-US" sz="2000" dirty="0">
                <a:solidFill>
                  <a:schemeClr val="bg1"/>
                </a:solidFill>
              </a:rPr>
              <a:t> We can try to improve the accuracy of prediction in order to decrease the mortality rate.</a:t>
            </a:r>
          </a:p>
          <a:p>
            <a:r>
              <a:rPr lang="en-US" sz="2000" dirty="0">
                <a:solidFill>
                  <a:schemeClr val="bg1"/>
                </a:solidFill>
              </a:rPr>
              <a:t>Try to make the system user-friendly and provide a </a:t>
            </a:r>
            <a:r>
              <a:rPr lang="en-US" sz="2000" dirty="0" err="1">
                <a:solidFill>
                  <a:schemeClr val="bg1"/>
                </a:solidFill>
              </a:rPr>
              <a:t>chatbot</a:t>
            </a:r>
            <a:r>
              <a:rPr lang="en-US" sz="2000" dirty="0">
                <a:solidFill>
                  <a:schemeClr val="bg1"/>
                </a:solidFill>
              </a:rPr>
              <a:t> for normal queries.</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3424" y="803538"/>
            <a:ext cx="4119576" cy="628377"/>
          </a:xfrm>
          <a:prstGeom prst="rect">
            <a:avLst/>
          </a:prstGeom>
        </p:spPr>
        <p:txBody>
          <a:bodyPr vert="horz" wrap="square" lIns="0" tIns="12700" rIns="0" bIns="0" rtlCol="0">
            <a:spAutoFit/>
          </a:bodyPr>
          <a:lstStyle/>
          <a:p>
            <a:pPr marL="12700">
              <a:lnSpc>
                <a:spcPct val="100000"/>
              </a:lnSpc>
              <a:spcBef>
                <a:spcPts val="100"/>
              </a:spcBef>
            </a:pPr>
            <a:r>
              <a:rPr u="heavy" spc="-5" dirty="0" err="1">
                <a:uFill>
                  <a:solidFill>
                    <a:srgbClr val="000000"/>
                  </a:solidFill>
                </a:uFill>
              </a:rPr>
              <a:t>Ref</a:t>
            </a:r>
            <a:r>
              <a:rPr lang="en-US" u="heavy" spc="-5" dirty="0" err="1">
                <a:uFill>
                  <a:solidFill>
                    <a:srgbClr val="000000"/>
                  </a:solidFill>
                </a:uFill>
              </a:rPr>
              <a:t>Erences</a:t>
            </a:r>
            <a:r>
              <a:rPr lang="en-US" u="heavy" spc="-5" dirty="0">
                <a:uFill>
                  <a:solidFill>
                    <a:srgbClr val="000000"/>
                  </a:solidFill>
                </a:uFill>
              </a:rPr>
              <a:t>:</a:t>
            </a:r>
            <a:endParaRPr u="heavy" spc="-5" dirty="0">
              <a:uFill>
                <a:solidFill>
                  <a:srgbClr val="000000"/>
                </a:solidFill>
              </a:uFill>
            </a:endParaRPr>
          </a:p>
        </p:txBody>
      </p:sp>
      <p:sp>
        <p:nvSpPr>
          <p:cNvPr id="4" name="TextBox 3"/>
          <p:cNvSpPr txBox="1"/>
          <p:nvPr/>
        </p:nvSpPr>
        <p:spPr>
          <a:xfrm>
            <a:off x="914400" y="2610973"/>
            <a:ext cx="9677400" cy="3693319"/>
          </a:xfrm>
          <a:prstGeom prst="rect">
            <a:avLst/>
          </a:prstGeom>
          <a:noFill/>
        </p:spPr>
        <p:txBody>
          <a:bodyPr wrap="square" rtlCol="0">
            <a:spAutoFit/>
          </a:bodyPr>
          <a:lstStyle/>
          <a:p>
            <a:r>
              <a:rPr lang="en-US" dirty="0">
                <a:solidFill>
                  <a:schemeClr val="bg1"/>
                </a:solidFill>
              </a:rPr>
              <a:t>[1] </a:t>
            </a:r>
            <a:r>
              <a:rPr lang="en-US" dirty="0" err="1">
                <a:solidFill>
                  <a:schemeClr val="bg1"/>
                </a:solidFill>
              </a:rPr>
              <a:t>Priyanka</a:t>
            </a:r>
            <a:r>
              <a:rPr lang="en-US" dirty="0">
                <a:solidFill>
                  <a:schemeClr val="bg1"/>
                </a:solidFill>
              </a:rPr>
              <a:t> Sonar, Prof. K. </a:t>
            </a:r>
            <a:r>
              <a:rPr lang="en-US" dirty="0" err="1">
                <a:solidFill>
                  <a:schemeClr val="bg1"/>
                </a:solidFill>
              </a:rPr>
              <a:t>JayaMalini</a:t>
            </a:r>
            <a:r>
              <a:rPr lang="en-US" dirty="0">
                <a:solidFill>
                  <a:schemeClr val="bg1"/>
                </a:solidFill>
              </a:rPr>
              <a:t>,” Cancer PREDICTION USING DIFFERENT MACHINE LEARNING APPROACHES”, 2019 IEEE ,3rd International Conference on Computing Methodologies and Communication (ICCMC)</a:t>
            </a:r>
          </a:p>
          <a:p>
            <a:endParaRPr lang="en-US" dirty="0">
              <a:solidFill>
                <a:schemeClr val="bg1"/>
              </a:solidFill>
            </a:endParaRPr>
          </a:p>
          <a:p>
            <a:r>
              <a:rPr lang="en-US" dirty="0">
                <a:solidFill>
                  <a:schemeClr val="bg1"/>
                </a:solidFill>
              </a:rPr>
              <a:t>[2] Archana Singh ,Rakesh Kumar, “Kidney Disease Prediction Using </a:t>
            </a:r>
            <a:r>
              <a:rPr lang="en-US" dirty="0" err="1">
                <a:solidFill>
                  <a:schemeClr val="bg1"/>
                </a:solidFill>
              </a:rPr>
              <a:t>MachinLearning</a:t>
            </a:r>
            <a:r>
              <a:rPr lang="en-US" dirty="0">
                <a:solidFill>
                  <a:schemeClr val="bg1"/>
                </a:solidFill>
              </a:rPr>
              <a:t> Algorithms”, 2020 IEEE, International Conference on Electrical and Electronics Engineering (ICE3).</a:t>
            </a:r>
          </a:p>
          <a:p>
            <a:endParaRPr lang="en-US" dirty="0">
              <a:solidFill>
                <a:schemeClr val="bg1"/>
              </a:solidFill>
            </a:endParaRPr>
          </a:p>
          <a:p>
            <a:r>
              <a:rPr lang="en-US" dirty="0">
                <a:solidFill>
                  <a:schemeClr val="bg1"/>
                </a:solidFill>
              </a:rPr>
              <a:t>[3] </a:t>
            </a:r>
            <a:r>
              <a:rPr lang="en-US" dirty="0" err="1">
                <a:solidFill>
                  <a:schemeClr val="bg1"/>
                </a:solidFill>
              </a:rPr>
              <a:t>A.Sivasangari</a:t>
            </a:r>
            <a:r>
              <a:rPr lang="en-US" dirty="0">
                <a:solidFill>
                  <a:schemeClr val="bg1"/>
                </a:solidFill>
              </a:rPr>
              <a:t>, </a:t>
            </a:r>
            <a:r>
              <a:rPr lang="en-US" dirty="0" err="1">
                <a:solidFill>
                  <a:schemeClr val="bg1"/>
                </a:solidFill>
              </a:rPr>
              <a:t>Baddigam</a:t>
            </a:r>
            <a:r>
              <a:rPr lang="en-US" dirty="0">
                <a:solidFill>
                  <a:schemeClr val="bg1"/>
                </a:solidFill>
              </a:rPr>
              <a:t> Jaya Krishna </a:t>
            </a:r>
            <a:r>
              <a:rPr lang="en-US" dirty="0" err="1">
                <a:solidFill>
                  <a:schemeClr val="bg1"/>
                </a:solidFill>
              </a:rPr>
              <a:t>Reddy,Annamareddy</a:t>
            </a:r>
            <a:r>
              <a:rPr lang="en-US" dirty="0">
                <a:solidFill>
                  <a:schemeClr val="bg1"/>
                </a:solidFill>
              </a:rPr>
              <a:t> </a:t>
            </a:r>
            <a:r>
              <a:rPr lang="en-US" dirty="0" err="1">
                <a:solidFill>
                  <a:schemeClr val="bg1"/>
                </a:solidFill>
              </a:rPr>
              <a:t>Kiran</a:t>
            </a:r>
            <a:r>
              <a:rPr lang="en-US" dirty="0">
                <a:solidFill>
                  <a:schemeClr val="bg1"/>
                </a:solidFill>
              </a:rPr>
              <a:t>, </a:t>
            </a:r>
            <a:r>
              <a:rPr lang="en-US" dirty="0" err="1">
                <a:solidFill>
                  <a:schemeClr val="bg1"/>
                </a:solidFill>
              </a:rPr>
              <a:t>P.Ajitha</a:t>
            </a:r>
            <a:r>
              <a:rPr lang="en-US" dirty="0">
                <a:solidFill>
                  <a:schemeClr val="bg1"/>
                </a:solidFill>
              </a:rPr>
              <a:t>,” Diagnosis of Liver Disease using Machine Learning Models” 2020 Fourth International Conference on I-SMAC (</a:t>
            </a:r>
            <a:r>
              <a:rPr lang="en-US" dirty="0" err="1">
                <a:solidFill>
                  <a:schemeClr val="bg1"/>
                </a:solidFill>
              </a:rPr>
              <a:t>IoT</a:t>
            </a:r>
            <a:r>
              <a:rPr lang="en-US" dirty="0">
                <a:solidFill>
                  <a:schemeClr val="bg1"/>
                </a:solidFill>
              </a:rPr>
              <a:t> in Social, Mobile, Analytics and Cloud) (I-SMAC)</a:t>
            </a:r>
          </a:p>
          <a:p>
            <a:endParaRPr lang="en-US" dirty="0">
              <a:solidFill>
                <a:schemeClr val="bg1"/>
              </a:solidFill>
            </a:endParaRPr>
          </a:p>
          <a:p>
            <a:endParaRPr lang="en-US" dirty="0">
              <a:solidFill>
                <a:schemeClr val="bg1"/>
              </a:solidFill>
            </a:endParaRPr>
          </a:p>
          <a:p>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27B8E186-3B81-3605-5CCC-7A678BD8ECD8}"/>
              </a:ext>
            </a:extLst>
          </p:cNvPr>
          <p:cNvSpPr txBox="1"/>
          <p:nvPr/>
        </p:nvSpPr>
        <p:spPr>
          <a:xfrm>
            <a:off x="457200" y="197346"/>
            <a:ext cx="11582400" cy="3970318"/>
          </a:xfrm>
          <a:prstGeom prst="rect">
            <a:avLst/>
          </a:prstGeom>
          <a:noFill/>
        </p:spPr>
        <p:txBody>
          <a:bodyPr wrap="square">
            <a:spAutoFit/>
          </a:bodyPr>
          <a:lstStyle/>
          <a:p>
            <a:r>
              <a:rPr lang="en-US" sz="1800" dirty="0">
                <a:solidFill>
                  <a:schemeClr val="bg1"/>
                </a:solidFill>
              </a:rPr>
              <a:t>[4]  A. M. Ismael and A. </a:t>
            </a:r>
            <a:r>
              <a:rPr lang="en-US" sz="1800" dirty="0" err="1">
                <a:solidFill>
                  <a:schemeClr val="bg1"/>
                </a:solidFill>
              </a:rPr>
              <a:t>Şengür</a:t>
            </a:r>
            <a:r>
              <a:rPr lang="en-US" sz="1800" dirty="0">
                <a:solidFill>
                  <a:schemeClr val="bg1"/>
                </a:solidFill>
              </a:rPr>
              <a:t>, “Deep learning approaches for COVID-19 detection based on chest X-ray images,” </a:t>
            </a:r>
            <a:r>
              <a:rPr lang="en-US" sz="1800" i="1" dirty="0">
                <a:solidFill>
                  <a:schemeClr val="bg1"/>
                </a:solidFill>
              </a:rPr>
              <a:t>Expert Systems with Applications</a:t>
            </a:r>
            <a:r>
              <a:rPr lang="en-US" sz="1800" dirty="0">
                <a:solidFill>
                  <a:schemeClr val="bg1"/>
                </a:solidFill>
              </a:rPr>
              <a:t>, vol. 164, Article ID 114054, 2021.</a:t>
            </a:r>
            <a:br>
              <a:rPr lang="en-US" sz="1800" dirty="0">
                <a:solidFill>
                  <a:schemeClr val="bg1"/>
                </a:solidFill>
              </a:rPr>
            </a:br>
            <a:r>
              <a:rPr lang="en-US" sz="1800" dirty="0">
                <a:solidFill>
                  <a:schemeClr val="bg1"/>
                </a:solidFill>
              </a:rPr>
              <a:t>[7]  E. E.-D. </a:t>
            </a:r>
            <a:r>
              <a:rPr lang="en-US" sz="1800" dirty="0" err="1">
                <a:solidFill>
                  <a:schemeClr val="bg1"/>
                </a:solidFill>
              </a:rPr>
              <a:t>Hemdan</a:t>
            </a:r>
            <a:r>
              <a:rPr lang="en-US" sz="1800" dirty="0">
                <a:solidFill>
                  <a:schemeClr val="bg1"/>
                </a:solidFill>
              </a:rPr>
              <a:t>, M. A. </a:t>
            </a:r>
            <a:r>
              <a:rPr lang="en-US" sz="1800" dirty="0" err="1">
                <a:solidFill>
                  <a:schemeClr val="bg1"/>
                </a:solidFill>
              </a:rPr>
              <a:t>Shouman</a:t>
            </a:r>
            <a:r>
              <a:rPr lang="en-US" sz="1800" dirty="0">
                <a:solidFill>
                  <a:schemeClr val="bg1"/>
                </a:solidFill>
              </a:rPr>
              <a:t>, and M. E. J. A. P. A. </a:t>
            </a:r>
            <a:r>
              <a:rPr lang="en-US" sz="1800" dirty="0" err="1">
                <a:solidFill>
                  <a:schemeClr val="bg1"/>
                </a:solidFill>
              </a:rPr>
              <a:t>Karar</a:t>
            </a:r>
            <a:r>
              <a:rPr lang="en-US" sz="1800" dirty="0">
                <a:solidFill>
                  <a:schemeClr val="bg1"/>
                </a:solidFill>
              </a:rPr>
              <a:t>, </a:t>
            </a:r>
            <a:r>
              <a:rPr lang="en-US" sz="1800" i="1" dirty="0" err="1">
                <a:solidFill>
                  <a:schemeClr val="bg1"/>
                </a:solidFill>
              </a:rPr>
              <a:t>Covidx</a:t>
            </a:r>
            <a:r>
              <a:rPr lang="en-US" sz="1800" i="1" dirty="0">
                <a:solidFill>
                  <a:schemeClr val="bg1"/>
                </a:solidFill>
              </a:rPr>
              <a:t>-Net: A Framework of Deep Learning Classifiers to Diagnose Covid-19 in X-Ray Images</a:t>
            </a:r>
            <a:r>
              <a:rPr lang="en-US" sz="1800" dirty="0">
                <a:solidFill>
                  <a:schemeClr val="bg1"/>
                </a:solidFill>
              </a:rPr>
              <a:t>, </a:t>
            </a:r>
            <a:r>
              <a:rPr lang="en-US" sz="1800" dirty="0" err="1">
                <a:solidFill>
                  <a:schemeClr val="bg1"/>
                </a:solidFill>
              </a:rPr>
              <a:t>MedRxiv</a:t>
            </a:r>
            <a:r>
              <a:rPr lang="en-US" sz="1800" dirty="0">
                <a:solidFill>
                  <a:schemeClr val="bg1"/>
                </a:solidFill>
              </a:rPr>
              <a:t>, Cold Spring, NY, USA, 2020.</a:t>
            </a:r>
            <a:br>
              <a:rPr lang="en-US" sz="1800" dirty="0">
                <a:solidFill>
                  <a:schemeClr val="bg1"/>
                </a:solidFill>
              </a:rPr>
            </a:br>
            <a:r>
              <a:rPr lang="en-US" sz="1800" dirty="0">
                <a:solidFill>
                  <a:schemeClr val="bg1"/>
                </a:solidFill>
              </a:rPr>
              <a:t> </a:t>
            </a:r>
            <a:br>
              <a:rPr lang="en-US" sz="1800" dirty="0">
                <a:solidFill>
                  <a:schemeClr val="bg1"/>
                </a:solidFill>
              </a:rPr>
            </a:br>
            <a:r>
              <a:rPr lang="en-US" sz="1800" dirty="0">
                <a:solidFill>
                  <a:schemeClr val="bg1"/>
                </a:solidFill>
              </a:rPr>
              <a:t>[5] K. </a:t>
            </a:r>
            <a:r>
              <a:rPr lang="en-US" sz="1800" dirty="0" err="1">
                <a:solidFill>
                  <a:schemeClr val="bg1"/>
                </a:solidFill>
              </a:rPr>
              <a:t>Sahinbas</a:t>
            </a:r>
            <a:r>
              <a:rPr lang="en-US" sz="1800" dirty="0">
                <a:solidFill>
                  <a:schemeClr val="bg1"/>
                </a:solidFill>
              </a:rPr>
              <a:t> and F. O. </a:t>
            </a:r>
            <a:r>
              <a:rPr lang="en-US" sz="1800" dirty="0" err="1">
                <a:solidFill>
                  <a:schemeClr val="bg1"/>
                </a:solidFill>
              </a:rPr>
              <a:t>Catak</a:t>
            </a:r>
            <a:r>
              <a:rPr lang="en-US" sz="1800" dirty="0">
                <a:solidFill>
                  <a:schemeClr val="bg1"/>
                </a:solidFill>
              </a:rPr>
              <a:t>, “Transfer learning-based convolutional neural network for COVID-19 detection with X-ray images,” in </a:t>
            </a:r>
            <a:r>
              <a:rPr lang="en-US" sz="1800" i="1" dirty="0">
                <a:solidFill>
                  <a:schemeClr val="bg1"/>
                </a:solidFill>
              </a:rPr>
              <a:t>Data Science for COVID-19</a:t>
            </a:r>
            <a:r>
              <a:rPr lang="en-US" sz="1800" dirty="0">
                <a:solidFill>
                  <a:schemeClr val="bg1"/>
                </a:solidFill>
              </a:rPr>
              <a:t>, Elsevier, Amsterdam, Netherland, 2021.</a:t>
            </a:r>
            <a:br>
              <a:rPr lang="en-US" sz="1800" dirty="0">
                <a:solidFill>
                  <a:schemeClr val="bg1"/>
                </a:solidFill>
              </a:rPr>
            </a:br>
            <a:r>
              <a:rPr lang="en-US" sz="1800" dirty="0">
                <a:solidFill>
                  <a:schemeClr val="bg1"/>
                </a:solidFill>
              </a:rPr>
              <a:t> </a:t>
            </a:r>
            <a:br>
              <a:rPr lang="en-US" sz="1800" dirty="0">
                <a:solidFill>
                  <a:schemeClr val="bg1"/>
                </a:solidFill>
              </a:rPr>
            </a:br>
            <a:r>
              <a:rPr lang="en-US" sz="1800" dirty="0">
                <a:solidFill>
                  <a:schemeClr val="bg1"/>
                </a:solidFill>
              </a:rPr>
              <a:t>[6] A. K. Das, “Automatic COVID-19 detection from X-ray images using ensemble learning with convolutional neural network,” </a:t>
            </a:r>
            <a:r>
              <a:rPr lang="en-US" sz="1800" i="1" dirty="0">
                <a:solidFill>
                  <a:schemeClr val="bg1"/>
                </a:solidFill>
              </a:rPr>
              <a:t>Pattern Analysis and Applications</a:t>
            </a:r>
            <a:r>
              <a:rPr lang="en-US" sz="1800" dirty="0">
                <a:solidFill>
                  <a:schemeClr val="bg1"/>
                </a:solidFill>
              </a:rPr>
              <a:t>, vol. 24, pp. 1–14, 2021.</a:t>
            </a:r>
            <a:br>
              <a:rPr lang="en-US" sz="1800" dirty="0">
                <a:solidFill>
                  <a:schemeClr val="bg1"/>
                </a:solidFill>
              </a:rPr>
            </a:br>
            <a:r>
              <a:rPr lang="en-US" sz="1800" dirty="0">
                <a:solidFill>
                  <a:schemeClr val="bg1"/>
                </a:solidFill>
              </a:rPr>
              <a:t> </a:t>
            </a:r>
            <a:br>
              <a:rPr lang="en-US" sz="1800" dirty="0">
                <a:solidFill>
                  <a:schemeClr val="bg1"/>
                </a:solidFill>
              </a:rPr>
            </a:br>
            <a:r>
              <a:rPr lang="en-US" sz="1800" dirty="0">
                <a:solidFill>
                  <a:schemeClr val="bg1"/>
                </a:solidFill>
              </a:rPr>
              <a:t>[7] A. K. Jaiswal, P. Tiwari, V. K. Rathi, J. Qian, H. M. Pandey, and V. H. C. J. M. Albuquerque, </a:t>
            </a:r>
            <a:r>
              <a:rPr lang="en-US" sz="1800" i="1" dirty="0" err="1">
                <a:solidFill>
                  <a:schemeClr val="bg1"/>
                </a:solidFill>
              </a:rPr>
              <a:t>Covidpen</a:t>
            </a:r>
            <a:r>
              <a:rPr lang="en-US" sz="1800" i="1" dirty="0">
                <a:solidFill>
                  <a:schemeClr val="bg1"/>
                </a:solidFill>
              </a:rPr>
              <a:t>: A Novel Covid-19 Detection Model Using Chest X-Rays and Ct Scans</a:t>
            </a:r>
            <a:r>
              <a:rPr lang="en-US" sz="1800" dirty="0">
                <a:solidFill>
                  <a:schemeClr val="bg1"/>
                </a:solidFill>
              </a:rPr>
              <a:t>, </a:t>
            </a:r>
            <a:r>
              <a:rPr lang="en-US" sz="1800" dirty="0" err="1">
                <a:solidFill>
                  <a:schemeClr val="bg1"/>
                </a:solidFill>
              </a:rPr>
              <a:t>MedRxiv</a:t>
            </a:r>
            <a:r>
              <a:rPr lang="en-US" sz="1800" dirty="0">
                <a:solidFill>
                  <a:schemeClr val="bg1"/>
                </a:solidFill>
              </a:rPr>
              <a:t>, Cold Spring, NY, USA, 2020.</a:t>
            </a:r>
            <a:br>
              <a:rPr lang="en-US" sz="1800" dirty="0">
                <a:solidFill>
                  <a:schemeClr val="bg1"/>
                </a:solidFill>
              </a:rPr>
            </a:br>
            <a:endParaRPr lang="en-US" dirty="0"/>
          </a:p>
        </p:txBody>
      </p:sp>
    </p:spTree>
    <p:extLst>
      <p:ext uri="{BB962C8B-B14F-4D97-AF65-F5344CB8AC3E}">
        <p14:creationId xmlns:p14="http://schemas.microsoft.com/office/powerpoint/2010/main" val="225542843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766C360D-57AB-19C2-29BF-7869E7308D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extLst>
      <p:ext uri="{BB962C8B-B14F-4D97-AF65-F5344CB8AC3E}">
        <p14:creationId xmlns:p14="http://schemas.microsoft.com/office/powerpoint/2010/main" val="284826629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anded">
  <a:themeElements>
    <a:clrScheme name="Banded">
      <a:dk1>
        <a:srgbClr val="2C2C2C"/>
      </a:dk1>
      <a:lt1>
        <a:srgbClr val="FFFFFF"/>
      </a:lt1>
      <a:dk2>
        <a:srgbClr val="099BDD"/>
      </a:dk2>
      <a:lt2>
        <a:srgbClr val="F2F2F2"/>
      </a:lt2>
      <a:accent1>
        <a:srgbClr val="FFC000"/>
      </a:accent1>
      <a:accent2>
        <a:srgbClr val="A5D028"/>
      </a:accent2>
      <a:accent3>
        <a:srgbClr val="08CC78"/>
      </a:accent3>
      <a:accent4>
        <a:srgbClr val="F24099"/>
      </a:accent4>
      <a:accent5>
        <a:srgbClr val="828288"/>
      </a:accent5>
      <a:accent6>
        <a:srgbClr val="F56617"/>
      </a:accent6>
      <a:hlink>
        <a:srgbClr val="005DBA"/>
      </a:hlink>
      <a:folHlink>
        <a:srgbClr val="6C606A"/>
      </a:folHlink>
    </a:clrScheme>
    <a:fontScheme name="Banded">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9792607F-9579-4224-82FF-9C88C3E1E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TM03090430[[fn=Banded]]</Template>
  <TotalTime>499</TotalTime>
  <Words>860</Words>
  <Application>Microsoft Office PowerPoint</Application>
  <PresentationFormat>Widescreen</PresentationFormat>
  <Paragraphs>108</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Arial MT</vt:lpstr>
      <vt:lpstr>Calibri</vt:lpstr>
      <vt:lpstr>Corbel</vt:lpstr>
      <vt:lpstr>Times New Roman</vt:lpstr>
      <vt:lpstr>Wingdings</vt:lpstr>
      <vt:lpstr>Banded</vt:lpstr>
      <vt:lpstr>Dr. D. Y. Patil Institute of Technology</vt:lpstr>
      <vt:lpstr>CONTENTS:</vt:lpstr>
      <vt:lpstr>Introduction:</vt:lpstr>
      <vt:lpstr>Problem Statement:</vt:lpstr>
      <vt:lpstr>Objective: :</vt:lpstr>
      <vt:lpstr>METHODOLOGY:</vt:lpstr>
      <vt:lpstr>PowerPoint Presentation</vt:lpstr>
      <vt:lpstr>Algorithms Used(Features):</vt:lpstr>
      <vt:lpstr>Software Requirements:</vt:lpstr>
      <vt:lpstr>Hardware Requirements:</vt:lpstr>
      <vt:lpstr>Architecture Diagram:</vt:lpstr>
      <vt:lpstr>Challenges:</vt:lpstr>
      <vt:lpstr>Conclusion:</vt:lpstr>
      <vt:lpstr>Further Improvements 📈:</vt:lpstr>
      <vt:lpstr>Future Scope: </vt:lpstr>
      <vt:lpstr>RefErences:</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 Project Self Learning algorithm</dc:title>
  <dc:creator>sujay devne</dc:creator>
  <cp:lastModifiedBy>Microsoft account</cp:lastModifiedBy>
  <cp:revision>32</cp:revision>
  <dcterms:created xsi:type="dcterms:W3CDTF">2022-10-14T09:24:14Z</dcterms:created>
  <dcterms:modified xsi:type="dcterms:W3CDTF">2022-11-24T03:58:03Z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2022-09-21T00:00:00Z</vt:filetime>
  </property>
  <property fmtid="{D5CDD505-2E9C-101B-9397-08002B2CF9AE}" pid="3" name="Creator">
    <vt:lpwstr>Microsoft® PowerPoint® 2021</vt:lpwstr>
  </property>
  <property fmtid="{D5CDD505-2E9C-101B-9397-08002B2CF9AE}" pid="4" name="LastSaved">
    <vt:filetime>2022-10-14T00:00:00Z</vt:filetime>
  </property>
</Properties>
</file>